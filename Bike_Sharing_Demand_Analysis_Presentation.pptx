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 (MS)" panose="020B0604020202020204" charset="0"/>
      <p:regular r:id="rId20"/>
    </p:embeddedFont>
    <p:embeddedFont>
      <p:font typeface="Calibri (MS) Bold" panose="020B0604020202020204" charset="0"/>
      <p:regular r:id="rId21"/>
    </p:embeddedFont>
    <p:embeddedFont>
      <p:font typeface="Calibri (MS) Italics" panose="020B0604020202020204" charset="0"/>
      <p:regular r:id="rId22"/>
    </p:embeddedFont>
    <p:embeddedFont>
      <p:font typeface="Cambria Bold" panose="02040803050406030204" pitchFamily="18" charset="0"/>
      <p:regular r:id="rId23"/>
      <p:bold r:id="rId24"/>
    </p:embeddedFont>
    <p:embeddedFont>
      <p:font typeface="Source Sans 3" panose="020B0604020202020204" charset="0"/>
      <p:regular r:id="rId25"/>
    </p:embeddedFont>
    <p:embeddedFont>
      <p:font typeface="Source Sans 3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4" d="100"/>
          <a:sy n="64" d="100"/>
        </p:scale>
        <p:origin x="79" y="60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0972800" cy="10287000"/>
            <a:chOff x="0" y="0"/>
            <a:chExt cx="146304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13716000"/>
            </a:xfrm>
            <a:custGeom>
              <a:avLst/>
              <a:gdLst/>
              <a:ahLst/>
              <a:cxnLst/>
              <a:rect l="l" t="t" r="r" b="b"/>
              <a:pathLst>
                <a:path w="14630400" h="13716000">
                  <a:moveTo>
                    <a:pt x="0" y="0"/>
                  </a:moveTo>
                  <a:lnTo>
                    <a:pt x="14630400" y="0"/>
                  </a:lnTo>
                  <a:lnTo>
                    <a:pt x="146304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7F8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972800" y="0"/>
            <a:ext cx="7310628" cy="10287000"/>
            <a:chOff x="0" y="0"/>
            <a:chExt cx="9747504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747504" cy="13716000"/>
            </a:xfrm>
            <a:custGeom>
              <a:avLst/>
              <a:gdLst/>
              <a:ahLst/>
              <a:cxnLst/>
              <a:rect l="l" t="t" r="r" b="b"/>
              <a:pathLst>
                <a:path w="9747504" h="13716000">
                  <a:moveTo>
                    <a:pt x="0" y="0"/>
                  </a:moveTo>
                  <a:lnTo>
                    <a:pt x="9747504" y="0"/>
                  </a:lnTo>
                  <a:lnTo>
                    <a:pt x="974750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10780776" y="0"/>
            <a:ext cx="192024" cy="10287000"/>
            <a:chOff x="0" y="0"/>
            <a:chExt cx="256032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6032" cy="13716000"/>
            </a:xfrm>
            <a:custGeom>
              <a:avLst/>
              <a:gdLst/>
              <a:ahLst/>
              <a:cxnLst/>
              <a:rect l="l" t="t" r="r" b="b"/>
              <a:pathLst>
                <a:path w="256032" h="13716000">
                  <a:moveTo>
                    <a:pt x="0" y="0"/>
                  </a:moveTo>
                  <a:lnTo>
                    <a:pt x="256032" y="0"/>
                  </a:lnTo>
                  <a:lnTo>
                    <a:pt x="256032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4041246" y="5915025"/>
            <a:ext cx="5993892" cy="5993892"/>
            <a:chOff x="0" y="0"/>
            <a:chExt cx="7991856" cy="79918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991856" cy="7991856"/>
            </a:xfrm>
            <a:custGeom>
              <a:avLst/>
              <a:gdLst/>
              <a:ahLst/>
              <a:cxnLst/>
              <a:rect l="l" t="t" r="r" b="b"/>
              <a:pathLst>
                <a:path w="7991856" h="7991856">
                  <a:moveTo>
                    <a:pt x="0" y="3995928"/>
                  </a:moveTo>
                  <a:cubicBezTo>
                    <a:pt x="0" y="1789049"/>
                    <a:pt x="1789049" y="0"/>
                    <a:pt x="3995928" y="0"/>
                  </a:cubicBezTo>
                  <a:cubicBezTo>
                    <a:pt x="6202807" y="0"/>
                    <a:pt x="7991856" y="1789049"/>
                    <a:pt x="7991856" y="3995928"/>
                  </a:cubicBezTo>
                  <a:cubicBezTo>
                    <a:pt x="7991856" y="6202807"/>
                    <a:pt x="6202807" y="7991856"/>
                    <a:pt x="3995928" y="7991856"/>
                  </a:cubicBezTo>
                  <a:cubicBezTo>
                    <a:pt x="1789049" y="7991856"/>
                    <a:pt x="0" y="6202807"/>
                    <a:pt x="0" y="3995928"/>
                  </a:cubicBezTo>
                  <a:close/>
                </a:path>
              </a:pathLst>
            </a:custGeom>
            <a:solidFill>
              <a:srgbClr val="2A9D8F">
                <a:alpha val="4706"/>
              </a:srgbClr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5208758" y="6933438"/>
            <a:ext cx="4101084" cy="4101084"/>
            <a:chOff x="0" y="0"/>
            <a:chExt cx="5468112" cy="546811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468112" cy="5468112"/>
            </a:xfrm>
            <a:custGeom>
              <a:avLst/>
              <a:gdLst/>
              <a:ahLst/>
              <a:cxnLst/>
              <a:rect l="l" t="t" r="r" b="b"/>
              <a:pathLst>
                <a:path w="5468112" h="5468112">
                  <a:moveTo>
                    <a:pt x="0" y="2734056"/>
                  </a:moveTo>
                  <a:cubicBezTo>
                    <a:pt x="0" y="1224026"/>
                    <a:pt x="1224026" y="0"/>
                    <a:pt x="2734056" y="0"/>
                  </a:cubicBezTo>
                  <a:cubicBezTo>
                    <a:pt x="4244086" y="0"/>
                    <a:pt x="5468112" y="1224026"/>
                    <a:pt x="5468112" y="2734056"/>
                  </a:cubicBezTo>
                  <a:cubicBezTo>
                    <a:pt x="5468112" y="4244086"/>
                    <a:pt x="4244086" y="5468112"/>
                    <a:pt x="2734056" y="5468112"/>
                  </a:cubicBezTo>
                  <a:cubicBezTo>
                    <a:pt x="1224026" y="5468112"/>
                    <a:pt x="0" y="4244086"/>
                    <a:pt x="0" y="2734056"/>
                  </a:cubicBezTo>
                  <a:close/>
                </a:path>
              </a:pathLst>
            </a:custGeom>
            <a:solidFill>
              <a:srgbClr val="2A9D8F">
                <a:alpha val="20000"/>
              </a:srgbClr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960120" y="1577340"/>
            <a:ext cx="9326880" cy="480060"/>
            <a:chOff x="0" y="0"/>
            <a:chExt cx="12435840" cy="6400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435840" cy="640080"/>
            </a:xfrm>
            <a:custGeom>
              <a:avLst/>
              <a:gdLst/>
              <a:ahLst/>
              <a:cxnLst/>
              <a:rect l="l" t="t" r="r" b="b"/>
              <a:pathLst>
                <a:path w="12435840" h="640080">
                  <a:moveTo>
                    <a:pt x="0" y="0"/>
                  </a:moveTo>
                  <a:lnTo>
                    <a:pt x="12435840" y="0"/>
                  </a:lnTo>
                  <a:lnTo>
                    <a:pt x="124358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8566" b="-328566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243584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79">
                  <a:solidFill>
                    <a:srgbClr val="E9A2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EXCEL ANALYTICS PROJECT  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60120" y="2194560"/>
            <a:ext cx="9601200" cy="2606040"/>
            <a:chOff x="0" y="0"/>
            <a:chExt cx="12801600" cy="34747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801600" cy="3474720"/>
            </a:xfrm>
            <a:custGeom>
              <a:avLst/>
              <a:gdLst/>
              <a:ahLst/>
              <a:cxnLst/>
              <a:rect l="l" t="t" r="r" b="b"/>
              <a:pathLst>
                <a:path w="12801600" h="3474720">
                  <a:moveTo>
                    <a:pt x="0" y="0"/>
                  </a:moveTo>
                  <a:lnTo>
                    <a:pt x="12801600" y="0"/>
                  </a:lnTo>
                  <a:lnTo>
                    <a:pt x="128016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786" b="-21786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12801600" cy="35318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38"/>
                </a:lnSpc>
              </a:pPr>
              <a:r>
                <a:rPr lang="en-US" sz="63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Bike Sharing</a:t>
              </a:r>
            </a:p>
            <a:p>
              <a:pPr algn="l">
                <a:lnSpc>
                  <a:spcPts val="7938"/>
                </a:lnSpc>
              </a:pPr>
              <a:r>
                <a:rPr lang="en-US" sz="63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Demand Analysis</a:t>
              </a:r>
            </a:p>
          </p:txBody>
        </p:sp>
      </p:grpSp>
      <p:sp>
        <p:nvSpPr>
          <p:cNvPr id="18" name="AutoShape 18"/>
          <p:cNvSpPr/>
          <p:nvPr/>
        </p:nvSpPr>
        <p:spPr>
          <a:xfrm flipV="1">
            <a:off x="960120" y="4937760"/>
            <a:ext cx="1591070" cy="0"/>
          </a:xfrm>
          <a:prstGeom prst="line">
            <a:avLst/>
          </a:prstGeom>
          <a:ln w="28575" cap="rnd">
            <a:solidFill>
              <a:srgbClr val="2A9D8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960120" y="5280660"/>
            <a:ext cx="9326880" cy="685800"/>
            <a:chOff x="0" y="0"/>
            <a:chExt cx="12435840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435840" cy="914400"/>
            </a:xfrm>
            <a:custGeom>
              <a:avLst/>
              <a:gdLst/>
              <a:ahLst/>
              <a:cxnLst/>
              <a:rect l="l" t="t" r="r" b="b"/>
              <a:pathLst>
                <a:path w="12435840" h="914400">
                  <a:moveTo>
                    <a:pt x="0" y="0"/>
                  </a:moveTo>
                  <a:lnTo>
                    <a:pt x="12435840" y="0"/>
                  </a:lnTo>
                  <a:lnTo>
                    <a:pt x="124358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996" b="-214996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2435840" cy="9715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Excel-Based Demand, Rider, Weather and Forecast Analysis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658600" y="1851660"/>
            <a:ext cx="5897880" cy="1303020"/>
            <a:chOff x="0" y="0"/>
            <a:chExt cx="7863840" cy="173736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863840" cy="1737360"/>
            </a:xfrm>
            <a:custGeom>
              <a:avLst/>
              <a:gdLst/>
              <a:ahLst/>
              <a:cxnLst/>
              <a:rect l="l" t="t" r="r" b="b"/>
              <a:pathLst>
                <a:path w="7863840" h="1737360">
                  <a:moveTo>
                    <a:pt x="0" y="0"/>
                  </a:moveTo>
                  <a:lnTo>
                    <a:pt x="7863840" y="0"/>
                  </a:lnTo>
                  <a:lnTo>
                    <a:pt x="786384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195" b="-38195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7863840" cy="17564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640"/>
                </a:lnSpc>
              </a:pPr>
              <a:r>
                <a:rPr lang="en-US" sz="72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1,000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658600" y="3127248"/>
            <a:ext cx="5897880" cy="480060"/>
            <a:chOff x="0" y="0"/>
            <a:chExt cx="7863840" cy="64008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863840" cy="640080"/>
            </a:xfrm>
            <a:custGeom>
              <a:avLst/>
              <a:gdLst/>
              <a:ahLst/>
              <a:cxnLst/>
              <a:rect l="l" t="t" r="r" b="b"/>
              <a:pathLst>
                <a:path w="7863840" h="640080">
                  <a:moveTo>
                    <a:pt x="0" y="0"/>
                  </a:moveTo>
                  <a:lnTo>
                    <a:pt x="7863840" y="0"/>
                  </a:lnTo>
                  <a:lnTo>
                    <a:pt x="78638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9387" b="-189387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786384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C9D6E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Hourly records analyzed</a:t>
              </a:r>
            </a:p>
          </p:txBody>
        </p:sp>
      </p:grpSp>
      <p:sp>
        <p:nvSpPr>
          <p:cNvPr id="28" name="AutoShape 28"/>
          <p:cNvSpPr/>
          <p:nvPr/>
        </p:nvSpPr>
        <p:spPr>
          <a:xfrm rot="13200">
            <a:off x="11649056" y="4041458"/>
            <a:ext cx="4956848" cy="0"/>
          </a:xfrm>
          <a:prstGeom prst="line">
            <a:avLst/>
          </a:prstGeom>
          <a:ln w="9525" cap="rnd">
            <a:solidFill>
              <a:srgbClr val="3D628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9" name="Group 29"/>
          <p:cNvGrpSpPr/>
          <p:nvPr/>
        </p:nvGrpSpPr>
        <p:grpSpPr>
          <a:xfrm>
            <a:off x="11658600" y="4389120"/>
            <a:ext cx="5897880" cy="1097280"/>
            <a:chOff x="0" y="0"/>
            <a:chExt cx="7863840" cy="14630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863840" cy="1463040"/>
            </a:xfrm>
            <a:custGeom>
              <a:avLst/>
              <a:gdLst/>
              <a:ahLst/>
              <a:cxnLst/>
              <a:rect l="l" t="t" r="r" b="b"/>
              <a:pathLst>
                <a:path w="7863840" h="1463040">
                  <a:moveTo>
                    <a:pt x="0" y="0"/>
                  </a:moveTo>
                  <a:lnTo>
                    <a:pt x="7863840" y="0"/>
                  </a:lnTo>
                  <a:lnTo>
                    <a:pt x="78638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4732" b="-54732"/>
              </a:stretch>
            </a:blipFill>
          </p:spPr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7863840" cy="14725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839"/>
                </a:lnSpc>
              </a:pPr>
              <a:r>
                <a:rPr lang="en-US" sz="5700" b="1">
                  <a:solidFill>
                    <a:srgbClr val="2A9D8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58,304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1658600" y="5458968"/>
            <a:ext cx="5897880" cy="480060"/>
            <a:chOff x="0" y="0"/>
            <a:chExt cx="7863840" cy="64008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7863840" cy="640080"/>
            </a:xfrm>
            <a:custGeom>
              <a:avLst/>
              <a:gdLst/>
              <a:ahLst/>
              <a:cxnLst/>
              <a:rect l="l" t="t" r="r" b="b"/>
              <a:pathLst>
                <a:path w="7863840" h="640080">
                  <a:moveTo>
                    <a:pt x="0" y="0"/>
                  </a:moveTo>
                  <a:lnTo>
                    <a:pt x="7863840" y="0"/>
                  </a:lnTo>
                  <a:lnTo>
                    <a:pt x="78638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9387" b="-189387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786384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C9D6E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Total Rentals Recorded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639549" y="8709660"/>
            <a:ext cx="5897880" cy="411480"/>
            <a:chOff x="0" y="0"/>
            <a:chExt cx="786384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863840" cy="548640"/>
            </a:xfrm>
            <a:custGeom>
              <a:avLst/>
              <a:gdLst/>
              <a:ahLst/>
              <a:cxnLst/>
              <a:rect l="l" t="t" r="r" b="b"/>
              <a:pathLst>
                <a:path w="7863840" h="548640">
                  <a:moveTo>
                    <a:pt x="0" y="0"/>
                  </a:moveTo>
                  <a:lnTo>
                    <a:pt x="7863840" y="0"/>
                  </a:lnTo>
                  <a:lnTo>
                    <a:pt x="78638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9285" b="-229285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78638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150">
                  <a:solidFill>
                    <a:srgbClr val="E9A2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JAN – 14 FEB 2011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1658600" y="9121140"/>
            <a:ext cx="5897880" cy="480060"/>
            <a:chOff x="0" y="0"/>
            <a:chExt cx="7863840" cy="64008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7863840" cy="640080"/>
            </a:xfrm>
            <a:custGeom>
              <a:avLst/>
              <a:gdLst/>
              <a:ahLst/>
              <a:cxnLst/>
              <a:rect l="l" t="t" r="r" b="b"/>
              <a:pathLst>
                <a:path w="7863840" h="640080">
                  <a:moveTo>
                    <a:pt x="0" y="0"/>
                  </a:moveTo>
                  <a:lnTo>
                    <a:pt x="7863840" y="0"/>
                  </a:lnTo>
                  <a:lnTo>
                    <a:pt x="78638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9387" b="-189387"/>
              </a:stretch>
            </a:blipFill>
          </p:spPr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786384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9FB3C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Winter-only analytical window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6686" y="9725025"/>
            <a:ext cx="16459200" cy="397192"/>
            <a:chOff x="0" y="0"/>
            <a:chExt cx="21945600" cy="529590"/>
          </a:xfrm>
        </p:grpSpPr>
        <p:sp>
          <p:nvSpPr>
            <p:cNvPr id="42" name="AutoShape 42"/>
            <p:cNvSpPr/>
            <p:nvPr/>
          </p:nvSpPr>
          <p:spPr>
            <a:xfrm>
              <a:off x="0" y="6350"/>
              <a:ext cx="21945600" cy="0"/>
            </a:xfrm>
            <a:prstGeom prst="line">
              <a:avLst/>
            </a:prstGeom>
            <a:ln w="12700" cap="flat">
              <a:solidFill>
                <a:srgbClr val="D9E0E6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0" y="266700"/>
              <a:ext cx="6604000" cy="257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9"/>
                </a:lnSpc>
              </a:pPr>
              <a:r>
                <a:rPr lang="en-US" sz="1200" b="1" spc="96">
                  <a:solidFill>
                    <a:srgbClr val="173F5F"/>
                  </a:solidFill>
                  <a:latin typeface="Source Sans 3 Bold"/>
                  <a:ea typeface="Source Sans 3 Bold"/>
                  <a:cs typeface="Source Sans 3 Bold"/>
                  <a:sym typeface="Source Sans 3 Bold"/>
                </a:rPr>
                <a:t>BIKE SHARING DEMAND ANALYSIS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243800" y="276225"/>
              <a:ext cx="1701800" cy="2533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500"/>
                </a:lnSpc>
              </a:pPr>
              <a:r>
                <a:rPr lang="en-US" sz="1200">
                  <a:solidFill>
                    <a:srgbClr val="6B7280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01 / 17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47" name="TextBox 47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01 / 17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  ·  INTRODUCTION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Project Objective &amp; Dataset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 flipV="1">
            <a:off x="676277" y="1755643"/>
            <a:ext cx="1533524" cy="4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685800" y="9738360"/>
            <a:ext cx="10972800" cy="411480"/>
            <a:chOff x="0" y="0"/>
            <a:chExt cx="14630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 / 17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5800" y="2125980"/>
            <a:ext cx="8503920" cy="411480"/>
            <a:chOff x="0" y="0"/>
            <a:chExt cx="11338560" cy="5486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1338560" cy="548640"/>
            </a:xfrm>
            <a:custGeom>
              <a:avLst/>
              <a:gdLst/>
              <a:ahLst/>
              <a:cxnLst/>
              <a:rect l="l" t="t" r="r" b="b"/>
              <a:pathLst>
                <a:path w="11338560" h="548640">
                  <a:moveTo>
                    <a:pt x="0" y="0"/>
                  </a:moveTo>
                  <a:lnTo>
                    <a:pt x="11338560" y="0"/>
                  </a:lnTo>
                  <a:lnTo>
                    <a:pt x="113385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2690" b="-352690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1133856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OBJECTIVE</a:t>
              </a:r>
            </a:p>
          </p:txBody>
        </p:sp>
      </p:grpSp>
      <p:sp>
        <p:nvSpPr>
          <p:cNvPr id="20" name="AutoShape 20"/>
          <p:cNvSpPr/>
          <p:nvPr/>
        </p:nvSpPr>
        <p:spPr>
          <a:xfrm rot="7680">
            <a:off x="676265" y="2560129"/>
            <a:ext cx="852298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1" name="Group 21"/>
          <p:cNvGrpSpPr/>
          <p:nvPr/>
        </p:nvGrpSpPr>
        <p:grpSpPr>
          <a:xfrm>
            <a:off x="716280" y="2674620"/>
            <a:ext cx="8503920" cy="1371600"/>
            <a:chOff x="0" y="0"/>
            <a:chExt cx="11338560" cy="1828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1338560" cy="1828800"/>
            </a:xfrm>
            <a:custGeom>
              <a:avLst/>
              <a:gdLst/>
              <a:ahLst/>
              <a:cxnLst/>
              <a:rect l="l" t="t" r="r" b="b"/>
              <a:pathLst>
                <a:path w="11338560" h="1828800">
                  <a:moveTo>
                    <a:pt x="0" y="0"/>
                  </a:moveTo>
                  <a:lnTo>
                    <a:pt x="11338560" y="0"/>
                  </a:lnTo>
                  <a:lnTo>
                    <a:pt x="1133856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0807" b="-70807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11338560" cy="18669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Analyze hourly bike rental demand and examine its relationship with time, rider type, and weather-related factors, using Excel as the sole analytical tool.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5800" y="4183380"/>
            <a:ext cx="8503920" cy="411480"/>
            <a:chOff x="0" y="0"/>
            <a:chExt cx="11338560" cy="5486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1338560" cy="548640"/>
            </a:xfrm>
            <a:custGeom>
              <a:avLst/>
              <a:gdLst/>
              <a:ahLst/>
              <a:cxnLst/>
              <a:rect l="l" t="t" r="r" b="b"/>
              <a:pathLst>
                <a:path w="11338560" h="548640">
                  <a:moveTo>
                    <a:pt x="0" y="0"/>
                  </a:moveTo>
                  <a:lnTo>
                    <a:pt x="11338560" y="0"/>
                  </a:lnTo>
                  <a:lnTo>
                    <a:pt x="113385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2690" b="-352690"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1133856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FACTORS EXAMINED</a:t>
              </a:r>
            </a:p>
          </p:txBody>
        </p:sp>
      </p:grpSp>
      <p:sp>
        <p:nvSpPr>
          <p:cNvPr id="27" name="AutoShape 27"/>
          <p:cNvSpPr/>
          <p:nvPr/>
        </p:nvSpPr>
        <p:spPr>
          <a:xfrm rot="7680">
            <a:off x="676265" y="4617530"/>
            <a:ext cx="852298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8" name="Group 28"/>
          <p:cNvGrpSpPr/>
          <p:nvPr/>
        </p:nvGrpSpPr>
        <p:grpSpPr>
          <a:xfrm>
            <a:off x="685800" y="4814316"/>
            <a:ext cx="123444" cy="123444"/>
            <a:chOff x="0" y="0"/>
            <a:chExt cx="164592" cy="16459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028700" y="4649724"/>
            <a:ext cx="3909060" cy="480060"/>
            <a:chOff x="0" y="0"/>
            <a:chExt cx="5212080" cy="6400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Hour of day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006340" y="4814316"/>
            <a:ext cx="123444" cy="123444"/>
            <a:chOff x="0" y="0"/>
            <a:chExt cx="164592" cy="16459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5349240" y="4649724"/>
            <a:ext cx="3909060" cy="480060"/>
            <a:chOff x="0" y="0"/>
            <a:chExt cx="5212080" cy="64008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Rider type (casual / registered)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85800" y="5390388"/>
            <a:ext cx="123444" cy="123444"/>
            <a:chOff x="0" y="0"/>
            <a:chExt cx="164592" cy="164592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028700" y="5225796"/>
            <a:ext cx="3909060" cy="480060"/>
            <a:chOff x="0" y="0"/>
            <a:chExt cx="5212080" cy="64008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Working day / non-working day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006340" y="5390388"/>
            <a:ext cx="123444" cy="123444"/>
            <a:chOff x="0" y="0"/>
            <a:chExt cx="164592" cy="16459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5349240" y="5225796"/>
            <a:ext cx="3909060" cy="480060"/>
            <a:chOff x="0" y="0"/>
            <a:chExt cx="5212080" cy="64008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Weekday / weekend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85800" y="5966460"/>
            <a:ext cx="123444" cy="123444"/>
            <a:chOff x="0" y="0"/>
            <a:chExt cx="164592" cy="164592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50" name="Group 50"/>
          <p:cNvGrpSpPr/>
          <p:nvPr/>
        </p:nvGrpSpPr>
        <p:grpSpPr>
          <a:xfrm>
            <a:off x="1028700" y="5801868"/>
            <a:ext cx="3909060" cy="480060"/>
            <a:chOff x="0" y="0"/>
            <a:chExt cx="5212080" cy="6400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Holiday status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006340" y="5966460"/>
            <a:ext cx="123444" cy="123444"/>
            <a:chOff x="0" y="0"/>
            <a:chExt cx="164592" cy="164592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55" name="Group 55"/>
          <p:cNvGrpSpPr/>
          <p:nvPr/>
        </p:nvGrpSpPr>
        <p:grpSpPr>
          <a:xfrm>
            <a:off x="5349240" y="5801868"/>
            <a:ext cx="3909060" cy="480060"/>
            <a:chOff x="0" y="0"/>
            <a:chExt cx="5212080" cy="64008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Weather condition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85800" y="6542532"/>
            <a:ext cx="123444" cy="123444"/>
            <a:chOff x="0" y="0"/>
            <a:chExt cx="164592" cy="16459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60" name="Group 60"/>
          <p:cNvGrpSpPr/>
          <p:nvPr/>
        </p:nvGrpSpPr>
        <p:grpSpPr>
          <a:xfrm>
            <a:off x="1028700" y="6377940"/>
            <a:ext cx="3909060" cy="480060"/>
            <a:chOff x="0" y="0"/>
            <a:chExt cx="5212080" cy="64008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Temperature &amp; apparent temperature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006340" y="6542532"/>
            <a:ext cx="123444" cy="123444"/>
            <a:chOff x="0" y="0"/>
            <a:chExt cx="164592" cy="164592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65" name="Group 65"/>
          <p:cNvGrpSpPr/>
          <p:nvPr/>
        </p:nvGrpSpPr>
        <p:grpSpPr>
          <a:xfrm>
            <a:off x="5349240" y="6377940"/>
            <a:ext cx="3909060" cy="480060"/>
            <a:chOff x="0" y="0"/>
            <a:chExt cx="5212080" cy="64008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Humidity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685800" y="7118604"/>
            <a:ext cx="123444" cy="123444"/>
            <a:chOff x="0" y="0"/>
            <a:chExt cx="164592" cy="164592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164592" cy="164592"/>
            </a:xfrm>
            <a:custGeom>
              <a:avLst/>
              <a:gdLst/>
              <a:ahLst/>
              <a:cxnLst/>
              <a:rect l="l" t="t" r="r" b="b"/>
              <a:pathLst>
                <a:path w="164592" h="164592">
                  <a:moveTo>
                    <a:pt x="0" y="82296"/>
                  </a:moveTo>
                  <a:cubicBezTo>
                    <a:pt x="0" y="36830"/>
                    <a:pt x="36830" y="0"/>
                    <a:pt x="82296" y="0"/>
                  </a:cubicBezTo>
                  <a:cubicBezTo>
                    <a:pt x="127762" y="0"/>
                    <a:pt x="164592" y="36830"/>
                    <a:pt x="164592" y="82296"/>
                  </a:cubicBezTo>
                  <a:cubicBezTo>
                    <a:pt x="164592" y="127762"/>
                    <a:pt x="127762" y="164592"/>
                    <a:pt x="82296" y="164592"/>
                  </a:cubicBezTo>
                  <a:cubicBezTo>
                    <a:pt x="36830" y="164592"/>
                    <a:pt x="0" y="127762"/>
                    <a:pt x="0" y="82296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70" name="Group 70"/>
          <p:cNvGrpSpPr/>
          <p:nvPr/>
        </p:nvGrpSpPr>
        <p:grpSpPr>
          <a:xfrm>
            <a:off x="1028700" y="6954012"/>
            <a:ext cx="3909060" cy="480060"/>
            <a:chOff x="0" y="0"/>
            <a:chExt cx="5212080" cy="64008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5212080" cy="640080"/>
            </a:xfrm>
            <a:custGeom>
              <a:avLst/>
              <a:gdLst/>
              <a:ahLst/>
              <a:cxnLst/>
              <a:rect l="l" t="t" r="r" b="b"/>
              <a:pathLst>
                <a:path w="5212080" h="640080">
                  <a:moveTo>
                    <a:pt x="0" y="0"/>
                  </a:moveTo>
                  <a:lnTo>
                    <a:pt x="5212080" y="0"/>
                  </a:lnTo>
                  <a:lnTo>
                    <a:pt x="5212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8663" b="-108663"/>
              </a:stretch>
            </a:blip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5212080" cy="6781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Windspeed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9738360" y="2125980"/>
            <a:ext cx="7818120" cy="411480"/>
            <a:chOff x="0" y="0"/>
            <a:chExt cx="10424160" cy="54864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10424160" cy="548640"/>
            </a:xfrm>
            <a:custGeom>
              <a:avLst/>
              <a:gdLst/>
              <a:ahLst/>
              <a:cxnLst/>
              <a:rect l="l" t="t" r="r" b="b"/>
              <a:pathLst>
                <a:path w="10424160" h="548640">
                  <a:moveTo>
                    <a:pt x="0" y="0"/>
                  </a:moveTo>
                  <a:lnTo>
                    <a:pt x="10424160" y="0"/>
                  </a:lnTo>
                  <a:lnTo>
                    <a:pt x="104241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</p:sp>
        <p:sp>
          <p:nvSpPr>
            <p:cNvPr id="75" name="TextBox 75"/>
            <p:cNvSpPr txBox="1"/>
            <p:nvPr/>
          </p:nvSpPr>
          <p:spPr>
            <a:xfrm>
              <a:off x="0" y="-28575"/>
              <a:ext cx="1042416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SCOPE</a:t>
              </a:r>
            </a:p>
          </p:txBody>
        </p:sp>
      </p:grpSp>
      <p:sp>
        <p:nvSpPr>
          <p:cNvPr id="76" name="AutoShape 76"/>
          <p:cNvSpPr/>
          <p:nvPr/>
        </p:nvSpPr>
        <p:spPr>
          <a:xfrm rot="8340">
            <a:off x="9728825" y="2560129"/>
            <a:ext cx="783718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7" name="Group 77"/>
          <p:cNvGrpSpPr/>
          <p:nvPr/>
        </p:nvGrpSpPr>
        <p:grpSpPr>
          <a:xfrm>
            <a:off x="9728837" y="2893486"/>
            <a:ext cx="3703320" cy="662483"/>
            <a:chOff x="0" y="0"/>
            <a:chExt cx="4937760" cy="88331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4937760" cy="883285"/>
            </a:xfrm>
            <a:custGeom>
              <a:avLst/>
              <a:gdLst/>
              <a:ahLst/>
              <a:cxnLst/>
              <a:rect l="l" t="t" r="r" b="b"/>
              <a:pathLst>
                <a:path w="4937760" h="883285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773557"/>
                  </a:lnTo>
                  <a:cubicBezTo>
                    <a:pt x="4937760" y="834136"/>
                    <a:pt x="4888611" y="883285"/>
                    <a:pt x="4828032" y="883285"/>
                  </a:cubicBezTo>
                  <a:lnTo>
                    <a:pt x="109728" y="883285"/>
                  </a:lnTo>
                  <a:cubicBezTo>
                    <a:pt x="49149" y="883285"/>
                    <a:pt x="0" y="834136"/>
                    <a:pt x="0" y="773557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79" name="Group 79"/>
          <p:cNvGrpSpPr/>
          <p:nvPr/>
        </p:nvGrpSpPr>
        <p:grpSpPr>
          <a:xfrm>
            <a:off x="9920861" y="2934634"/>
            <a:ext cx="3319272" cy="580187"/>
            <a:chOff x="0" y="0"/>
            <a:chExt cx="4425696" cy="77358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4425696" cy="773582"/>
            </a:xfrm>
            <a:custGeom>
              <a:avLst/>
              <a:gdLst/>
              <a:ahLst/>
              <a:cxnLst/>
              <a:rect l="l" t="t" r="r" b="b"/>
              <a:pathLst>
                <a:path w="4425696" h="773582">
                  <a:moveTo>
                    <a:pt x="0" y="0"/>
                  </a:moveTo>
                  <a:lnTo>
                    <a:pt x="4425696" y="0"/>
                  </a:lnTo>
                  <a:lnTo>
                    <a:pt x="4425696" y="773582"/>
                  </a:lnTo>
                  <a:lnTo>
                    <a:pt x="0" y="7735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74" b="-61474"/>
              </a:stretch>
            </a:blipFill>
          </p:spPr>
        </p:sp>
        <p:sp>
          <p:nvSpPr>
            <p:cNvPr id="81" name="TextBox 81"/>
            <p:cNvSpPr txBox="1"/>
            <p:nvPr/>
          </p:nvSpPr>
          <p:spPr>
            <a:xfrm>
              <a:off x="0" y="-28575"/>
              <a:ext cx="4425696" cy="8021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Historical daily coverage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 rot="-10800000">
            <a:off x="11388473" y="3542253"/>
            <a:ext cx="384048" cy="216713"/>
            <a:chOff x="0" y="0"/>
            <a:chExt cx="512064" cy="288950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512064" cy="288925"/>
            </a:xfrm>
            <a:custGeom>
              <a:avLst/>
              <a:gdLst/>
              <a:ahLst/>
              <a:cxnLst/>
              <a:rect l="l" t="t" r="r" b="b"/>
              <a:pathLst>
                <a:path w="512064" h="288925">
                  <a:moveTo>
                    <a:pt x="0" y="288925"/>
                  </a:moveTo>
                  <a:lnTo>
                    <a:pt x="256032" y="0"/>
                  </a:lnTo>
                  <a:lnTo>
                    <a:pt x="512064" y="288925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84" name="Group 84"/>
          <p:cNvGrpSpPr/>
          <p:nvPr/>
        </p:nvGrpSpPr>
        <p:grpSpPr>
          <a:xfrm>
            <a:off x="9728837" y="3745250"/>
            <a:ext cx="3703320" cy="725576"/>
            <a:chOff x="0" y="0"/>
            <a:chExt cx="4937760" cy="967435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4937760" cy="967486"/>
            </a:xfrm>
            <a:custGeom>
              <a:avLst/>
              <a:gdLst/>
              <a:ahLst/>
              <a:cxnLst/>
              <a:rect l="l" t="t" r="r" b="b"/>
              <a:pathLst>
                <a:path w="4937760" h="96748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857758"/>
                  </a:lnTo>
                  <a:cubicBezTo>
                    <a:pt x="4937760" y="918337"/>
                    <a:pt x="4888611" y="967486"/>
                    <a:pt x="4828032" y="967486"/>
                  </a:cubicBezTo>
                  <a:lnTo>
                    <a:pt x="109728" y="967486"/>
                  </a:lnTo>
                  <a:cubicBezTo>
                    <a:pt x="49149" y="967486"/>
                    <a:pt x="0" y="918337"/>
                    <a:pt x="0" y="857758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86" name="Group 86"/>
          <p:cNvGrpSpPr/>
          <p:nvPr/>
        </p:nvGrpSpPr>
        <p:grpSpPr>
          <a:xfrm>
            <a:off x="9865997" y="3745250"/>
            <a:ext cx="3429000" cy="725576"/>
            <a:chOff x="0" y="0"/>
            <a:chExt cx="4572000" cy="967435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4572000" cy="967436"/>
            </a:xfrm>
            <a:custGeom>
              <a:avLst/>
              <a:gdLst/>
              <a:ahLst/>
              <a:cxnLst/>
              <a:rect l="l" t="t" r="r" b="b"/>
              <a:pathLst>
                <a:path w="4572000" h="967436">
                  <a:moveTo>
                    <a:pt x="0" y="0"/>
                  </a:moveTo>
                  <a:lnTo>
                    <a:pt x="4572000" y="0"/>
                  </a:lnTo>
                  <a:lnTo>
                    <a:pt x="4572000" y="967436"/>
                  </a:lnTo>
                  <a:lnTo>
                    <a:pt x="0" y="967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2084" b="-42084"/>
              </a:stretch>
            </a:blipFill>
          </p:spPr>
        </p:sp>
        <p:sp>
          <p:nvSpPr>
            <p:cNvPr id="88" name="TextBox 88"/>
            <p:cNvSpPr txBox="1"/>
            <p:nvPr/>
          </p:nvSpPr>
          <p:spPr>
            <a:xfrm>
              <a:off x="0" y="-19050"/>
              <a:ext cx="4572000" cy="986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45 days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13843637" y="2893486"/>
            <a:ext cx="3703320" cy="662483"/>
            <a:chOff x="0" y="0"/>
            <a:chExt cx="4937760" cy="883310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4937760" cy="883285"/>
            </a:xfrm>
            <a:custGeom>
              <a:avLst/>
              <a:gdLst/>
              <a:ahLst/>
              <a:cxnLst/>
              <a:rect l="l" t="t" r="r" b="b"/>
              <a:pathLst>
                <a:path w="4937760" h="883285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773557"/>
                  </a:lnTo>
                  <a:cubicBezTo>
                    <a:pt x="4937760" y="834136"/>
                    <a:pt x="4888611" y="883285"/>
                    <a:pt x="4828032" y="883285"/>
                  </a:cubicBezTo>
                  <a:lnTo>
                    <a:pt x="109728" y="883285"/>
                  </a:lnTo>
                  <a:cubicBezTo>
                    <a:pt x="49149" y="883285"/>
                    <a:pt x="0" y="834136"/>
                    <a:pt x="0" y="773557"/>
                  </a:cubicBezTo>
                  <a:close/>
                </a:path>
              </a:pathLst>
            </a:custGeom>
            <a:solidFill>
              <a:srgbClr val="FCEEDA"/>
            </a:solidFill>
          </p:spPr>
        </p:sp>
      </p:grpSp>
      <p:grpSp>
        <p:nvGrpSpPr>
          <p:cNvPr id="91" name="Group 91"/>
          <p:cNvGrpSpPr/>
          <p:nvPr/>
        </p:nvGrpSpPr>
        <p:grpSpPr>
          <a:xfrm>
            <a:off x="14035661" y="2934634"/>
            <a:ext cx="3319272" cy="580186"/>
            <a:chOff x="0" y="0"/>
            <a:chExt cx="4425696" cy="77358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4425696" cy="773582"/>
            </a:xfrm>
            <a:custGeom>
              <a:avLst/>
              <a:gdLst/>
              <a:ahLst/>
              <a:cxnLst/>
              <a:rect l="l" t="t" r="r" b="b"/>
              <a:pathLst>
                <a:path w="4425696" h="773582">
                  <a:moveTo>
                    <a:pt x="0" y="0"/>
                  </a:moveTo>
                  <a:lnTo>
                    <a:pt x="4425696" y="0"/>
                  </a:lnTo>
                  <a:lnTo>
                    <a:pt x="4425696" y="773582"/>
                  </a:lnTo>
                  <a:lnTo>
                    <a:pt x="0" y="7735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1474" b="-61474"/>
              </a:stretch>
            </a:blipFill>
          </p:spPr>
        </p:sp>
        <p:sp>
          <p:nvSpPr>
            <p:cNvPr id="93" name="TextBox 93"/>
            <p:cNvSpPr txBox="1"/>
            <p:nvPr/>
          </p:nvSpPr>
          <p:spPr>
            <a:xfrm>
              <a:off x="0" y="-28575"/>
              <a:ext cx="4425696" cy="80215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Season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 rot="-10800000">
            <a:off x="15503273" y="3542253"/>
            <a:ext cx="384048" cy="216713"/>
            <a:chOff x="0" y="0"/>
            <a:chExt cx="512064" cy="288950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512064" cy="288925"/>
            </a:xfrm>
            <a:custGeom>
              <a:avLst/>
              <a:gdLst/>
              <a:ahLst/>
              <a:cxnLst/>
              <a:rect l="l" t="t" r="r" b="b"/>
              <a:pathLst>
                <a:path w="512064" h="288925">
                  <a:moveTo>
                    <a:pt x="0" y="288925"/>
                  </a:moveTo>
                  <a:lnTo>
                    <a:pt x="256032" y="0"/>
                  </a:lnTo>
                  <a:lnTo>
                    <a:pt x="512064" y="288925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96" name="Group 96"/>
          <p:cNvGrpSpPr/>
          <p:nvPr/>
        </p:nvGrpSpPr>
        <p:grpSpPr>
          <a:xfrm>
            <a:off x="13843637" y="3745250"/>
            <a:ext cx="3703320" cy="725576"/>
            <a:chOff x="0" y="0"/>
            <a:chExt cx="4937760" cy="967435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4937760" cy="967486"/>
            </a:xfrm>
            <a:custGeom>
              <a:avLst/>
              <a:gdLst/>
              <a:ahLst/>
              <a:cxnLst/>
              <a:rect l="l" t="t" r="r" b="b"/>
              <a:pathLst>
                <a:path w="4937760" h="96748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857758"/>
                  </a:lnTo>
                  <a:cubicBezTo>
                    <a:pt x="4937760" y="918337"/>
                    <a:pt x="4888611" y="967486"/>
                    <a:pt x="4828032" y="967486"/>
                  </a:cubicBezTo>
                  <a:lnTo>
                    <a:pt x="109728" y="967486"/>
                  </a:lnTo>
                  <a:cubicBezTo>
                    <a:pt x="49149" y="967486"/>
                    <a:pt x="0" y="918337"/>
                    <a:pt x="0" y="857758"/>
                  </a:cubicBez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98" name="Group 98"/>
          <p:cNvGrpSpPr/>
          <p:nvPr/>
        </p:nvGrpSpPr>
        <p:grpSpPr>
          <a:xfrm>
            <a:off x="13980797" y="2789458"/>
            <a:ext cx="3429000" cy="2637160"/>
            <a:chOff x="0" y="0"/>
            <a:chExt cx="4572000" cy="3516213"/>
          </a:xfrm>
        </p:grpSpPr>
        <p:sp>
          <p:nvSpPr>
            <p:cNvPr id="99" name="Freeform 99"/>
            <p:cNvSpPr/>
            <p:nvPr/>
          </p:nvSpPr>
          <p:spPr>
            <a:xfrm>
              <a:off x="0" y="0"/>
              <a:ext cx="4572000" cy="3516214"/>
            </a:xfrm>
            <a:custGeom>
              <a:avLst/>
              <a:gdLst/>
              <a:ahLst/>
              <a:cxnLst/>
              <a:rect l="l" t="t" r="r" b="b"/>
              <a:pathLst>
                <a:path w="4572000" h="3516214">
                  <a:moveTo>
                    <a:pt x="0" y="0"/>
                  </a:moveTo>
                  <a:lnTo>
                    <a:pt x="4572000" y="0"/>
                  </a:lnTo>
                  <a:lnTo>
                    <a:pt x="4572000" y="3516214"/>
                  </a:lnTo>
                  <a:lnTo>
                    <a:pt x="0" y="35162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578" b="60907"/>
              </a:stretch>
            </a:blipFill>
          </p:spPr>
        </p:sp>
        <p:sp>
          <p:nvSpPr>
            <p:cNvPr id="100" name="TextBox 100"/>
            <p:cNvSpPr txBox="1"/>
            <p:nvPr/>
          </p:nvSpPr>
          <p:spPr>
            <a:xfrm>
              <a:off x="0" y="-19050"/>
              <a:ext cx="4572000" cy="35352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Winter</a:t>
              </a:r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9738360" y="4470826"/>
            <a:ext cx="7818120" cy="1761917"/>
            <a:chOff x="0" y="0"/>
            <a:chExt cx="10424160" cy="2349222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10424160" cy="2349222"/>
            </a:xfrm>
            <a:custGeom>
              <a:avLst/>
              <a:gdLst/>
              <a:ahLst/>
              <a:cxnLst/>
              <a:rect l="l" t="t" r="r" b="b"/>
              <a:pathLst>
                <a:path w="10424160" h="2349222">
                  <a:moveTo>
                    <a:pt x="0" y="0"/>
                  </a:moveTo>
                  <a:lnTo>
                    <a:pt x="10424160" y="0"/>
                  </a:lnTo>
                  <a:lnTo>
                    <a:pt x="10424160" y="2349222"/>
                  </a:lnTo>
                  <a:lnTo>
                    <a:pt x="0" y="234922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0891" b="-2030"/>
              </a:stretch>
            </a:blipFill>
          </p:spPr>
        </p:sp>
        <p:sp>
          <p:nvSpPr>
            <p:cNvPr id="103" name="TextBox 103"/>
            <p:cNvSpPr txBox="1"/>
            <p:nvPr/>
          </p:nvSpPr>
          <p:spPr>
            <a:xfrm>
              <a:off x="0" y="142875"/>
              <a:ext cx="10424160" cy="2206347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just">
                <a:lnSpc>
                  <a:spcPts val="1200"/>
                </a:lnSpc>
              </a:pPr>
              <a:r>
                <a:rPr lang="en-US" sz="24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 Jan 2011  →  14 Feb 2011</a:t>
              </a: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06" name="Group 106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08" name="Group 108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110" name="TextBox 110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Scope note: February is only partially represented, and only one season (winter) appears in the data — seasonal and full-month comparisons are intentionally excluded from this analysis.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  ·  METHODOLOGY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Data Preparation &amp; Final Dataset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 / 17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76275" y="2390775"/>
            <a:ext cx="4024122" cy="3516630"/>
            <a:chOff x="0" y="0"/>
            <a:chExt cx="5365496" cy="46888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365496" cy="4688840"/>
            </a:xfrm>
            <a:custGeom>
              <a:avLst/>
              <a:gdLst/>
              <a:ahLst/>
              <a:cxnLst/>
              <a:rect l="l" t="t" r="r" b="b"/>
              <a:pathLst>
                <a:path w="5365496" h="4688840">
                  <a:moveTo>
                    <a:pt x="0" y="0"/>
                  </a:moveTo>
                  <a:lnTo>
                    <a:pt x="5365496" y="0"/>
                  </a:lnTo>
                  <a:lnTo>
                    <a:pt x="5365496" y="4688840"/>
                  </a:lnTo>
                  <a:lnTo>
                    <a:pt x="0" y="468884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932688" y="2674620"/>
            <a:ext cx="685800" cy="685800"/>
            <a:chOff x="0" y="0"/>
            <a:chExt cx="914400" cy="914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932688" y="2674620"/>
            <a:ext cx="685800" cy="685800"/>
            <a:chOff x="0" y="0"/>
            <a:chExt cx="9144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9144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32688" y="3497580"/>
            <a:ext cx="3511296" cy="548640"/>
            <a:chOff x="0" y="0"/>
            <a:chExt cx="4681728" cy="7315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681728" cy="731520"/>
            </a:xfrm>
            <a:custGeom>
              <a:avLst/>
              <a:gdLst/>
              <a:ahLst/>
              <a:cxnLst/>
              <a:rect l="l" t="t" r="r" b="b"/>
              <a:pathLst>
                <a:path w="4681728" h="731520">
                  <a:moveTo>
                    <a:pt x="0" y="0"/>
                  </a:moveTo>
                  <a:lnTo>
                    <a:pt x="4681728" y="0"/>
                  </a:lnTo>
                  <a:lnTo>
                    <a:pt x="46817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4681728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Source Data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32688" y="4046220"/>
            <a:ext cx="3511296" cy="1714500"/>
            <a:chOff x="0" y="0"/>
            <a:chExt cx="4681728" cy="2286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681728" cy="2286000"/>
            </a:xfrm>
            <a:custGeom>
              <a:avLst/>
              <a:gdLst/>
              <a:ahLst/>
              <a:cxnLst/>
              <a:rect l="l" t="t" r="r" b="b"/>
              <a:pathLst>
                <a:path w="4681728" h="2286000">
                  <a:moveTo>
                    <a:pt x="0" y="0"/>
                  </a:moveTo>
                  <a:lnTo>
                    <a:pt x="4681728" y="0"/>
                  </a:lnTo>
                  <a:lnTo>
                    <a:pt x="468172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648" r="-12648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4681728" cy="2305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Three raw workbooks: calendar/weather codes, numeric weather + rental counts, and a third continuation period.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697730" y="3977640"/>
            <a:ext cx="205740" cy="548640"/>
            <a:chOff x="0" y="0"/>
            <a:chExt cx="274320" cy="73152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74320" cy="731520"/>
            </a:xfrm>
            <a:custGeom>
              <a:avLst/>
              <a:gdLst/>
              <a:ahLst/>
              <a:cxnLst/>
              <a:rect l="l" t="t" r="r" b="b"/>
              <a:pathLst>
                <a:path w="274320" h="731520">
                  <a:moveTo>
                    <a:pt x="0" y="0"/>
                  </a:moveTo>
                  <a:lnTo>
                    <a:pt x="274320" y="0"/>
                  </a:lnTo>
                  <a:lnTo>
                    <a:pt x="274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2142" r="-292142"/>
              </a:stretch>
            </a:blipFill>
          </p:spPr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2743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E9A2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887087" y="2390775"/>
            <a:ext cx="4024122" cy="3516630"/>
            <a:chOff x="0" y="0"/>
            <a:chExt cx="5365496" cy="46888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365496" cy="4688840"/>
            </a:xfrm>
            <a:custGeom>
              <a:avLst/>
              <a:gdLst/>
              <a:ahLst/>
              <a:cxnLst/>
              <a:rect l="l" t="t" r="r" b="b"/>
              <a:pathLst>
                <a:path w="5365496" h="4688840">
                  <a:moveTo>
                    <a:pt x="0" y="0"/>
                  </a:moveTo>
                  <a:lnTo>
                    <a:pt x="5365496" y="0"/>
                  </a:lnTo>
                  <a:lnTo>
                    <a:pt x="5365496" y="4688840"/>
                  </a:lnTo>
                  <a:lnTo>
                    <a:pt x="0" y="468884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5143500" y="2674620"/>
            <a:ext cx="685800" cy="685800"/>
            <a:chOff x="0" y="0"/>
            <a:chExt cx="91440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5143500" y="2674620"/>
            <a:ext cx="685800" cy="685800"/>
            <a:chOff x="0" y="0"/>
            <a:chExt cx="914400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9144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143500" y="3497580"/>
            <a:ext cx="3511296" cy="548640"/>
            <a:chOff x="0" y="0"/>
            <a:chExt cx="4681728" cy="73152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681728" cy="731520"/>
            </a:xfrm>
            <a:custGeom>
              <a:avLst/>
              <a:gdLst/>
              <a:ahLst/>
              <a:cxnLst/>
              <a:rect l="l" t="t" r="r" b="b"/>
              <a:pathLst>
                <a:path w="4681728" h="731520">
                  <a:moveTo>
                    <a:pt x="0" y="0"/>
                  </a:moveTo>
                  <a:lnTo>
                    <a:pt x="4681728" y="0"/>
                  </a:lnTo>
                  <a:lnTo>
                    <a:pt x="46817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4681728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Cleaning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5143500" y="4046220"/>
            <a:ext cx="3511296" cy="1714500"/>
            <a:chOff x="0" y="0"/>
            <a:chExt cx="4681728" cy="22860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4681728" cy="2286000"/>
            </a:xfrm>
            <a:custGeom>
              <a:avLst/>
              <a:gdLst/>
              <a:ahLst/>
              <a:cxnLst/>
              <a:rect l="l" t="t" r="r" b="b"/>
              <a:pathLst>
                <a:path w="4681728" h="2286000">
                  <a:moveTo>
                    <a:pt x="0" y="0"/>
                  </a:moveTo>
                  <a:lnTo>
                    <a:pt x="4681728" y="0"/>
                  </a:lnTo>
                  <a:lnTo>
                    <a:pt x="468172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648" r="-12648"/>
              </a:stretch>
            </a:blipFill>
          </p:spPr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4681728" cy="2305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Power Query was used to fix data types, remove duplicates, and fill 11 missing values with the mean.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908542" y="3977640"/>
            <a:ext cx="205740" cy="548640"/>
            <a:chOff x="0" y="0"/>
            <a:chExt cx="274320" cy="73152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74320" cy="731520"/>
            </a:xfrm>
            <a:custGeom>
              <a:avLst/>
              <a:gdLst/>
              <a:ahLst/>
              <a:cxnLst/>
              <a:rect l="l" t="t" r="r" b="b"/>
              <a:pathLst>
                <a:path w="274320" h="731520">
                  <a:moveTo>
                    <a:pt x="0" y="0"/>
                  </a:moveTo>
                  <a:lnTo>
                    <a:pt x="274320" y="0"/>
                  </a:lnTo>
                  <a:lnTo>
                    <a:pt x="274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2142" r="-292142"/>
              </a:stretch>
            </a:blipFill>
          </p:spPr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2743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E9A2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097899" y="2390775"/>
            <a:ext cx="4024122" cy="3516630"/>
            <a:chOff x="0" y="0"/>
            <a:chExt cx="5365496" cy="468884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365496" cy="4688840"/>
            </a:xfrm>
            <a:custGeom>
              <a:avLst/>
              <a:gdLst/>
              <a:ahLst/>
              <a:cxnLst/>
              <a:rect l="l" t="t" r="r" b="b"/>
              <a:pathLst>
                <a:path w="5365496" h="4688840">
                  <a:moveTo>
                    <a:pt x="0" y="0"/>
                  </a:moveTo>
                  <a:lnTo>
                    <a:pt x="5365496" y="0"/>
                  </a:lnTo>
                  <a:lnTo>
                    <a:pt x="5365496" y="4688840"/>
                  </a:lnTo>
                  <a:lnTo>
                    <a:pt x="0" y="468884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47" name="Group 47"/>
          <p:cNvGrpSpPr/>
          <p:nvPr/>
        </p:nvGrpSpPr>
        <p:grpSpPr>
          <a:xfrm>
            <a:off x="9354312" y="2674620"/>
            <a:ext cx="685800" cy="685800"/>
            <a:chOff x="0" y="0"/>
            <a:chExt cx="914400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9" name="Group 49"/>
          <p:cNvGrpSpPr/>
          <p:nvPr/>
        </p:nvGrpSpPr>
        <p:grpSpPr>
          <a:xfrm>
            <a:off x="9354312" y="2674620"/>
            <a:ext cx="685800" cy="685800"/>
            <a:chOff x="0" y="0"/>
            <a:chExt cx="914400" cy="914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9144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354312" y="3497580"/>
            <a:ext cx="3511296" cy="548640"/>
            <a:chOff x="0" y="0"/>
            <a:chExt cx="4681728" cy="73152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681728" cy="731520"/>
            </a:xfrm>
            <a:custGeom>
              <a:avLst/>
              <a:gdLst/>
              <a:ahLst/>
              <a:cxnLst/>
              <a:rect l="l" t="t" r="r" b="b"/>
              <a:pathLst>
                <a:path w="4681728" h="731520">
                  <a:moveTo>
                    <a:pt x="0" y="0"/>
                  </a:moveTo>
                  <a:lnTo>
                    <a:pt x="4681728" y="0"/>
                  </a:lnTo>
                  <a:lnTo>
                    <a:pt x="46817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4681728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Merge &amp; Append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354312" y="4046220"/>
            <a:ext cx="3511296" cy="1714500"/>
            <a:chOff x="0" y="0"/>
            <a:chExt cx="4681728" cy="22860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681728" cy="2286000"/>
            </a:xfrm>
            <a:custGeom>
              <a:avLst/>
              <a:gdLst/>
              <a:ahLst/>
              <a:cxnLst/>
              <a:rect l="l" t="t" r="r" b="b"/>
              <a:pathLst>
                <a:path w="4681728" h="2286000">
                  <a:moveTo>
                    <a:pt x="0" y="0"/>
                  </a:moveTo>
                  <a:lnTo>
                    <a:pt x="4681728" y="0"/>
                  </a:lnTo>
                  <a:lnTo>
                    <a:pt x="468172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648" r="-12648"/>
              </a:stretch>
            </a:blip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4681728" cy="2305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Datasets merged on the common 'instant' key, then appended to form one 1,000-row hourly dataset.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119354" y="3977640"/>
            <a:ext cx="205740" cy="548640"/>
            <a:chOff x="0" y="0"/>
            <a:chExt cx="274320" cy="73152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74320" cy="731520"/>
            </a:xfrm>
            <a:custGeom>
              <a:avLst/>
              <a:gdLst/>
              <a:ahLst/>
              <a:cxnLst/>
              <a:rect l="l" t="t" r="r" b="b"/>
              <a:pathLst>
                <a:path w="274320" h="731520">
                  <a:moveTo>
                    <a:pt x="0" y="0"/>
                  </a:moveTo>
                  <a:lnTo>
                    <a:pt x="274320" y="0"/>
                  </a:lnTo>
                  <a:lnTo>
                    <a:pt x="274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92142" r="-292142"/>
              </a:stretch>
            </a:blip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274320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E9A2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308711" y="2390775"/>
            <a:ext cx="4024122" cy="3516630"/>
            <a:chOff x="0" y="0"/>
            <a:chExt cx="5365496" cy="46888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365496" cy="4688840"/>
            </a:xfrm>
            <a:custGeom>
              <a:avLst/>
              <a:gdLst/>
              <a:ahLst/>
              <a:cxnLst/>
              <a:rect l="l" t="t" r="r" b="b"/>
              <a:pathLst>
                <a:path w="5365496" h="4688840">
                  <a:moveTo>
                    <a:pt x="0" y="0"/>
                  </a:moveTo>
                  <a:lnTo>
                    <a:pt x="5365496" y="0"/>
                  </a:lnTo>
                  <a:lnTo>
                    <a:pt x="5365496" y="4688840"/>
                  </a:lnTo>
                  <a:lnTo>
                    <a:pt x="0" y="468884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63" name="Group 63"/>
          <p:cNvGrpSpPr/>
          <p:nvPr/>
        </p:nvGrpSpPr>
        <p:grpSpPr>
          <a:xfrm>
            <a:off x="13565124" y="2674620"/>
            <a:ext cx="685800" cy="685800"/>
            <a:chOff x="0" y="0"/>
            <a:chExt cx="914400" cy="914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65" name="Group 65"/>
          <p:cNvGrpSpPr/>
          <p:nvPr/>
        </p:nvGrpSpPr>
        <p:grpSpPr>
          <a:xfrm>
            <a:off x="13565124" y="2674620"/>
            <a:ext cx="685800" cy="685800"/>
            <a:chOff x="0" y="0"/>
            <a:chExt cx="914400" cy="9144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</p:sp>
        <p:sp>
          <p:nvSpPr>
            <p:cNvPr id="67" name="TextBox 67"/>
            <p:cNvSpPr txBox="1"/>
            <p:nvPr/>
          </p:nvSpPr>
          <p:spPr>
            <a:xfrm>
              <a:off x="0" y="-19050"/>
              <a:ext cx="91440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3565124" y="3497580"/>
            <a:ext cx="3511296" cy="548640"/>
            <a:chOff x="0" y="0"/>
            <a:chExt cx="4681728" cy="73152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681728" cy="731520"/>
            </a:xfrm>
            <a:custGeom>
              <a:avLst/>
              <a:gdLst/>
              <a:ahLst/>
              <a:cxnLst/>
              <a:rect l="l" t="t" r="r" b="b"/>
              <a:pathLst>
                <a:path w="4681728" h="731520">
                  <a:moveTo>
                    <a:pt x="0" y="0"/>
                  </a:moveTo>
                  <a:lnTo>
                    <a:pt x="4681728" y="0"/>
                  </a:lnTo>
                  <a:lnTo>
                    <a:pt x="46817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704" b="-74704"/>
              </a:stretch>
            </a:blipFill>
          </p:spPr>
        </p:sp>
        <p:sp>
          <p:nvSpPr>
            <p:cNvPr id="70" name="TextBox 70"/>
            <p:cNvSpPr txBox="1"/>
            <p:nvPr/>
          </p:nvSpPr>
          <p:spPr>
            <a:xfrm>
              <a:off x="0" y="-38100"/>
              <a:ext cx="4681728" cy="7696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Feature Preparation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13565124" y="4046220"/>
            <a:ext cx="3511296" cy="1714500"/>
            <a:chOff x="0" y="0"/>
            <a:chExt cx="4681728" cy="228600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4681728" cy="2286000"/>
            </a:xfrm>
            <a:custGeom>
              <a:avLst/>
              <a:gdLst/>
              <a:ahLst/>
              <a:cxnLst/>
              <a:rect l="l" t="t" r="r" b="b"/>
              <a:pathLst>
                <a:path w="4681728" h="2286000">
                  <a:moveTo>
                    <a:pt x="0" y="0"/>
                  </a:moveTo>
                  <a:lnTo>
                    <a:pt x="4681728" y="0"/>
                  </a:lnTo>
                  <a:lnTo>
                    <a:pt x="4681728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648" r="-12648"/>
              </a:stretch>
            </a:blipFill>
          </p:spPr>
        </p:sp>
        <p:sp>
          <p:nvSpPr>
            <p:cNvPr id="73" name="TextBox 73"/>
            <p:cNvSpPr txBox="1"/>
            <p:nvPr/>
          </p:nvSpPr>
          <p:spPr>
            <a:xfrm>
              <a:off x="0" y="-19050"/>
              <a:ext cx="4681728" cy="23050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Lookup tables (VLOOKUP / INDEX-MATCH) and IF-based logic added readable weather, day, and working-day labels.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85800" y="6377940"/>
            <a:ext cx="16870680" cy="411480"/>
            <a:chOff x="0" y="0"/>
            <a:chExt cx="22494240" cy="54864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22494239" cy="548640"/>
            </a:xfrm>
            <a:custGeom>
              <a:avLst/>
              <a:gdLst/>
              <a:ahLst/>
              <a:cxnLst/>
              <a:rect l="l" t="t" r="r" b="b"/>
              <a:pathLst>
                <a:path w="22494239" h="548640">
                  <a:moveTo>
                    <a:pt x="0" y="0"/>
                  </a:moveTo>
                  <a:lnTo>
                    <a:pt x="22494239" y="0"/>
                  </a:lnTo>
                  <a:lnTo>
                    <a:pt x="224942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8886" b="-748886"/>
              </a:stretch>
            </a:blipFill>
          </p:spPr>
        </p:sp>
        <p:sp>
          <p:nvSpPr>
            <p:cNvPr id="76" name="TextBox 76"/>
            <p:cNvSpPr txBox="1"/>
            <p:nvPr/>
          </p:nvSpPr>
          <p:spPr>
            <a:xfrm>
              <a:off x="0" y="-28575"/>
              <a:ext cx="224942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FINAL ANALYTICAL DATASET</a:t>
              </a:r>
            </a:p>
          </p:txBody>
        </p:sp>
      </p:grpSp>
      <p:sp>
        <p:nvSpPr>
          <p:cNvPr id="77" name="AutoShape 77"/>
          <p:cNvSpPr/>
          <p:nvPr/>
        </p:nvSpPr>
        <p:spPr>
          <a:xfrm rot="3900">
            <a:off x="676265" y="6812090"/>
            <a:ext cx="16889740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8" name="Group 78"/>
          <p:cNvGrpSpPr/>
          <p:nvPr/>
        </p:nvGrpSpPr>
        <p:grpSpPr>
          <a:xfrm>
            <a:off x="685800" y="6926580"/>
            <a:ext cx="3264408" cy="548640"/>
            <a:chOff x="0" y="0"/>
            <a:chExt cx="4352544" cy="731520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80" name="Group 80"/>
          <p:cNvGrpSpPr/>
          <p:nvPr/>
        </p:nvGrpSpPr>
        <p:grpSpPr>
          <a:xfrm>
            <a:off x="685800" y="6926580"/>
            <a:ext cx="3264408" cy="548640"/>
            <a:chOff x="0" y="0"/>
            <a:chExt cx="4352544" cy="73152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35" b="-65935"/>
              </a:stretch>
            </a:blipFill>
          </p:spPr>
        </p:sp>
        <p:sp>
          <p:nvSpPr>
            <p:cNvPr id="82" name="TextBox 82"/>
            <p:cNvSpPr txBox="1"/>
            <p:nvPr/>
          </p:nvSpPr>
          <p:spPr>
            <a:xfrm>
              <a:off x="0" y="-19050"/>
              <a:ext cx="4352544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Date / Time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676275" y="7465695"/>
            <a:ext cx="3283458" cy="1390650"/>
            <a:chOff x="0" y="0"/>
            <a:chExt cx="4377944" cy="185420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4377944" cy="1854200"/>
            </a:xfrm>
            <a:custGeom>
              <a:avLst/>
              <a:gdLst/>
              <a:ahLst/>
              <a:cxnLst/>
              <a:rect l="l" t="t" r="r" b="b"/>
              <a:pathLst>
                <a:path w="4377944" h="1854200">
                  <a:moveTo>
                    <a:pt x="0" y="0"/>
                  </a:moveTo>
                  <a:lnTo>
                    <a:pt x="4377944" y="0"/>
                  </a:lnTo>
                  <a:lnTo>
                    <a:pt x="43779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sp>
        <p:nvSpPr>
          <p:cNvPr id="85" name="TextBox 85"/>
          <p:cNvSpPr txBox="1"/>
          <p:nvPr/>
        </p:nvSpPr>
        <p:spPr>
          <a:xfrm>
            <a:off x="795528" y="7505700"/>
            <a:ext cx="3044952" cy="127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>
                <a:solidFill>
                  <a:srgbClr val="263238"/>
                </a:solidFill>
                <a:latin typeface="Calibri (MS)"/>
                <a:ea typeface="Calibri (MS)"/>
                <a:cs typeface="Calibri (MS)"/>
                <a:sym typeface="Calibri (MS)"/>
              </a:rPr>
              <a:t>Date, hour, weekday, month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4005072" y="6926580"/>
            <a:ext cx="3264408" cy="548640"/>
            <a:chOff x="0" y="0"/>
            <a:chExt cx="4352544" cy="731520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88" name="Group 88"/>
          <p:cNvGrpSpPr/>
          <p:nvPr/>
        </p:nvGrpSpPr>
        <p:grpSpPr>
          <a:xfrm>
            <a:off x="4005072" y="6926580"/>
            <a:ext cx="3264408" cy="548640"/>
            <a:chOff x="0" y="0"/>
            <a:chExt cx="4352544" cy="73152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35" b="-65935"/>
              </a:stretch>
            </a:blip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4352544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Rider Type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3995547" y="7465695"/>
            <a:ext cx="3283458" cy="1390650"/>
            <a:chOff x="0" y="0"/>
            <a:chExt cx="4377944" cy="1854200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4377944" cy="1854200"/>
            </a:xfrm>
            <a:custGeom>
              <a:avLst/>
              <a:gdLst/>
              <a:ahLst/>
              <a:cxnLst/>
              <a:rect l="l" t="t" r="r" b="b"/>
              <a:pathLst>
                <a:path w="4377944" h="1854200">
                  <a:moveTo>
                    <a:pt x="0" y="0"/>
                  </a:moveTo>
                  <a:lnTo>
                    <a:pt x="4377944" y="0"/>
                  </a:lnTo>
                  <a:lnTo>
                    <a:pt x="43779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sp>
        <p:nvSpPr>
          <p:cNvPr id="93" name="TextBox 93"/>
          <p:cNvSpPr txBox="1"/>
          <p:nvPr/>
        </p:nvSpPr>
        <p:spPr>
          <a:xfrm>
            <a:off x="4114800" y="7505700"/>
            <a:ext cx="3044952" cy="127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>
                <a:solidFill>
                  <a:srgbClr val="263238"/>
                </a:solidFill>
                <a:latin typeface="Calibri (MS)"/>
                <a:ea typeface="Calibri (MS)"/>
                <a:cs typeface="Calibri (MS)"/>
                <a:sym typeface="Calibri (MS)"/>
              </a:rPr>
              <a:t>Casual, registered, total rentals</a:t>
            </a:r>
          </a:p>
        </p:txBody>
      </p:sp>
      <p:grpSp>
        <p:nvGrpSpPr>
          <p:cNvPr id="94" name="Group 94"/>
          <p:cNvGrpSpPr/>
          <p:nvPr/>
        </p:nvGrpSpPr>
        <p:grpSpPr>
          <a:xfrm>
            <a:off x="7324344" y="6926580"/>
            <a:ext cx="3264408" cy="548640"/>
            <a:chOff x="0" y="0"/>
            <a:chExt cx="4352544" cy="731520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96" name="Group 96"/>
          <p:cNvGrpSpPr/>
          <p:nvPr/>
        </p:nvGrpSpPr>
        <p:grpSpPr>
          <a:xfrm>
            <a:off x="7324344" y="6926580"/>
            <a:ext cx="3264408" cy="548640"/>
            <a:chOff x="0" y="0"/>
            <a:chExt cx="4352544" cy="73152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35" b="-65935"/>
              </a:stretch>
            </a:blipFill>
          </p:spPr>
        </p:sp>
        <p:sp>
          <p:nvSpPr>
            <p:cNvPr id="98" name="TextBox 98"/>
            <p:cNvSpPr txBox="1"/>
            <p:nvPr/>
          </p:nvSpPr>
          <p:spPr>
            <a:xfrm>
              <a:off x="0" y="-19050"/>
              <a:ext cx="4352544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Weather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7314819" y="7465695"/>
            <a:ext cx="3283458" cy="1390650"/>
            <a:chOff x="0" y="0"/>
            <a:chExt cx="4377944" cy="1854200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4377944" cy="1854200"/>
            </a:xfrm>
            <a:custGeom>
              <a:avLst/>
              <a:gdLst/>
              <a:ahLst/>
              <a:cxnLst/>
              <a:rect l="l" t="t" r="r" b="b"/>
              <a:pathLst>
                <a:path w="4377944" h="1854200">
                  <a:moveTo>
                    <a:pt x="0" y="0"/>
                  </a:moveTo>
                  <a:lnTo>
                    <a:pt x="4377944" y="0"/>
                  </a:lnTo>
                  <a:lnTo>
                    <a:pt x="43779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sp>
        <p:nvSpPr>
          <p:cNvPr id="101" name="TextBox 101"/>
          <p:cNvSpPr txBox="1"/>
          <p:nvPr/>
        </p:nvSpPr>
        <p:spPr>
          <a:xfrm>
            <a:off x="7434072" y="7505700"/>
            <a:ext cx="3044952" cy="127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>
                <a:solidFill>
                  <a:srgbClr val="263238"/>
                </a:solidFill>
                <a:latin typeface="Calibri (MS)"/>
                <a:ea typeface="Calibri (MS)"/>
                <a:cs typeface="Calibri (MS)"/>
                <a:sym typeface="Calibri (MS)"/>
              </a:rPr>
              <a:t>Weather condition, temperature, humidity, windspeed</a:t>
            </a:r>
          </a:p>
        </p:txBody>
      </p:sp>
      <p:grpSp>
        <p:nvGrpSpPr>
          <p:cNvPr id="102" name="Group 102"/>
          <p:cNvGrpSpPr/>
          <p:nvPr/>
        </p:nvGrpSpPr>
        <p:grpSpPr>
          <a:xfrm>
            <a:off x="10643616" y="6926580"/>
            <a:ext cx="3264408" cy="548640"/>
            <a:chOff x="0" y="0"/>
            <a:chExt cx="4352544" cy="731520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104" name="Group 104"/>
          <p:cNvGrpSpPr/>
          <p:nvPr/>
        </p:nvGrpSpPr>
        <p:grpSpPr>
          <a:xfrm>
            <a:off x="10643616" y="6926580"/>
            <a:ext cx="3264408" cy="548640"/>
            <a:chOff x="0" y="0"/>
            <a:chExt cx="4352544" cy="731520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35" b="-65935"/>
              </a:stretch>
            </a:blipFill>
          </p:spPr>
        </p:sp>
        <p:sp>
          <p:nvSpPr>
            <p:cNvPr id="106" name="TextBox 106"/>
            <p:cNvSpPr txBox="1"/>
            <p:nvPr/>
          </p:nvSpPr>
          <p:spPr>
            <a:xfrm>
              <a:off x="0" y="-19050"/>
              <a:ext cx="4352544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Environment</a:t>
              </a:r>
            </a:p>
          </p:txBody>
        </p:sp>
      </p:grpSp>
      <p:grpSp>
        <p:nvGrpSpPr>
          <p:cNvPr id="107" name="Group 107"/>
          <p:cNvGrpSpPr/>
          <p:nvPr/>
        </p:nvGrpSpPr>
        <p:grpSpPr>
          <a:xfrm>
            <a:off x="10634091" y="7465695"/>
            <a:ext cx="3283458" cy="1390650"/>
            <a:chOff x="0" y="0"/>
            <a:chExt cx="4377944" cy="1854200"/>
          </a:xfrm>
        </p:grpSpPr>
        <p:sp>
          <p:nvSpPr>
            <p:cNvPr id="108" name="Freeform 108"/>
            <p:cNvSpPr/>
            <p:nvPr/>
          </p:nvSpPr>
          <p:spPr>
            <a:xfrm>
              <a:off x="0" y="0"/>
              <a:ext cx="4377944" cy="1854200"/>
            </a:xfrm>
            <a:custGeom>
              <a:avLst/>
              <a:gdLst/>
              <a:ahLst/>
              <a:cxnLst/>
              <a:rect l="l" t="t" r="r" b="b"/>
              <a:pathLst>
                <a:path w="4377944" h="1854200">
                  <a:moveTo>
                    <a:pt x="0" y="0"/>
                  </a:moveTo>
                  <a:lnTo>
                    <a:pt x="4377944" y="0"/>
                  </a:lnTo>
                  <a:lnTo>
                    <a:pt x="43779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sp>
        <p:nvSpPr>
          <p:cNvPr id="109" name="TextBox 109"/>
          <p:cNvSpPr txBox="1"/>
          <p:nvPr/>
        </p:nvSpPr>
        <p:spPr>
          <a:xfrm>
            <a:off x="10753344" y="7505700"/>
            <a:ext cx="3044952" cy="127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>
                <a:solidFill>
                  <a:srgbClr val="263238"/>
                </a:solidFill>
                <a:latin typeface="Calibri (MS)"/>
                <a:ea typeface="Calibri (MS)"/>
                <a:cs typeface="Calibri (MS)"/>
                <a:sym typeface="Calibri (MS)"/>
              </a:rPr>
              <a:t>Holiday, season code (constant)</a:t>
            </a:r>
          </a:p>
        </p:txBody>
      </p:sp>
      <p:grpSp>
        <p:nvGrpSpPr>
          <p:cNvPr id="110" name="Group 110"/>
          <p:cNvGrpSpPr/>
          <p:nvPr/>
        </p:nvGrpSpPr>
        <p:grpSpPr>
          <a:xfrm>
            <a:off x="13962888" y="6926580"/>
            <a:ext cx="3264408" cy="548640"/>
            <a:chOff x="0" y="0"/>
            <a:chExt cx="4352544" cy="731520"/>
          </a:xfrm>
        </p:grpSpPr>
        <p:sp>
          <p:nvSpPr>
            <p:cNvPr id="111" name="Freeform 111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112" name="Group 112"/>
          <p:cNvGrpSpPr/>
          <p:nvPr/>
        </p:nvGrpSpPr>
        <p:grpSpPr>
          <a:xfrm>
            <a:off x="13962888" y="6926580"/>
            <a:ext cx="3264408" cy="548640"/>
            <a:chOff x="0" y="0"/>
            <a:chExt cx="4352544" cy="731520"/>
          </a:xfrm>
        </p:grpSpPr>
        <p:sp>
          <p:nvSpPr>
            <p:cNvPr id="113" name="Freeform 113"/>
            <p:cNvSpPr/>
            <p:nvPr/>
          </p:nvSpPr>
          <p:spPr>
            <a:xfrm>
              <a:off x="0" y="0"/>
              <a:ext cx="4352544" cy="731520"/>
            </a:xfrm>
            <a:custGeom>
              <a:avLst/>
              <a:gdLst/>
              <a:ahLst/>
              <a:cxnLst/>
              <a:rect l="l" t="t" r="r" b="b"/>
              <a:pathLst>
                <a:path w="4352544" h="731520">
                  <a:moveTo>
                    <a:pt x="0" y="0"/>
                  </a:moveTo>
                  <a:lnTo>
                    <a:pt x="4352544" y="0"/>
                  </a:lnTo>
                  <a:lnTo>
                    <a:pt x="4352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5935" b="-65935"/>
              </a:stretch>
            </a:blipFill>
          </p:spPr>
        </p:sp>
        <p:sp>
          <p:nvSpPr>
            <p:cNvPr id="114" name="TextBox 114"/>
            <p:cNvSpPr txBox="1"/>
            <p:nvPr/>
          </p:nvSpPr>
          <p:spPr>
            <a:xfrm>
              <a:off x="0" y="-19050"/>
              <a:ext cx="4352544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Derived Fields</a:t>
              </a:r>
            </a:p>
          </p:txBody>
        </p:sp>
      </p:grpSp>
      <p:grpSp>
        <p:nvGrpSpPr>
          <p:cNvPr id="115" name="Group 115"/>
          <p:cNvGrpSpPr/>
          <p:nvPr/>
        </p:nvGrpSpPr>
        <p:grpSpPr>
          <a:xfrm>
            <a:off x="13953363" y="7465695"/>
            <a:ext cx="3283458" cy="1390650"/>
            <a:chOff x="0" y="0"/>
            <a:chExt cx="4377944" cy="1854200"/>
          </a:xfrm>
        </p:grpSpPr>
        <p:sp>
          <p:nvSpPr>
            <p:cNvPr id="116" name="Freeform 116"/>
            <p:cNvSpPr/>
            <p:nvPr/>
          </p:nvSpPr>
          <p:spPr>
            <a:xfrm>
              <a:off x="0" y="0"/>
              <a:ext cx="4377944" cy="1854200"/>
            </a:xfrm>
            <a:custGeom>
              <a:avLst/>
              <a:gdLst/>
              <a:ahLst/>
              <a:cxnLst/>
              <a:rect l="l" t="t" r="r" b="b"/>
              <a:pathLst>
                <a:path w="4377944" h="1854200">
                  <a:moveTo>
                    <a:pt x="0" y="0"/>
                  </a:moveTo>
                  <a:lnTo>
                    <a:pt x="4377944" y="0"/>
                  </a:lnTo>
                  <a:lnTo>
                    <a:pt x="43779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sp>
        <p:nvSpPr>
          <p:cNvPr id="117" name="TextBox 117"/>
          <p:cNvSpPr txBox="1"/>
          <p:nvPr/>
        </p:nvSpPr>
        <p:spPr>
          <a:xfrm>
            <a:off x="14072616" y="7505700"/>
            <a:ext cx="3044952" cy="1272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>
                <a:solidFill>
                  <a:srgbClr val="263238"/>
                </a:solidFill>
                <a:latin typeface="Calibri (MS)"/>
                <a:ea typeface="Calibri (MS)"/>
                <a:cs typeface="Calibri (MS)"/>
                <a:sym typeface="Calibri (MS)"/>
              </a:rPr>
              <a:t>Day type, working day, weather label (lookup-based)</a:t>
            </a:r>
          </a:p>
        </p:txBody>
      </p:sp>
      <p:grpSp>
        <p:nvGrpSpPr>
          <p:cNvPr id="118" name="Group 118"/>
          <p:cNvGrpSpPr/>
          <p:nvPr/>
        </p:nvGrpSpPr>
        <p:grpSpPr>
          <a:xfrm>
            <a:off x="676271" y="9103424"/>
            <a:ext cx="15951708" cy="685991"/>
            <a:chOff x="0" y="0"/>
            <a:chExt cx="21268944" cy="914654"/>
          </a:xfrm>
        </p:grpSpPr>
        <p:sp>
          <p:nvSpPr>
            <p:cNvPr id="119" name="Freeform 119"/>
            <p:cNvSpPr/>
            <p:nvPr/>
          </p:nvSpPr>
          <p:spPr>
            <a:xfrm>
              <a:off x="0" y="0"/>
              <a:ext cx="21268944" cy="914654"/>
            </a:xfrm>
            <a:custGeom>
              <a:avLst/>
              <a:gdLst/>
              <a:ahLst/>
              <a:cxnLst/>
              <a:rect l="l" t="t" r="r" b="b"/>
              <a:pathLst>
                <a:path w="21268944" h="914654">
                  <a:moveTo>
                    <a:pt x="0" y="0"/>
                  </a:moveTo>
                  <a:lnTo>
                    <a:pt x="21268944" y="0"/>
                  </a:lnTo>
                  <a:lnTo>
                    <a:pt x="21268944" y="914654"/>
                  </a:lnTo>
                  <a:lnTo>
                    <a:pt x="0" y="914654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20" name="Group 120"/>
          <p:cNvGrpSpPr/>
          <p:nvPr/>
        </p:nvGrpSpPr>
        <p:grpSpPr>
          <a:xfrm>
            <a:off x="647259" y="9103423"/>
            <a:ext cx="124730" cy="665226"/>
            <a:chOff x="0" y="0"/>
            <a:chExt cx="109728" cy="585216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109728" cy="585216"/>
            </a:xfrm>
            <a:custGeom>
              <a:avLst/>
              <a:gdLst/>
              <a:ahLst/>
              <a:cxnLst/>
              <a:rect l="l" t="t" r="r" b="b"/>
              <a:pathLst>
                <a:path w="109728" h="585216">
                  <a:moveTo>
                    <a:pt x="0" y="0"/>
                  </a:moveTo>
                  <a:lnTo>
                    <a:pt x="109728" y="0"/>
                  </a:lnTo>
                  <a:lnTo>
                    <a:pt x="109728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22" name="Group 122"/>
          <p:cNvGrpSpPr/>
          <p:nvPr/>
        </p:nvGrpSpPr>
        <p:grpSpPr>
          <a:xfrm>
            <a:off x="1019171" y="9125478"/>
            <a:ext cx="15265908" cy="663936"/>
            <a:chOff x="0" y="0"/>
            <a:chExt cx="20354544" cy="885248"/>
          </a:xfrm>
        </p:grpSpPr>
        <p:sp>
          <p:nvSpPr>
            <p:cNvPr id="123" name="Freeform 123"/>
            <p:cNvSpPr/>
            <p:nvPr/>
          </p:nvSpPr>
          <p:spPr>
            <a:xfrm>
              <a:off x="0" y="0"/>
              <a:ext cx="20354544" cy="885248"/>
            </a:xfrm>
            <a:custGeom>
              <a:avLst/>
              <a:gdLst/>
              <a:ahLst/>
              <a:cxnLst/>
              <a:rect l="l" t="t" r="r" b="b"/>
              <a:pathLst>
                <a:path w="20354544" h="885248">
                  <a:moveTo>
                    <a:pt x="0" y="0"/>
                  </a:moveTo>
                  <a:lnTo>
                    <a:pt x="20354544" y="0"/>
                  </a:lnTo>
                  <a:lnTo>
                    <a:pt x="20354544" y="885248"/>
                  </a:lnTo>
                  <a:lnTo>
                    <a:pt x="0" y="885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21163" b="-374876"/>
              </a:stretch>
            </a:blipFill>
          </p:spPr>
        </p:sp>
        <p:sp>
          <p:nvSpPr>
            <p:cNvPr id="124" name="TextBox 124"/>
            <p:cNvSpPr txBox="1"/>
            <p:nvPr/>
          </p:nvSpPr>
          <p:spPr>
            <a:xfrm>
              <a:off x="0" y="-38100"/>
              <a:ext cx="20354544" cy="9233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final dataset combines all sources into one 1,000-row analytical dataset, ready for PivotTable analysis, forecasting, and anomaly detection. Hours with no rentals are not recorded as rows, so some days have fewer than 24 records.</a:t>
              </a:r>
            </a:p>
          </p:txBody>
        </p:sp>
      </p:grpSp>
      <p:sp>
        <p:nvSpPr>
          <p:cNvPr id="125" name="AutoShape 125"/>
          <p:cNvSpPr/>
          <p:nvPr/>
        </p:nvSpPr>
        <p:spPr>
          <a:xfrm>
            <a:off x="676276" y="1755648"/>
            <a:ext cx="1573240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6" name="Group 126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128" name="TextBox 128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  ·  OVERALL RENTAL DEMAND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37794" y="-388944"/>
            <a:ext cx="16870680" cy="3303594"/>
            <a:chOff x="0" y="0"/>
            <a:chExt cx="22494240" cy="44047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4404792"/>
            </a:xfrm>
            <a:custGeom>
              <a:avLst/>
              <a:gdLst/>
              <a:ahLst/>
              <a:cxnLst/>
              <a:rect l="l" t="t" r="r" b="b"/>
              <a:pathLst>
                <a:path w="22494239" h="4404792">
                  <a:moveTo>
                    <a:pt x="0" y="0"/>
                  </a:moveTo>
                  <a:lnTo>
                    <a:pt x="22494239" y="0"/>
                  </a:lnTo>
                  <a:lnTo>
                    <a:pt x="22494239" y="4404792"/>
                  </a:lnTo>
                  <a:lnTo>
                    <a:pt x="0" y="4404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974" b="-14036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4423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Distribution of Rental Demand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 / 17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2194560"/>
            <a:ext cx="3223260" cy="720090"/>
            <a:chOff x="0" y="0"/>
            <a:chExt cx="4297680" cy="9601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97680" cy="960120"/>
            </a:xfrm>
            <a:custGeom>
              <a:avLst/>
              <a:gdLst/>
              <a:ahLst/>
              <a:cxnLst/>
              <a:rect l="l" t="t" r="r" b="b"/>
              <a:pathLst>
                <a:path w="4297680" h="96012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850392"/>
                  </a:lnTo>
                  <a:cubicBezTo>
                    <a:pt x="4297680" y="910971"/>
                    <a:pt x="4248531" y="960120"/>
                    <a:pt x="4187952" y="960120"/>
                  </a:cubicBezTo>
                  <a:lnTo>
                    <a:pt x="109728" y="960120"/>
                  </a:lnTo>
                  <a:cubicBezTo>
                    <a:pt x="49149" y="960120"/>
                    <a:pt x="0" y="910971"/>
                    <a:pt x="0" y="850392"/>
                  </a:cubicBez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5" name="Group 15"/>
          <p:cNvGrpSpPr/>
          <p:nvPr/>
        </p:nvGrpSpPr>
        <p:grpSpPr>
          <a:xfrm>
            <a:off x="877824" y="2235708"/>
            <a:ext cx="2839212" cy="637794"/>
            <a:chOff x="0" y="0"/>
            <a:chExt cx="3785616" cy="85039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785616" cy="850392"/>
            </a:xfrm>
            <a:custGeom>
              <a:avLst/>
              <a:gdLst/>
              <a:ahLst/>
              <a:cxnLst/>
              <a:rect l="l" t="t" r="r" b="b"/>
              <a:pathLst>
                <a:path w="3785616" h="850392">
                  <a:moveTo>
                    <a:pt x="0" y="0"/>
                  </a:moveTo>
                  <a:lnTo>
                    <a:pt x="3785616" y="0"/>
                  </a:lnTo>
                  <a:lnTo>
                    <a:pt x="3785616" y="850392"/>
                  </a:lnTo>
                  <a:lnTo>
                    <a:pt x="0" y="850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39" b="-36739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3785616" cy="87896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Total rentals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 rot="-10800000">
            <a:off x="2105406" y="2900934"/>
            <a:ext cx="384048" cy="233172"/>
            <a:chOff x="0" y="0"/>
            <a:chExt cx="512064" cy="31089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12064" cy="310896"/>
            </a:xfrm>
            <a:custGeom>
              <a:avLst/>
              <a:gdLst/>
              <a:ahLst/>
              <a:cxnLst/>
              <a:rect l="l" t="t" r="r" b="b"/>
              <a:pathLst>
                <a:path w="512064" h="310896">
                  <a:moveTo>
                    <a:pt x="0" y="310896"/>
                  </a:moveTo>
                  <a:lnTo>
                    <a:pt x="256032" y="0"/>
                  </a:lnTo>
                  <a:lnTo>
                    <a:pt x="512064" y="31089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685800" y="3120390"/>
            <a:ext cx="3223260" cy="788670"/>
            <a:chOff x="0" y="0"/>
            <a:chExt cx="4297680" cy="105156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297680" cy="1051560"/>
            </a:xfrm>
            <a:custGeom>
              <a:avLst/>
              <a:gdLst/>
              <a:ahLst/>
              <a:cxnLst/>
              <a:rect l="l" t="t" r="r" b="b"/>
              <a:pathLst>
                <a:path w="4297680" h="10515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941832"/>
                  </a:lnTo>
                  <a:cubicBezTo>
                    <a:pt x="4297680" y="1002411"/>
                    <a:pt x="4248531" y="1051560"/>
                    <a:pt x="4187952" y="1051560"/>
                  </a:cubicBezTo>
                  <a:lnTo>
                    <a:pt x="109728" y="1051560"/>
                  </a:lnTo>
                  <a:cubicBezTo>
                    <a:pt x="49149" y="1051560"/>
                    <a:pt x="0" y="1002411"/>
                    <a:pt x="0" y="941832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822960" y="3120390"/>
            <a:ext cx="2948940" cy="788670"/>
            <a:chOff x="0" y="0"/>
            <a:chExt cx="3931920" cy="105156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931920" cy="1051560"/>
            </a:xfrm>
            <a:custGeom>
              <a:avLst/>
              <a:gdLst/>
              <a:ahLst/>
              <a:cxnLst/>
              <a:rect l="l" t="t" r="r" b="b"/>
              <a:pathLst>
                <a:path w="3931920" h="1051560">
                  <a:moveTo>
                    <a:pt x="0" y="0"/>
                  </a:moveTo>
                  <a:lnTo>
                    <a:pt x="3931920" y="0"/>
                  </a:lnTo>
                  <a:lnTo>
                    <a:pt x="3931920" y="1051560"/>
                  </a:lnTo>
                  <a:lnTo>
                    <a:pt x="0" y="1051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857" b="-22857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3931920" cy="1070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58,304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073652" y="2194560"/>
            <a:ext cx="3223260" cy="720090"/>
            <a:chOff x="0" y="0"/>
            <a:chExt cx="4297680" cy="96012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297680" cy="960120"/>
            </a:xfrm>
            <a:custGeom>
              <a:avLst/>
              <a:gdLst/>
              <a:ahLst/>
              <a:cxnLst/>
              <a:rect l="l" t="t" r="r" b="b"/>
              <a:pathLst>
                <a:path w="4297680" h="96012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850392"/>
                  </a:lnTo>
                  <a:cubicBezTo>
                    <a:pt x="4297680" y="910971"/>
                    <a:pt x="4248531" y="960120"/>
                    <a:pt x="4187952" y="960120"/>
                  </a:cubicBezTo>
                  <a:lnTo>
                    <a:pt x="109728" y="960120"/>
                  </a:lnTo>
                  <a:cubicBezTo>
                    <a:pt x="49149" y="960120"/>
                    <a:pt x="0" y="910971"/>
                    <a:pt x="0" y="850392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4265676" y="2235708"/>
            <a:ext cx="2839212" cy="637794"/>
            <a:chOff x="0" y="0"/>
            <a:chExt cx="3785616" cy="850392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785616" cy="850392"/>
            </a:xfrm>
            <a:custGeom>
              <a:avLst/>
              <a:gdLst/>
              <a:ahLst/>
              <a:cxnLst/>
              <a:rect l="l" t="t" r="r" b="b"/>
              <a:pathLst>
                <a:path w="3785616" h="850392">
                  <a:moveTo>
                    <a:pt x="0" y="0"/>
                  </a:moveTo>
                  <a:lnTo>
                    <a:pt x="3785616" y="0"/>
                  </a:lnTo>
                  <a:lnTo>
                    <a:pt x="3785616" y="850392"/>
                  </a:lnTo>
                  <a:lnTo>
                    <a:pt x="0" y="850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39" b="-36739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28575"/>
              <a:ext cx="3785616" cy="87896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Average hourly rentals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 rot="-10800000">
            <a:off x="5493258" y="2900934"/>
            <a:ext cx="384048" cy="233172"/>
            <a:chOff x="0" y="0"/>
            <a:chExt cx="512064" cy="310896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12064" cy="310896"/>
            </a:xfrm>
            <a:custGeom>
              <a:avLst/>
              <a:gdLst/>
              <a:ahLst/>
              <a:cxnLst/>
              <a:rect l="l" t="t" r="r" b="b"/>
              <a:pathLst>
                <a:path w="512064" h="310896">
                  <a:moveTo>
                    <a:pt x="0" y="310896"/>
                  </a:moveTo>
                  <a:lnTo>
                    <a:pt x="256032" y="0"/>
                  </a:lnTo>
                  <a:lnTo>
                    <a:pt x="512064" y="310896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4073652" y="3120390"/>
            <a:ext cx="3223260" cy="788670"/>
            <a:chOff x="0" y="0"/>
            <a:chExt cx="4297680" cy="105156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297680" cy="1051560"/>
            </a:xfrm>
            <a:custGeom>
              <a:avLst/>
              <a:gdLst/>
              <a:ahLst/>
              <a:cxnLst/>
              <a:rect l="l" t="t" r="r" b="b"/>
              <a:pathLst>
                <a:path w="4297680" h="10515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941832"/>
                  </a:lnTo>
                  <a:cubicBezTo>
                    <a:pt x="4297680" y="1002411"/>
                    <a:pt x="4248531" y="1051560"/>
                    <a:pt x="4187952" y="1051560"/>
                  </a:cubicBezTo>
                  <a:lnTo>
                    <a:pt x="109728" y="1051560"/>
                  </a:lnTo>
                  <a:cubicBezTo>
                    <a:pt x="49149" y="1051560"/>
                    <a:pt x="0" y="1002411"/>
                    <a:pt x="0" y="941832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4" name="Group 34"/>
          <p:cNvGrpSpPr/>
          <p:nvPr/>
        </p:nvGrpSpPr>
        <p:grpSpPr>
          <a:xfrm>
            <a:off x="4210812" y="3120390"/>
            <a:ext cx="2948940" cy="788670"/>
            <a:chOff x="0" y="0"/>
            <a:chExt cx="3931920" cy="105156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3931920" cy="1051560"/>
            </a:xfrm>
            <a:custGeom>
              <a:avLst/>
              <a:gdLst/>
              <a:ahLst/>
              <a:cxnLst/>
              <a:rect l="l" t="t" r="r" b="b"/>
              <a:pathLst>
                <a:path w="3931920" h="1051560">
                  <a:moveTo>
                    <a:pt x="0" y="0"/>
                  </a:moveTo>
                  <a:lnTo>
                    <a:pt x="3931920" y="0"/>
                  </a:lnTo>
                  <a:lnTo>
                    <a:pt x="3931920" y="1051560"/>
                  </a:lnTo>
                  <a:lnTo>
                    <a:pt x="0" y="1051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857" b="-22857"/>
              </a:stretch>
            </a:blip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3931920" cy="1070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58.3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461504" y="2194560"/>
            <a:ext cx="3223260" cy="720090"/>
            <a:chOff x="0" y="0"/>
            <a:chExt cx="4297680" cy="96012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4297680" cy="960120"/>
            </a:xfrm>
            <a:custGeom>
              <a:avLst/>
              <a:gdLst/>
              <a:ahLst/>
              <a:cxnLst/>
              <a:rect l="l" t="t" r="r" b="b"/>
              <a:pathLst>
                <a:path w="4297680" h="96012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850392"/>
                  </a:lnTo>
                  <a:cubicBezTo>
                    <a:pt x="4297680" y="910971"/>
                    <a:pt x="4248531" y="960120"/>
                    <a:pt x="4187952" y="960120"/>
                  </a:cubicBezTo>
                  <a:lnTo>
                    <a:pt x="109728" y="960120"/>
                  </a:lnTo>
                  <a:cubicBezTo>
                    <a:pt x="49149" y="960120"/>
                    <a:pt x="0" y="910971"/>
                    <a:pt x="0" y="850392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7653528" y="2235708"/>
            <a:ext cx="2839212" cy="637794"/>
            <a:chOff x="0" y="0"/>
            <a:chExt cx="3785616" cy="85039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3785616" cy="850392"/>
            </a:xfrm>
            <a:custGeom>
              <a:avLst/>
              <a:gdLst/>
              <a:ahLst/>
              <a:cxnLst/>
              <a:rect l="l" t="t" r="r" b="b"/>
              <a:pathLst>
                <a:path w="3785616" h="850392">
                  <a:moveTo>
                    <a:pt x="0" y="0"/>
                  </a:moveTo>
                  <a:lnTo>
                    <a:pt x="3785616" y="0"/>
                  </a:lnTo>
                  <a:lnTo>
                    <a:pt x="3785616" y="850392"/>
                  </a:lnTo>
                  <a:lnTo>
                    <a:pt x="0" y="850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39" b="-36739"/>
              </a:stretch>
            </a:blipFill>
          </p:spPr>
        </p:sp>
        <p:sp>
          <p:nvSpPr>
            <p:cNvPr id="41" name="TextBox 41"/>
            <p:cNvSpPr txBox="1"/>
            <p:nvPr/>
          </p:nvSpPr>
          <p:spPr>
            <a:xfrm>
              <a:off x="0" y="-28575"/>
              <a:ext cx="3785616" cy="87896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Minimum hourly rentals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 rot="-10800000">
            <a:off x="8881110" y="2900934"/>
            <a:ext cx="384048" cy="233172"/>
            <a:chOff x="0" y="0"/>
            <a:chExt cx="512064" cy="31089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512064" cy="310896"/>
            </a:xfrm>
            <a:custGeom>
              <a:avLst/>
              <a:gdLst/>
              <a:ahLst/>
              <a:cxnLst/>
              <a:rect l="l" t="t" r="r" b="b"/>
              <a:pathLst>
                <a:path w="512064" h="310896">
                  <a:moveTo>
                    <a:pt x="0" y="310896"/>
                  </a:moveTo>
                  <a:lnTo>
                    <a:pt x="256032" y="0"/>
                  </a:lnTo>
                  <a:lnTo>
                    <a:pt x="512064" y="310896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7461504" y="3120390"/>
            <a:ext cx="3223260" cy="788670"/>
            <a:chOff x="0" y="0"/>
            <a:chExt cx="4297680" cy="105156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97680" cy="1051560"/>
            </a:xfrm>
            <a:custGeom>
              <a:avLst/>
              <a:gdLst/>
              <a:ahLst/>
              <a:cxnLst/>
              <a:rect l="l" t="t" r="r" b="b"/>
              <a:pathLst>
                <a:path w="4297680" h="10515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941832"/>
                  </a:lnTo>
                  <a:cubicBezTo>
                    <a:pt x="4297680" y="1002411"/>
                    <a:pt x="4248531" y="1051560"/>
                    <a:pt x="4187952" y="1051560"/>
                  </a:cubicBezTo>
                  <a:lnTo>
                    <a:pt x="109728" y="1051560"/>
                  </a:lnTo>
                  <a:cubicBezTo>
                    <a:pt x="49149" y="1051560"/>
                    <a:pt x="0" y="1002411"/>
                    <a:pt x="0" y="941832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6" name="Group 46"/>
          <p:cNvGrpSpPr/>
          <p:nvPr/>
        </p:nvGrpSpPr>
        <p:grpSpPr>
          <a:xfrm>
            <a:off x="7598664" y="3120390"/>
            <a:ext cx="2948940" cy="788670"/>
            <a:chOff x="0" y="0"/>
            <a:chExt cx="3931920" cy="105156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3931920" cy="1051560"/>
            </a:xfrm>
            <a:custGeom>
              <a:avLst/>
              <a:gdLst/>
              <a:ahLst/>
              <a:cxnLst/>
              <a:rect l="l" t="t" r="r" b="b"/>
              <a:pathLst>
                <a:path w="3931920" h="1051560">
                  <a:moveTo>
                    <a:pt x="0" y="0"/>
                  </a:moveTo>
                  <a:lnTo>
                    <a:pt x="3931920" y="0"/>
                  </a:lnTo>
                  <a:lnTo>
                    <a:pt x="3931920" y="1051560"/>
                  </a:lnTo>
                  <a:lnTo>
                    <a:pt x="0" y="1051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857" b="-22857"/>
              </a:stretch>
            </a:blip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3931920" cy="1070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0849356" y="2194560"/>
            <a:ext cx="3223260" cy="720090"/>
            <a:chOff x="0" y="0"/>
            <a:chExt cx="4297680" cy="96012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297680" cy="960120"/>
            </a:xfrm>
            <a:custGeom>
              <a:avLst/>
              <a:gdLst/>
              <a:ahLst/>
              <a:cxnLst/>
              <a:rect l="l" t="t" r="r" b="b"/>
              <a:pathLst>
                <a:path w="4297680" h="96012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850392"/>
                  </a:lnTo>
                  <a:cubicBezTo>
                    <a:pt x="4297680" y="910971"/>
                    <a:pt x="4248531" y="960120"/>
                    <a:pt x="4187952" y="960120"/>
                  </a:cubicBezTo>
                  <a:lnTo>
                    <a:pt x="109728" y="960120"/>
                  </a:lnTo>
                  <a:cubicBezTo>
                    <a:pt x="49149" y="960120"/>
                    <a:pt x="0" y="910971"/>
                    <a:pt x="0" y="850392"/>
                  </a:cubicBezTo>
                  <a:close/>
                </a:path>
              </a:pathLst>
            </a:custGeom>
            <a:solidFill>
              <a:srgbClr val="FCEEDA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11041380" y="2235708"/>
            <a:ext cx="2839212" cy="637794"/>
            <a:chOff x="0" y="0"/>
            <a:chExt cx="3785616" cy="850392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3785616" cy="850392"/>
            </a:xfrm>
            <a:custGeom>
              <a:avLst/>
              <a:gdLst/>
              <a:ahLst/>
              <a:cxnLst/>
              <a:rect l="l" t="t" r="r" b="b"/>
              <a:pathLst>
                <a:path w="3785616" h="850392">
                  <a:moveTo>
                    <a:pt x="0" y="0"/>
                  </a:moveTo>
                  <a:lnTo>
                    <a:pt x="3785616" y="0"/>
                  </a:lnTo>
                  <a:lnTo>
                    <a:pt x="3785616" y="850392"/>
                  </a:lnTo>
                  <a:lnTo>
                    <a:pt x="0" y="850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39" b="-36739"/>
              </a:stretch>
            </a:blipFill>
          </p:spPr>
        </p:sp>
        <p:sp>
          <p:nvSpPr>
            <p:cNvPr id="53" name="TextBox 53"/>
            <p:cNvSpPr txBox="1"/>
            <p:nvPr/>
          </p:nvSpPr>
          <p:spPr>
            <a:xfrm>
              <a:off x="0" y="-28575"/>
              <a:ext cx="3785616" cy="87896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Maximum hourly rentals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 rot="-10800000">
            <a:off x="12268962" y="2900934"/>
            <a:ext cx="384048" cy="233172"/>
            <a:chOff x="0" y="0"/>
            <a:chExt cx="512064" cy="310896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512064" cy="310896"/>
            </a:xfrm>
            <a:custGeom>
              <a:avLst/>
              <a:gdLst/>
              <a:ahLst/>
              <a:cxnLst/>
              <a:rect l="l" t="t" r="r" b="b"/>
              <a:pathLst>
                <a:path w="512064" h="310896">
                  <a:moveTo>
                    <a:pt x="0" y="310896"/>
                  </a:moveTo>
                  <a:lnTo>
                    <a:pt x="256032" y="0"/>
                  </a:lnTo>
                  <a:lnTo>
                    <a:pt x="512064" y="310896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56" name="Group 56"/>
          <p:cNvGrpSpPr/>
          <p:nvPr/>
        </p:nvGrpSpPr>
        <p:grpSpPr>
          <a:xfrm>
            <a:off x="10849356" y="3120390"/>
            <a:ext cx="3223260" cy="788670"/>
            <a:chOff x="0" y="0"/>
            <a:chExt cx="4297680" cy="105156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4297680" cy="1051560"/>
            </a:xfrm>
            <a:custGeom>
              <a:avLst/>
              <a:gdLst/>
              <a:ahLst/>
              <a:cxnLst/>
              <a:rect l="l" t="t" r="r" b="b"/>
              <a:pathLst>
                <a:path w="4297680" h="10515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941832"/>
                  </a:lnTo>
                  <a:cubicBezTo>
                    <a:pt x="4297680" y="1002411"/>
                    <a:pt x="4248531" y="1051560"/>
                    <a:pt x="4187952" y="1051560"/>
                  </a:cubicBezTo>
                  <a:lnTo>
                    <a:pt x="109728" y="1051560"/>
                  </a:lnTo>
                  <a:cubicBezTo>
                    <a:pt x="49149" y="1051560"/>
                    <a:pt x="0" y="1002411"/>
                    <a:pt x="0" y="941832"/>
                  </a:cubicBez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58" name="Group 58"/>
          <p:cNvGrpSpPr/>
          <p:nvPr/>
        </p:nvGrpSpPr>
        <p:grpSpPr>
          <a:xfrm>
            <a:off x="10986516" y="3120390"/>
            <a:ext cx="2948940" cy="788670"/>
            <a:chOff x="0" y="0"/>
            <a:chExt cx="3931920" cy="105156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3931920" cy="1051560"/>
            </a:xfrm>
            <a:custGeom>
              <a:avLst/>
              <a:gdLst/>
              <a:ahLst/>
              <a:cxnLst/>
              <a:rect l="l" t="t" r="r" b="b"/>
              <a:pathLst>
                <a:path w="3931920" h="1051560">
                  <a:moveTo>
                    <a:pt x="0" y="0"/>
                  </a:moveTo>
                  <a:lnTo>
                    <a:pt x="3931920" y="0"/>
                  </a:lnTo>
                  <a:lnTo>
                    <a:pt x="3931920" y="1051560"/>
                  </a:lnTo>
                  <a:lnTo>
                    <a:pt x="0" y="1051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857" b="-22857"/>
              </a:stretch>
            </a:blip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3931920" cy="1070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249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4237208" y="2194560"/>
            <a:ext cx="3223260" cy="720090"/>
            <a:chOff x="0" y="0"/>
            <a:chExt cx="4297680" cy="96012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297680" cy="960120"/>
            </a:xfrm>
            <a:custGeom>
              <a:avLst/>
              <a:gdLst/>
              <a:ahLst/>
              <a:cxnLst/>
              <a:rect l="l" t="t" r="r" b="b"/>
              <a:pathLst>
                <a:path w="4297680" h="96012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850392"/>
                  </a:lnTo>
                  <a:cubicBezTo>
                    <a:pt x="4297680" y="910971"/>
                    <a:pt x="4248531" y="960120"/>
                    <a:pt x="4187952" y="960120"/>
                  </a:cubicBezTo>
                  <a:lnTo>
                    <a:pt x="109728" y="960120"/>
                  </a:lnTo>
                  <a:cubicBezTo>
                    <a:pt x="49149" y="960120"/>
                    <a:pt x="0" y="910971"/>
                    <a:pt x="0" y="850392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63" name="Group 63"/>
          <p:cNvGrpSpPr/>
          <p:nvPr/>
        </p:nvGrpSpPr>
        <p:grpSpPr>
          <a:xfrm>
            <a:off x="14429232" y="2235708"/>
            <a:ext cx="2839212" cy="637794"/>
            <a:chOff x="0" y="0"/>
            <a:chExt cx="3785616" cy="850392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3785616" cy="850392"/>
            </a:xfrm>
            <a:custGeom>
              <a:avLst/>
              <a:gdLst/>
              <a:ahLst/>
              <a:cxnLst/>
              <a:rect l="l" t="t" r="r" b="b"/>
              <a:pathLst>
                <a:path w="3785616" h="850392">
                  <a:moveTo>
                    <a:pt x="0" y="0"/>
                  </a:moveTo>
                  <a:lnTo>
                    <a:pt x="3785616" y="0"/>
                  </a:lnTo>
                  <a:lnTo>
                    <a:pt x="3785616" y="850392"/>
                  </a:lnTo>
                  <a:lnTo>
                    <a:pt x="0" y="850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739" b="-36739"/>
              </a:stretch>
            </a:blipFill>
          </p:spPr>
        </p:sp>
        <p:sp>
          <p:nvSpPr>
            <p:cNvPr id="65" name="TextBox 65"/>
            <p:cNvSpPr txBox="1"/>
            <p:nvPr/>
          </p:nvSpPr>
          <p:spPr>
            <a:xfrm>
              <a:off x="0" y="-28575"/>
              <a:ext cx="3785616" cy="87896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Standard deviation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 rot="-10800000">
            <a:off x="15656814" y="2900934"/>
            <a:ext cx="384048" cy="233172"/>
            <a:chOff x="0" y="0"/>
            <a:chExt cx="512064" cy="310896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12064" cy="310896"/>
            </a:xfrm>
            <a:custGeom>
              <a:avLst/>
              <a:gdLst/>
              <a:ahLst/>
              <a:cxnLst/>
              <a:rect l="l" t="t" r="r" b="b"/>
              <a:pathLst>
                <a:path w="512064" h="310896">
                  <a:moveTo>
                    <a:pt x="0" y="310896"/>
                  </a:moveTo>
                  <a:lnTo>
                    <a:pt x="256032" y="0"/>
                  </a:lnTo>
                  <a:lnTo>
                    <a:pt x="512064" y="310896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68" name="Group 68"/>
          <p:cNvGrpSpPr/>
          <p:nvPr/>
        </p:nvGrpSpPr>
        <p:grpSpPr>
          <a:xfrm>
            <a:off x="14237208" y="3120390"/>
            <a:ext cx="3223260" cy="788670"/>
            <a:chOff x="0" y="0"/>
            <a:chExt cx="4297680" cy="1051560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297680" cy="1051560"/>
            </a:xfrm>
            <a:custGeom>
              <a:avLst/>
              <a:gdLst/>
              <a:ahLst/>
              <a:cxnLst/>
              <a:rect l="l" t="t" r="r" b="b"/>
              <a:pathLst>
                <a:path w="4297680" h="105156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187952" y="0"/>
                  </a:lnTo>
                  <a:cubicBezTo>
                    <a:pt x="4248531" y="0"/>
                    <a:pt x="4297680" y="49149"/>
                    <a:pt x="4297680" y="109728"/>
                  </a:cubicBezTo>
                  <a:lnTo>
                    <a:pt x="4297680" y="941832"/>
                  </a:lnTo>
                  <a:cubicBezTo>
                    <a:pt x="4297680" y="1002411"/>
                    <a:pt x="4248531" y="1051560"/>
                    <a:pt x="4187952" y="1051560"/>
                  </a:cubicBezTo>
                  <a:lnTo>
                    <a:pt x="109728" y="1051560"/>
                  </a:lnTo>
                  <a:cubicBezTo>
                    <a:pt x="49149" y="1051560"/>
                    <a:pt x="0" y="1002411"/>
                    <a:pt x="0" y="941832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70" name="Group 70"/>
          <p:cNvGrpSpPr/>
          <p:nvPr/>
        </p:nvGrpSpPr>
        <p:grpSpPr>
          <a:xfrm>
            <a:off x="14374368" y="3120390"/>
            <a:ext cx="2948940" cy="788670"/>
            <a:chOff x="0" y="0"/>
            <a:chExt cx="3931920" cy="105156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3931920" cy="1051560"/>
            </a:xfrm>
            <a:custGeom>
              <a:avLst/>
              <a:gdLst/>
              <a:ahLst/>
              <a:cxnLst/>
              <a:rect l="l" t="t" r="r" b="b"/>
              <a:pathLst>
                <a:path w="3931920" h="1051560">
                  <a:moveTo>
                    <a:pt x="0" y="0"/>
                  </a:moveTo>
                  <a:lnTo>
                    <a:pt x="3931920" y="0"/>
                  </a:lnTo>
                  <a:lnTo>
                    <a:pt x="3931920" y="1051560"/>
                  </a:lnTo>
                  <a:lnTo>
                    <a:pt x="0" y="1051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857" b="-22857"/>
              </a:stretch>
            </a:blip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3931920" cy="1070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50.99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685800" y="4320540"/>
            <a:ext cx="16870680" cy="411480"/>
            <a:chOff x="0" y="0"/>
            <a:chExt cx="22494240" cy="54864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22494239" cy="548640"/>
            </a:xfrm>
            <a:custGeom>
              <a:avLst/>
              <a:gdLst/>
              <a:ahLst/>
              <a:cxnLst/>
              <a:rect l="l" t="t" r="r" b="b"/>
              <a:pathLst>
                <a:path w="22494239" h="548640">
                  <a:moveTo>
                    <a:pt x="0" y="0"/>
                  </a:moveTo>
                  <a:lnTo>
                    <a:pt x="22494239" y="0"/>
                  </a:lnTo>
                  <a:lnTo>
                    <a:pt x="224942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8886" b="-748886"/>
              </a:stretch>
            </a:blipFill>
          </p:spPr>
        </p:sp>
        <p:sp>
          <p:nvSpPr>
            <p:cNvPr id="75" name="TextBox 75"/>
            <p:cNvSpPr txBox="1"/>
            <p:nvPr/>
          </p:nvSpPr>
          <p:spPr>
            <a:xfrm>
              <a:off x="0" y="-28575"/>
              <a:ext cx="224942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DISTRIBUTION OF HOURLY DEMAND</a:t>
              </a:r>
            </a:p>
          </p:txBody>
        </p:sp>
      </p:grpSp>
      <p:sp>
        <p:nvSpPr>
          <p:cNvPr id="76" name="AutoShape 76"/>
          <p:cNvSpPr/>
          <p:nvPr/>
        </p:nvSpPr>
        <p:spPr>
          <a:xfrm rot="3900">
            <a:off x="676265" y="4754690"/>
            <a:ext cx="16889740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7" name="Group 77"/>
          <p:cNvGrpSpPr/>
          <p:nvPr/>
        </p:nvGrpSpPr>
        <p:grpSpPr>
          <a:xfrm>
            <a:off x="768096" y="9001506"/>
            <a:ext cx="15837677" cy="768096"/>
            <a:chOff x="0" y="0"/>
            <a:chExt cx="21268944" cy="1031502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21268944" cy="1031502"/>
            </a:xfrm>
            <a:custGeom>
              <a:avLst/>
              <a:gdLst/>
              <a:ahLst/>
              <a:cxnLst/>
              <a:rect l="l" t="t" r="r" b="b"/>
              <a:pathLst>
                <a:path w="21268944" h="1031502">
                  <a:moveTo>
                    <a:pt x="0" y="0"/>
                  </a:moveTo>
                  <a:lnTo>
                    <a:pt x="21268944" y="0"/>
                  </a:lnTo>
                  <a:lnTo>
                    <a:pt x="21268944" y="1031502"/>
                  </a:lnTo>
                  <a:lnTo>
                    <a:pt x="0" y="1031502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79" name="Group 79"/>
          <p:cNvGrpSpPr/>
          <p:nvPr/>
        </p:nvGrpSpPr>
        <p:grpSpPr>
          <a:xfrm>
            <a:off x="685800" y="8974320"/>
            <a:ext cx="82296" cy="850392"/>
            <a:chOff x="0" y="0"/>
            <a:chExt cx="109728" cy="113385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81" name="Group 81"/>
          <p:cNvGrpSpPr/>
          <p:nvPr/>
        </p:nvGrpSpPr>
        <p:grpSpPr>
          <a:xfrm>
            <a:off x="1028700" y="9001506"/>
            <a:ext cx="15265908" cy="768096"/>
            <a:chOff x="0" y="0"/>
            <a:chExt cx="20354544" cy="1024128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83" name="TextBox 83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Across 1,000 hourly records, demand ranged from 1 to 249 rentals per hour, with an average of 58.3 and a standard deviation of 50.99, indicating substantial variation across hourly records.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676271" y="9769602"/>
            <a:ext cx="10972800" cy="411480"/>
            <a:chOff x="0" y="0"/>
            <a:chExt cx="14630400" cy="548640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86" name="TextBox 86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pic>
        <p:nvPicPr>
          <p:cNvPr id="87" name="Picture 8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43457" y="3066509"/>
            <a:ext cx="19927380" cy="7434552"/>
          </a:xfrm>
          <a:prstGeom prst="rect">
            <a:avLst/>
          </a:prstGeom>
        </p:spPr>
      </p:pic>
      <p:sp>
        <p:nvSpPr>
          <p:cNvPr id="88" name="AutoShape 88"/>
          <p:cNvSpPr/>
          <p:nvPr/>
        </p:nvSpPr>
        <p:spPr>
          <a:xfrm>
            <a:off x="676276" y="1755648"/>
            <a:ext cx="1573240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  ·  RIDER COMPOSITION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Registered Riders Account for the Majority of Demand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537352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 / 17</a:t>
              </a:r>
            </a:p>
          </p:txBody>
        </p:sp>
      </p:grp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0602" y="1897990"/>
            <a:ext cx="6954317" cy="7381037"/>
          </a:xfrm>
          <a:prstGeom prst="rect">
            <a:avLst/>
          </a:prstGeom>
        </p:spPr>
      </p:pic>
      <p:grpSp>
        <p:nvGrpSpPr>
          <p:cNvPr id="15" name="Group 15"/>
          <p:cNvGrpSpPr/>
          <p:nvPr/>
        </p:nvGrpSpPr>
        <p:grpSpPr>
          <a:xfrm>
            <a:off x="9738360" y="2331720"/>
            <a:ext cx="7680960" cy="411480"/>
            <a:chOff x="0" y="0"/>
            <a:chExt cx="10241280" cy="5486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241280" cy="548640"/>
            </a:xfrm>
            <a:custGeom>
              <a:avLst/>
              <a:gdLst/>
              <a:ahLst/>
              <a:cxnLst/>
              <a:rect l="l" t="t" r="r" b="b"/>
              <a:pathLst>
                <a:path w="10241280" h="548640">
                  <a:moveTo>
                    <a:pt x="0" y="0"/>
                  </a:moveTo>
                  <a:lnTo>
                    <a:pt x="10241280" y="0"/>
                  </a:lnTo>
                  <a:lnTo>
                    <a:pt x="10241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3720" b="-313720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024128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RIDER BREAKDOWN</a:t>
              </a:r>
            </a:p>
          </p:txBody>
        </p:sp>
      </p:grpSp>
      <p:sp>
        <p:nvSpPr>
          <p:cNvPr id="18" name="AutoShape 18"/>
          <p:cNvSpPr/>
          <p:nvPr/>
        </p:nvSpPr>
        <p:spPr>
          <a:xfrm rot="8520">
            <a:off x="9728825" y="2765870"/>
            <a:ext cx="770002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9738360" y="2948940"/>
            <a:ext cx="3703320" cy="748894"/>
            <a:chOff x="0" y="0"/>
            <a:chExt cx="4937760" cy="99852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937760" cy="998474"/>
            </a:xfrm>
            <a:custGeom>
              <a:avLst/>
              <a:gdLst/>
              <a:ahLst/>
              <a:cxnLst/>
              <a:rect l="l" t="t" r="r" b="b"/>
              <a:pathLst>
                <a:path w="4937760" h="998474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888746"/>
                  </a:lnTo>
                  <a:cubicBezTo>
                    <a:pt x="4937760" y="949325"/>
                    <a:pt x="4888611" y="998474"/>
                    <a:pt x="4828032" y="998474"/>
                  </a:cubicBezTo>
                  <a:lnTo>
                    <a:pt x="109728" y="998474"/>
                  </a:lnTo>
                  <a:cubicBezTo>
                    <a:pt x="49149" y="998474"/>
                    <a:pt x="0" y="949452"/>
                    <a:pt x="0" y="888746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9930384" y="2990088"/>
            <a:ext cx="3319272" cy="666598"/>
            <a:chOff x="0" y="0"/>
            <a:chExt cx="4425696" cy="88879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425696" cy="888796"/>
            </a:xfrm>
            <a:custGeom>
              <a:avLst/>
              <a:gdLst/>
              <a:ahLst/>
              <a:cxnLst/>
              <a:rect l="l" t="t" r="r" b="b"/>
              <a:pathLst>
                <a:path w="4425696" h="888796">
                  <a:moveTo>
                    <a:pt x="0" y="0"/>
                  </a:moveTo>
                  <a:lnTo>
                    <a:pt x="4425696" y="0"/>
                  </a:lnTo>
                  <a:lnTo>
                    <a:pt x="4425696" y="888796"/>
                  </a:lnTo>
                  <a:lnTo>
                    <a:pt x="0" y="8887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024" b="-47024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4425696" cy="9173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Registered rentals (91.6%)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 rot="-10800000">
            <a:off x="11397996" y="3684118"/>
            <a:ext cx="384048" cy="241402"/>
            <a:chOff x="0" y="0"/>
            <a:chExt cx="512064" cy="32186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12064" cy="321818"/>
            </a:xfrm>
            <a:custGeom>
              <a:avLst/>
              <a:gdLst/>
              <a:ahLst/>
              <a:cxnLst/>
              <a:rect l="l" t="t" r="r" b="b"/>
              <a:pathLst>
                <a:path w="512064" h="321818">
                  <a:moveTo>
                    <a:pt x="0" y="321818"/>
                  </a:moveTo>
                  <a:lnTo>
                    <a:pt x="256032" y="0"/>
                  </a:lnTo>
                  <a:lnTo>
                    <a:pt x="512064" y="321818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9738360" y="3911803"/>
            <a:ext cx="3703320" cy="820217"/>
            <a:chOff x="0" y="0"/>
            <a:chExt cx="4937760" cy="109362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37760" cy="1093597"/>
            </a:xfrm>
            <a:custGeom>
              <a:avLst/>
              <a:gdLst/>
              <a:ahLst/>
              <a:cxnLst/>
              <a:rect l="l" t="t" r="r" b="b"/>
              <a:pathLst>
                <a:path w="4937760" h="1093597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983869"/>
                  </a:lnTo>
                  <a:cubicBezTo>
                    <a:pt x="4937760" y="1044448"/>
                    <a:pt x="4888611" y="1093597"/>
                    <a:pt x="4828032" y="1093597"/>
                  </a:cubicBezTo>
                  <a:lnTo>
                    <a:pt x="109728" y="1093597"/>
                  </a:lnTo>
                  <a:cubicBezTo>
                    <a:pt x="49149" y="1093597"/>
                    <a:pt x="0" y="1044448"/>
                    <a:pt x="0" y="983869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9875520" y="3911803"/>
            <a:ext cx="3429000" cy="820217"/>
            <a:chOff x="0" y="0"/>
            <a:chExt cx="4572000" cy="109362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572000" cy="1093622"/>
            </a:xfrm>
            <a:custGeom>
              <a:avLst/>
              <a:gdLst/>
              <a:ahLst/>
              <a:cxnLst/>
              <a:rect l="l" t="t" r="r" b="b"/>
              <a:pathLst>
                <a:path w="4572000" h="1093622">
                  <a:moveTo>
                    <a:pt x="0" y="0"/>
                  </a:moveTo>
                  <a:lnTo>
                    <a:pt x="4572000" y="0"/>
                  </a:lnTo>
                  <a:lnTo>
                    <a:pt x="4572000" y="1093622"/>
                  </a:lnTo>
                  <a:lnTo>
                    <a:pt x="0" y="109362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459" b="-31459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4572000" cy="11126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53,383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3853160" y="2948940"/>
            <a:ext cx="3703320" cy="748894"/>
            <a:chOff x="0" y="0"/>
            <a:chExt cx="4937760" cy="99852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937760" cy="998474"/>
            </a:xfrm>
            <a:custGeom>
              <a:avLst/>
              <a:gdLst/>
              <a:ahLst/>
              <a:cxnLst/>
              <a:rect l="l" t="t" r="r" b="b"/>
              <a:pathLst>
                <a:path w="4937760" h="998474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888746"/>
                  </a:lnTo>
                  <a:cubicBezTo>
                    <a:pt x="4937760" y="949325"/>
                    <a:pt x="4888611" y="998474"/>
                    <a:pt x="4828032" y="998474"/>
                  </a:cubicBezTo>
                  <a:lnTo>
                    <a:pt x="109728" y="998474"/>
                  </a:lnTo>
                  <a:cubicBezTo>
                    <a:pt x="49149" y="998474"/>
                    <a:pt x="0" y="949452"/>
                    <a:pt x="0" y="888746"/>
                  </a:cubicBez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4045184" y="2990088"/>
            <a:ext cx="3319272" cy="666598"/>
            <a:chOff x="0" y="0"/>
            <a:chExt cx="4425696" cy="888797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425696" cy="888796"/>
            </a:xfrm>
            <a:custGeom>
              <a:avLst/>
              <a:gdLst/>
              <a:ahLst/>
              <a:cxnLst/>
              <a:rect l="l" t="t" r="r" b="b"/>
              <a:pathLst>
                <a:path w="4425696" h="888796">
                  <a:moveTo>
                    <a:pt x="0" y="0"/>
                  </a:moveTo>
                  <a:lnTo>
                    <a:pt x="4425696" y="0"/>
                  </a:lnTo>
                  <a:lnTo>
                    <a:pt x="4425696" y="888796"/>
                  </a:lnTo>
                  <a:lnTo>
                    <a:pt x="0" y="8887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7024" b="-47024"/>
              </a:stretch>
            </a:blipFill>
          </p:spPr>
        </p:sp>
        <p:sp>
          <p:nvSpPr>
            <p:cNvPr id="35" name="TextBox 35"/>
            <p:cNvSpPr txBox="1"/>
            <p:nvPr/>
          </p:nvSpPr>
          <p:spPr>
            <a:xfrm>
              <a:off x="0" y="-28575"/>
              <a:ext cx="4425696" cy="9173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Casual rentals (8.4%)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 rot="-10800000">
            <a:off x="15512796" y="3684118"/>
            <a:ext cx="384048" cy="241402"/>
            <a:chOff x="0" y="0"/>
            <a:chExt cx="512064" cy="32186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2064" cy="321818"/>
            </a:xfrm>
            <a:custGeom>
              <a:avLst/>
              <a:gdLst/>
              <a:ahLst/>
              <a:cxnLst/>
              <a:rect l="l" t="t" r="r" b="b"/>
              <a:pathLst>
                <a:path w="512064" h="321818">
                  <a:moveTo>
                    <a:pt x="0" y="321818"/>
                  </a:moveTo>
                  <a:lnTo>
                    <a:pt x="256032" y="0"/>
                  </a:lnTo>
                  <a:lnTo>
                    <a:pt x="512064" y="321818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3853160" y="3911803"/>
            <a:ext cx="3703320" cy="820217"/>
            <a:chOff x="0" y="0"/>
            <a:chExt cx="4937760" cy="1093622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937760" cy="1093597"/>
            </a:xfrm>
            <a:custGeom>
              <a:avLst/>
              <a:gdLst/>
              <a:ahLst/>
              <a:cxnLst/>
              <a:rect l="l" t="t" r="r" b="b"/>
              <a:pathLst>
                <a:path w="4937760" h="1093597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828032" y="0"/>
                  </a:lnTo>
                  <a:cubicBezTo>
                    <a:pt x="4888611" y="0"/>
                    <a:pt x="4937760" y="49149"/>
                    <a:pt x="4937760" y="109728"/>
                  </a:cubicBezTo>
                  <a:lnTo>
                    <a:pt x="4937760" y="983869"/>
                  </a:lnTo>
                  <a:cubicBezTo>
                    <a:pt x="4937760" y="1044448"/>
                    <a:pt x="4888611" y="1093597"/>
                    <a:pt x="4828032" y="1093597"/>
                  </a:cubicBezTo>
                  <a:lnTo>
                    <a:pt x="109728" y="1093597"/>
                  </a:lnTo>
                  <a:cubicBezTo>
                    <a:pt x="49149" y="1093597"/>
                    <a:pt x="0" y="1044448"/>
                    <a:pt x="0" y="983869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3990320" y="3911803"/>
            <a:ext cx="3429000" cy="820217"/>
            <a:chOff x="0" y="0"/>
            <a:chExt cx="4572000" cy="109362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572000" cy="1093622"/>
            </a:xfrm>
            <a:custGeom>
              <a:avLst/>
              <a:gdLst/>
              <a:ahLst/>
              <a:cxnLst/>
              <a:rect l="l" t="t" r="r" b="b"/>
              <a:pathLst>
                <a:path w="4572000" h="1093622">
                  <a:moveTo>
                    <a:pt x="0" y="0"/>
                  </a:moveTo>
                  <a:lnTo>
                    <a:pt x="4572000" y="0"/>
                  </a:lnTo>
                  <a:lnTo>
                    <a:pt x="4572000" y="1093622"/>
                  </a:lnTo>
                  <a:lnTo>
                    <a:pt x="0" y="109362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459" b="-31459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4572000" cy="11126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4,921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738360" y="5006340"/>
            <a:ext cx="7680960" cy="548640"/>
            <a:chOff x="0" y="0"/>
            <a:chExt cx="10241280" cy="73152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0241280" cy="731520"/>
            </a:xfrm>
            <a:custGeom>
              <a:avLst/>
              <a:gdLst/>
              <a:ahLst/>
              <a:cxnLst/>
              <a:rect l="l" t="t" r="r" b="b"/>
              <a:pathLst>
                <a:path w="10241280" h="731520">
                  <a:moveTo>
                    <a:pt x="0" y="0"/>
                  </a:moveTo>
                  <a:lnTo>
                    <a:pt x="10241280" y="0"/>
                  </a:lnTo>
                  <a:lnTo>
                    <a:pt x="102412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2790" b="-222790"/>
              </a:stretch>
            </a:blipFill>
          </p:spPr>
        </p:sp>
        <p:sp>
          <p:nvSpPr>
            <p:cNvPr id="45" name="TextBox 45"/>
            <p:cNvSpPr txBox="1"/>
            <p:nvPr/>
          </p:nvSpPr>
          <p:spPr>
            <a:xfrm>
              <a:off x="0" y="-47625"/>
              <a:ext cx="10241280" cy="7791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Total recorded rentals: 58,304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48" name="Group 48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50" name="Group 50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Registered rentals represent the large majority of recorded demand (91.6%), while casual rentals make up a much smaller share (8.4%) of total volume.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55" name="TextBox 55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  ·  TIME-OF-DAY ANALYSIS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Hourly Demand Peaks in the Morning and Evening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563638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 / 17</a:t>
              </a:r>
            </a:p>
          </p:txBody>
        </p:sp>
      </p:grp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36032" y="554460"/>
            <a:ext cx="19544042" cy="8962510"/>
          </a:xfrm>
          <a:prstGeom prst="rect">
            <a:avLst/>
          </a:prstGeom>
        </p:spPr>
      </p:pic>
      <p:grpSp>
        <p:nvGrpSpPr>
          <p:cNvPr id="15" name="Group 15"/>
          <p:cNvGrpSpPr/>
          <p:nvPr/>
        </p:nvGrpSpPr>
        <p:grpSpPr>
          <a:xfrm>
            <a:off x="13167360" y="2880360"/>
            <a:ext cx="2194560" cy="411480"/>
            <a:chOff x="0" y="0"/>
            <a:chExt cx="2926080" cy="5486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926080" cy="548640"/>
            </a:xfrm>
            <a:custGeom>
              <a:avLst/>
              <a:gdLst/>
              <a:ahLst/>
              <a:cxnLst/>
              <a:rect l="l" t="t" r="r" b="b"/>
              <a:pathLst>
                <a:path w="2926080" h="54864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920" b="-53920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292608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E9A23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17:00 → 140.2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486474" y="3549855"/>
            <a:ext cx="2194560" cy="411480"/>
            <a:chOff x="0" y="0"/>
            <a:chExt cx="2926080" cy="548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926080" cy="548640"/>
            </a:xfrm>
            <a:custGeom>
              <a:avLst/>
              <a:gdLst/>
              <a:ahLst/>
              <a:cxnLst/>
              <a:rect l="l" t="t" r="r" b="b"/>
              <a:pathLst>
                <a:path w="2926080" h="54864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920" b="-53920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292608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08:00 → 128.3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167360" y="3223260"/>
            <a:ext cx="2194560" cy="411480"/>
            <a:chOff x="0" y="0"/>
            <a:chExt cx="292608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926080" cy="548640"/>
            </a:xfrm>
            <a:custGeom>
              <a:avLst/>
              <a:gdLst/>
              <a:ahLst/>
              <a:cxnLst/>
              <a:rect l="l" t="t" r="r" b="b"/>
              <a:pathLst>
                <a:path w="2926080" h="548640">
                  <a:moveTo>
                    <a:pt x="0" y="0"/>
                  </a:moveTo>
                  <a:lnTo>
                    <a:pt x="2926080" y="0"/>
                  </a:lnTo>
                  <a:lnTo>
                    <a:pt x="29260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920" b="-53920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292608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89"/>
                </a:lnSpc>
              </a:pPr>
              <a:r>
                <a:rPr lang="en-US" sz="1575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18:00 → 122.9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Demand shows two clear peaks — a morning peak near 8 AM (128.3) and a stronger evening peak at 5 PM (140.2) — with very low demand in the early morning hours (as low as 2.16 at 4 AM).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07  ·  RIDER BEHAVIOR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Casual and Registered Riders Follow Different Daily Patterns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537480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07 / 17</a:t>
              </a:r>
            </a:p>
          </p:txBody>
        </p:sp>
      </p:grp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36032" y="760962"/>
            <a:ext cx="19544042" cy="8882195"/>
          </a:xfrm>
          <a:prstGeom prst="rect">
            <a:avLst/>
          </a:prstGeom>
        </p:spPr>
      </p:pic>
      <p:grpSp>
        <p:nvGrpSpPr>
          <p:cNvPr id="15" name="Group 15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Registered rentals show sharp morning and evening peaks (17:00 → 131.2, 08:00 → 125.3, 18:00 → 117.7), while casual rentals are more spread through the day, peaking around midday (15:00 → 12.5) — the two rider groups follow visibly different hourly patterns.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  ·  TIME-TYPE ANALYSIS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76271" y="966616"/>
            <a:ext cx="16870680" cy="765220"/>
            <a:chOff x="0" y="0"/>
            <a:chExt cx="22494240" cy="102029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020293"/>
            </a:xfrm>
            <a:custGeom>
              <a:avLst/>
              <a:gdLst/>
              <a:ahLst/>
              <a:cxnLst/>
              <a:rect l="l" t="t" r="r" b="b"/>
              <a:pathLst>
                <a:path w="22494239" h="1020293">
                  <a:moveTo>
                    <a:pt x="0" y="0"/>
                  </a:moveTo>
                  <a:lnTo>
                    <a:pt x="22494239" y="0"/>
                  </a:lnTo>
                  <a:lnTo>
                    <a:pt x="22494239" y="1020293"/>
                  </a:lnTo>
                  <a:lnTo>
                    <a:pt x="0" y="102029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66848" b="-392318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2494240" cy="102981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Weekdays and Working Days Show Higher Average Demand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08 / 17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85800" y="2125980"/>
            <a:ext cx="8092440" cy="411480"/>
            <a:chOff x="0" y="0"/>
            <a:chExt cx="10789920" cy="5486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789920" cy="548640"/>
            </a:xfrm>
            <a:custGeom>
              <a:avLst/>
              <a:gdLst/>
              <a:ahLst/>
              <a:cxnLst/>
              <a:rect l="l" t="t" r="r" b="b"/>
              <a:pathLst>
                <a:path w="10789920" h="548640">
                  <a:moveTo>
                    <a:pt x="0" y="0"/>
                  </a:moveTo>
                  <a:lnTo>
                    <a:pt x="10789920" y="0"/>
                  </a:lnTo>
                  <a:lnTo>
                    <a:pt x="10789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3205" b="-333205"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078992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DAY TYPE COMPARISON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1032502" y="2594610"/>
            <a:ext cx="7527328" cy="2716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971" y="1639044"/>
            <a:ext cx="8900749" cy="5726370"/>
          </a:xfrm>
          <a:prstGeom prst="rect">
            <a:avLst/>
          </a:prstGeom>
        </p:spPr>
      </p:pic>
      <p:grpSp>
        <p:nvGrpSpPr>
          <p:cNvPr id="18" name="Group 18"/>
          <p:cNvGrpSpPr/>
          <p:nvPr/>
        </p:nvGrpSpPr>
        <p:grpSpPr>
          <a:xfrm>
            <a:off x="9464040" y="2125980"/>
            <a:ext cx="8092440" cy="411480"/>
            <a:chOff x="0" y="0"/>
            <a:chExt cx="10789920" cy="54864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89920" cy="548640"/>
            </a:xfrm>
            <a:custGeom>
              <a:avLst/>
              <a:gdLst/>
              <a:ahLst/>
              <a:cxnLst/>
              <a:rect l="l" t="t" r="r" b="b"/>
              <a:pathLst>
                <a:path w="10789920" h="548640">
                  <a:moveTo>
                    <a:pt x="0" y="0"/>
                  </a:moveTo>
                  <a:lnTo>
                    <a:pt x="10789920" y="0"/>
                  </a:lnTo>
                  <a:lnTo>
                    <a:pt x="10789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3205" b="-333205"/>
              </a:stretch>
            </a:blipFill>
          </p:spPr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1078992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WORKING DAY COMPARISON</a:t>
              </a:r>
            </a:p>
          </p:txBody>
        </p:sp>
      </p:grpSp>
      <p:sp>
        <p:nvSpPr>
          <p:cNvPr id="21" name="AutoShape 21"/>
          <p:cNvSpPr/>
          <p:nvPr/>
        </p:nvSpPr>
        <p:spPr>
          <a:xfrm rot="8100">
            <a:off x="9454505" y="2560129"/>
            <a:ext cx="811150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Group 22"/>
          <p:cNvGrpSpPr/>
          <p:nvPr/>
        </p:nvGrpSpPr>
        <p:grpSpPr>
          <a:xfrm>
            <a:off x="685800" y="6652260"/>
            <a:ext cx="16870680" cy="411480"/>
            <a:chOff x="0" y="0"/>
            <a:chExt cx="2249424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2494239" cy="548640"/>
            </a:xfrm>
            <a:custGeom>
              <a:avLst/>
              <a:gdLst/>
              <a:ahLst/>
              <a:cxnLst/>
              <a:rect l="l" t="t" r="r" b="b"/>
              <a:pathLst>
                <a:path w="22494239" h="548640">
                  <a:moveTo>
                    <a:pt x="0" y="0"/>
                  </a:moveTo>
                  <a:lnTo>
                    <a:pt x="22494239" y="0"/>
                  </a:lnTo>
                  <a:lnTo>
                    <a:pt x="224942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48886" b="-748886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224942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BY DAY OF WEEK </a:t>
              </a:r>
            </a:p>
          </p:txBody>
        </p:sp>
      </p:grpSp>
      <p:sp>
        <p:nvSpPr>
          <p:cNvPr id="25" name="AutoShape 25"/>
          <p:cNvSpPr/>
          <p:nvPr/>
        </p:nvSpPr>
        <p:spPr>
          <a:xfrm rot="3900">
            <a:off x="676265" y="7086410"/>
            <a:ext cx="16889740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6" name="Group 26"/>
          <p:cNvGrpSpPr/>
          <p:nvPr/>
        </p:nvGrpSpPr>
        <p:grpSpPr>
          <a:xfrm>
            <a:off x="685800" y="7200900"/>
            <a:ext cx="4114800" cy="576072"/>
            <a:chOff x="0" y="0"/>
            <a:chExt cx="5486400" cy="76809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486400" cy="768096"/>
            </a:xfrm>
            <a:custGeom>
              <a:avLst/>
              <a:gdLst/>
              <a:ahLst/>
              <a:cxnLst/>
              <a:rect l="l" t="t" r="r" b="b"/>
              <a:pathLst>
                <a:path w="5486400" h="76809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376672" y="0"/>
                  </a:lnTo>
                  <a:cubicBezTo>
                    <a:pt x="5437251" y="0"/>
                    <a:pt x="5486400" y="49149"/>
                    <a:pt x="5486400" y="109728"/>
                  </a:cubicBezTo>
                  <a:lnTo>
                    <a:pt x="5486400" y="658368"/>
                  </a:lnTo>
                  <a:cubicBezTo>
                    <a:pt x="5486400" y="718947"/>
                    <a:pt x="5437251" y="768096"/>
                    <a:pt x="5376672" y="768096"/>
                  </a:cubicBezTo>
                  <a:lnTo>
                    <a:pt x="109728" y="768096"/>
                  </a:lnTo>
                  <a:cubicBezTo>
                    <a:pt x="49149" y="768096"/>
                    <a:pt x="0" y="718947"/>
                    <a:pt x="0" y="658368"/>
                  </a:cubicBez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877824" y="7242048"/>
            <a:ext cx="3730752" cy="493776"/>
            <a:chOff x="0" y="0"/>
            <a:chExt cx="4974336" cy="65836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974336" cy="658368"/>
            </a:xfrm>
            <a:custGeom>
              <a:avLst/>
              <a:gdLst/>
              <a:ahLst/>
              <a:cxnLst/>
              <a:rect l="l" t="t" r="r" b="b"/>
              <a:pathLst>
                <a:path w="4974336" h="658368">
                  <a:moveTo>
                    <a:pt x="0" y="0"/>
                  </a:moveTo>
                  <a:lnTo>
                    <a:pt x="4974336" y="0"/>
                  </a:lnTo>
                  <a:lnTo>
                    <a:pt x="4974336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220" b="-97220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4974336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Thursday — highest day of week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 rot="-10800000">
            <a:off x="2551176" y="7763256"/>
            <a:ext cx="384048" cy="192024"/>
            <a:chOff x="0" y="0"/>
            <a:chExt cx="512064" cy="25603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512064" cy="256032"/>
            </a:xfrm>
            <a:custGeom>
              <a:avLst/>
              <a:gdLst/>
              <a:ahLst/>
              <a:cxnLst/>
              <a:rect l="l" t="t" r="r" b="b"/>
              <a:pathLst>
                <a:path w="512064" h="256032">
                  <a:moveTo>
                    <a:pt x="0" y="256032"/>
                  </a:moveTo>
                  <a:lnTo>
                    <a:pt x="256032" y="0"/>
                  </a:lnTo>
                  <a:lnTo>
                    <a:pt x="512064" y="256032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685800" y="7941564"/>
            <a:ext cx="4114800" cy="630936"/>
            <a:chOff x="0" y="0"/>
            <a:chExt cx="5486400" cy="84124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486400" cy="841248"/>
            </a:xfrm>
            <a:custGeom>
              <a:avLst/>
              <a:gdLst/>
              <a:ahLst/>
              <a:cxnLst/>
              <a:rect l="l" t="t" r="r" b="b"/>
              <a:pathLst>
                <a:path w="5486400" h="841248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376672" y="0"/>
                  </a:lnTo>
                  <a:cubicBezTo>
                    <a:pt x="5437251" y="0"/>
                    <a:pt x="5486400" y="49149"/>
                    <a:pt x="5486400" y="109728"/>
                  </a:cubicBezTo>
                  <a:lnTo>
                    <a:pt x="5486400" y="731520"/>
                  </a:lnTo>
                  <a:cubicBezTo>
                    <a:pt x="5486400" y="792099"/>
                    <a:pt x="5437251" y="841248"/>
                    <a:pt x="5376672" y="841248"/>
                  </a:cubicBezTo>
                  <a:lnTo>
                    <a:pt x="109728" y="841248"/>
                  </a:lnTo>
                  <a:cubicBezTo>
                    <a:pt x="49149" y="841248"/>
                    <a:pt x="0" y="792099"/>
                    <a:pt x="0" y="731520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822960" y="7941564"/>
            <a:ext cx="3840480" cy="630936"/>
            <a:chOff x="0" y="0"/>
            <a:chExt cx="5120640" cy="84124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120640" cy="841248"/>
            </a:xfrm>
            <a:custGeom>
              <a:avLst/>
              <a:gdLst/>
              <a:ahLst/>
              <a:cxnLst/>
              <a:rect l="l" t="t" r="r" b="b"/>
              <a:pathLst>
                <a:path w="5120640" h="841248">
                  <a:moveTo>
                    <a:pt x="0" y="0"/>
                  </a:moveTo>
                  <a:lnTo>
                    <a:pt x="5120640" y="0"/>
                  </a:lnTo>
                  <a:lnTo>
                    <a:pt x="512064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8604" b="-68604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5120640" cy="8602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67.66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006340" y="7200900"/>
            <a:ext cx="4114800" cy="576072"/>
            <a:chOff x="0" y="0"/>
            <a:chExt cx="5486400" cy="768096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486400" cy="768096"/>
            </a:xfrm>
            <a:custGeom>
              <a:avLst/>
              <a:gdLst/>
              <a:ahLst/>
              <a:cxnLst/>
              <a:rect l="l" t="t" r="r" b="b"/>
              <a:pathLst>
                <a:path w="5486400" h="76809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376672" y="0"/>
                  </a:lnTo>
                  <a:cubicBezTo>
                    <a:pt x="5437251" y="0"/>
                    <a:pt x="5486400" y="49149"/>
                    <a:pt x="5486400" y="109728"/>
                  </a:cubicBezTo>
                  <a:lnTo>
                    <a:pt x="5486400" y="658368"/>
                  </a:lnTo>
                  <a:cubicBezTo>
                    <a:pt x="5486400" y="718947"/>
                    <a:pt x="5437251" y="768096"/>
                    <a:pt x="5376672" y="768096"/>
                  </a:cubicBezTo>
                  <a:lnTo>
                    <a:pt x="109728" y="768096"/>
                  </a:lnTo>
                  <a:cubicBezTo>
                    <a:pt x="49149" y="768096"/>
                    <a:pt x="0" y="718947"/>
                    <a:pt x="0" y="658368"/>
                  </a:cubicBezTo>
                  <a:close/>
                </a:path>
              </a:pathLst>
            </a:custGeom>
            <a:solidFill>
              <a:srgbClr val="ECEDE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5198364" y="7242048"/>
            <a:ext cx="3730752" cy="493776"/>
            <a:chOff x="0" y="0"/>
            <a:chExt cx="4974336" cy="65836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974336" cy="658368"/>
            </a:xfrm>
            <a:custGeom>
              <a:avLst/>
              <a:gdLst/>
              <a:ahLst/>
              <a:cxnLst/>
              <a:rect l="l" t="t" r="r" b="b"/>
              <a:pathLst>
                <a:path w="4974336" h="658368">
                  <a:moveTo>
                    <a:pt x="0" y="0"/>
                  </a:moveTo>
                  <a:lnTo>
                    <a:pt x="4974336" y="0"/>
                  </a:lnTo>
                  <a:lnTo>
                    <a:pt x="4974336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7220" b="-97220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4974336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Saturday — lowest day of week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 rot="-10800000">
            <a:off x="6871716" y="7763256"/>
            <a:ext cx="384048" cy="192024"/>
            <a:chOff x="0" y="0"/>
            <a:chExt cx="512064" cy="25603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12064" cy="256032"/>
            </a:xfrm>
            <a:custGeom>
              <a:avLst/>
              <a:gdLst/>
              <a:ahLst/>
              <a:cxnLst/>
              <a:rect l="l" t="t" r="r" b="b"/>
              <a:pathLst>
                <a:path w="512064" h="256032">
                  <a:moveTo>
                    <a:pt x="0" y="256032"/>
                  </a:moveTo>
                  <a:lnTo>
                    <a:pt x="256032" y="0"/>
                  </a:lnTo>
                  <a:lnTo>
                    <a:pt x="512064" y="256032"/>
                  </a:lnTo>
                  <a:close/>
                </a:path>
              </a:pathLst>
            </a:custGeom>
            <a:solidFill>
              <a:srgbClr val="6B7280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5006340" y="7941564"/>
            <a:ext cx="4114800" cy="630936"/>
            <a:chOff x="0" y="0"/>
            <a:chExt cx="5486400" cy="841248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486400" cy="841248"/>
            </a:xfrm>
            <a:custGeom>
              <a:avLst/>
              <a:gdLst/>
              <a:ahLst/>
              <a:cxnLst/>
              <a:rect l="l" t="t" r="r" b="b"/>
              <a:pathLst>
                <a:path w="5486400" h="841248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5376672" y="0"/>
                  </a:lnTo>
                  <a:cubicBezTo>
                    <a:pt x="5437251" y="0"/>
                    <a:pt x="5486400" y="49149"/>
                    <a:pt x="5486400" y="109728"/>
                  </a:cubicBezTo>
                  <a:lnTo>
                    <a:pt x="5486400" y="731520"/>
                  </a:lnTo>
                  <a:cubicBezTo>
                    <a:pt x="5486400" y="792099"/>
                    <a:pt x="5437251" y="841248"/>
                    <a:pt x="5376672" y="841248"/>
                  </a:cubicBezTo>
                  <a:lnTo>
                    <a:pt x="109728" y="841248"/>
                  </a:lnTo>
                  <a:cubicBezTo>
                    <a:pt x="49149" y="841248"/>
                    <a:pt x="0" y="792099"/>
                    <a:pt x="0" y="731520"/>
                  </a:cubicBezTo>
                  <a:close/>
                </a:path>
              </a:pathLst>
            </a:custGeom>
            <a:solidFill>
              <a:srgbClr val="6B7280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5143500" y="7941564"/>
            <a:ext cx="3840480" cy="630936"/>
            <a:chOff x="0" y="0"/>
            <a:chExt cx="5120640" cy="841248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120640" cy="841248"/>
            </a:xfrm>
            <a:custGeom>
              <a:avLst/>
              <a:gdLst/>
              <a:ahLst/>
              <a:cxnLst/>
              <a:rect l="l" t="t" r="r" b="b"/>
              <a:pathLst>
                <a:path w="5120640" h="841248">
                  <a:moveTo>
                    <a:pt x="0" y="0"/>
                  </a:moveTo>
                  <a:lnTo>
                    <a:pt x="5120640" y="0"/>
                  </a:lnTo>
                  <a:lnTo>
                    <a:pt x="512064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8604" b="-68604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5120640" cy="8602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46.67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85800" y="8915400"/>
            <a:ext cx="15951708" cy="685800"/>
            <a:chOff x="0" y="0"/>
            <a:chExt cx="21268944" cy="9144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21268944" cy="914400"/>
            </a:xfrm>
            <a:custGeom>
              <a:avLst/>
              <a:gdLst/>
              <a:ahLst/>
              <a:cxnLst/>
              <a:rect l="l" t="t" r="r" b="b"/>
              <a:pathLst>
                <a:path w="21268944" h="914400">
                  <a:moveTo>
                    <a:pt x="0" y="0"/>
                  </a:moveTo>
                  <a:lnTo>
                    <a:pt x="21268944" y="0"/>
                  </a:lnTo>
                  <a:lnTo>
                    <a:pt x="21268944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52" name="Group 52"/>
          <p:cNvGrpSpPr/>
          <p:nvPr/>
        </p:nvGrpSpPr>
        <p:grpSpPr>
          <a:xfrm>
            <a:off x="685800" y="8915400"/>
            <a:ext cx="82296" cy="685800"/>
            <a:chOff x="0" y="0"/>
            <a:chExt cx="109728" cy="9144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09728" cy="914400"/>
            </a:xfrm>
            <a:custGeom>
              <a:avLst/>
              <a:gdLst/>
              <a:ahLst/>
              <a:cxnLst/>
              <a:rect l="l" t="t" r="r" b="b"/>
              <a:pathLst>
                <a:path w="109728" h="914400">
                  <a:moveTo>
                    <a:pt x="0" y="0"/>
                  </a:moveTo>
                  <a:lnTo>
                    <a:pt x="109728" y="0"/>
                  </a:lnTo>
                  <a:lnTo>
                    <a:pt x="109728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54" name="Group 54"/>
          <p:cNvGrpSpPr/>
          <p:nvPr/>
        </p:nvGrpSpPr>
        <p:grpSpPr>
          <a:xfrm>
            <a:off x="1028700" y="8956548"/>
            <a:ext cx="15265908" cy="603504"/>
            <a:chOff x="0" y="0"/>
            <a:chExt cx="20354544" cy="804672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0354544" cy="804672"/>
            </a:xfrm>
            <a:custGeom>
              <a:avLst/>
              <a:gdLst/>
              <a:ahLst/>
              <a:cxnLst/>
              <a:rect l="l" t="t" r="r" b="b"/>
              <a:pathLst>
                <a:path w="20354544" h="804672">
                  <a:moveTo>
                    <a:pt x="0" y="0"/>
                  </a:moveTo>
                  <a:lnTo>
                    <a:pt x="20354544" y="0"/>
                  </a:lnTo>
                  <a:lnTo>
                    <a:pt x="2035454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42882" b="-442882"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20354544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Average demand is higher on weekdays (63.34) than weekends (48.09), and working days show a similar pattern (64.14 vs 47.65) — 'day of week' and 'working day' are related but distinct classifications.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59" name="TextBox 59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sp>
        <p:nvSpPr>
          <p:cNvPr id="60" name="AutoShape 60"/>
          <p:cNvSpPr/>
          <p:nvPr/>
        </p:nvSpPr>
        <p:spPr>
          <a:xfrm>
            <a:off x="685800" y="1755648"/>
            <a:ext cx="1537352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61" name="Picture 6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2403" y="1629136"/>
            <a:ext cx="9019642" cy="57652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90250" y="922498"/>
            <a:ext cx="11312260" cy="8071522"/>
          </a:xfrm>
          <a:prstGeom prst="rect">
            <a:avLst/>
          </a:prstGeom>
          <a:noFill/>
        </p:spPr>
      </p:pic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  ·  CALENDAR EFFECTS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Recorded Holidays Show Lower Average Demand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 flipV="1">
            <a:off x="731520" y="1755648"/>
            <a:ext cx="1504983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  <p:grpSp>
        <p:nvGrpSpPr>
          <p:cNvPr id="11" name="Group 11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09 / 17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012680" y="2331720"/>
            <a:ext cx="7406640" cy="411480"/>
            <a:chOff x="0" y="0"/>
            <a:chExt cx="9875520" cy="5486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875520" cy="548640"/>
            </a:xfrm>
            <a:custGeom>
              <a:avLst/>
              <a:gdLst/>
              <a:ahLst/>
              <a:cxnLst/>
              <a:rect l="l" t="t" r="r" b="b"/>
              <a:pathLst>
                <a:path w="9875520" h="548640">
                  <a:moveTo>
                    <a:pt x="0" y="0"/>
                  </a:moveTo>
                  <a:lnTo>
                    <a:pt x="9875520" y="0"/>
                  </a:lnTo>
                  <a:lnTo>
                    <a:pt x="98755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0730" b="-300730"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987552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RECORD COVERAGE</a:t>
              </a:r>
            </a:p>
          </p:txBody>
        </p:sp>
      </p:grpSp>
      <p:sp>
        <p:nvSpPr>
          <p:cNvPr id="18" name="AutoShape 18"/>
          <p:cNvSpPr/>
          <p:nvPr/>
        </p:nvSpPr>
        <p:spPr>
          <a:xfrm rot="8820">
            <a:off x="10003145" y="2765870"/>
            <a:ext cx="742571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10012680" y="2880360"/>
            <a:ext cx="3566160" cy="691286"/>
            <a:chOff x="0" y="0"/>
            <a:chExt cx="4754880" cy="921715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754880" cy="921766"/>
            </a:xfrm>
            <a:custGeom>
              <a:avLst/>
              <a:gdLst/>
              <a:ahLst/>
              <a:cxnLst/>
              <a:rect l="l" t="t" r="r" b="b"/>
              <a:pathLst>
                <a:path w="4754880" h="92176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645152" y="0"/>
                  </a:lnTo>
                  <a:cubicBezTo>
                    <a:pt x="4705731" y="0"/>
                    <a:pt x="4754880" y="49149"/>
                    <a:pt x="4754880" y="109728"/>
                  </a:cubicBezTo>
                  <a:lnTo>
                    <a:pt x="4754880" y="812038"/>
                  </a:lnTo>
                  <a:cubicBezTo>
                    <a:pt x="4754880" y="872617"/>
                    <a:pt x="4705731" y="921766"/>
                    <a:pt x="4645152" y="921766"/>
                  </a:cubicBezTo>
                  <a:lnTo>
                    <a:pt x="109728" y="921766"/>
                  </a:lnTo>
                  <a:cubicBezTo>
                    <a:pt x="49149" y="921766"/>
                    <a:pt x="0" y="872617"/>
                    <a:pt x="0" y="812038"/>
                  </a:cubicBezTo>
                  <a:close/>
                </a:path>
              </a:pathLst>
            </a:custGeom>
            <a:solidFill>
              <a:srgbClr val="FCEEDA"/>
            </a:solidFill>
          </p:spPr>
        </p:sp>
      </p:grpSp>
      <p:grpSp>
        <p:nvGrpSpPr>
          <p:cNvPr id="21" name="Group 21"/>
          <p:cNvGrpSpPr/>
          <p:nvPr/>
        </p:nvGrpSpPr>
        <p:grpSpPr>
          <a:xfrm>
            <a:off x="10204704" y="2921508"/>
            <a:ext cx="3182112" cy="608991"/>
            <a:chOff x="0" y="0"/>
            <a:chExt cx="4242816" cy="81198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42816" cy="811989"/>
            </a:xfrm>
            <a:custGeom>
              <a:avLst/>
              <a:gdLst/>
              <a:ahLst/>
              <a:cxnLst/>
              <a:rect l="l" t="t" r="r" b="b"/>
              <a:pathLst>
                <a:path w="4242816" h="811989">
                  <a:moveTo>
                    <a:pt x="0" y="0"/>
                  </a:moveTo>
                  <a:lnTo>
                    <a:pt x="4242816" y="0"/>
                  </a:lnTo>
                  <a:lnTo>
                    <a:pt x="4242816" y="811989"/>
                  </a:lnTo>
                  <a:lnTo>
                    <a:pt x="0" y="8119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13" b="-51813"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4242816" cy="8405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Holiday coverage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 rot="-10800000">
            <a:off x="11603736" y="3557930"/>
            <a:ext cx="384048" cy="224942"/>
            <a:chOff x="0" y="0"/>
            <a:chExt cx="512064" cy="29992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12064" cy="299974"/>
            </a:xfrm>
            <a:custGeom>
              <a:avLst/>
              <a:gdLst/>
              <a:ahLst/>
              <a:cxnLst/>
              <a:rect l="l" t="t" r="r" b="b"/>
              <a:pathLst>
                <a:path w="512064" h="299974">
                  <a:moveTo>
                    <a:pt x="0" y="299974"/>
                  </a:moveTo>
                  <a:lnTo>
                    <a:pt x="256032" y="0"/>
                  </a:lnTo>
                  <a:lnTo>
                    <a:pt x="512064" y="299974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0012680" y="3769157"/>
            <a:ext cx="3566160" cy="757123"/>
            <a:chOff x="0" y="0"/>
            <a:chExt cx="4754880" cy="100949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754880" cy="1009523"/>
            </a:xfrm>
            <a:custGeom>
              <a:avLst/>
              <a:gdLst/>
              <a:ahLst/>
              <a:cxnLst/>
              <a:rect l="l" t="t" r="r" b="b"/>
              <a:pathLst>
                <a:path w="4754880" h="1009523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645152" y="0"/>
                  </a:lnTo>
                  <a:cubicBezTo>
                    <a:pt x="4705731" y="0"/>
                    <a:pt x="4754880" y="49149"/>
                    <a:pt x="4754880" y="109728"/>
                  </a:cubicBezTo>
                  <a:lnTo>
                    <a:pt x="4754880" y="899795"/>
                  </a:lnTo>
                  <a:cubicBezTo>
                    <a:pt x="4754880" y="960374"/>
                    <a:pt x="4705731" y="1009523"/>
                    <a:pt x="4645152" y="1009523"/>
                  </a:cubicBezTo>
                  <a:lnTo>
                    <a:pt x="109728" y="1009523"/>
                  </a:lnTo>
                  <a:cubicBezTo>
                    <a:pt x="49149" y="1009523"/>
                    <a:pt x="0" y="960374"/>
                    <a:pt x="0" y="899795"/>
                  </a:cubicBez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0149840" y="3769157"/>
            <a:ext cx="3291840" cy="757123"/>
            <a:chOff x="0" y="0"/>
            <a:chExt cx="4389120" cy="100949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389120" cy="1009498"/>
            </a:xfrm>
            <a:custGeom>
              <a:avLst/>
              <a:gdLst/>
              <a:ahLst/>
              <a:cxnLst/>
              <a:rect l="l" t="t" r="r" b="b"/>
              <a:pathLst>
                <a:path w="4389120" h="1009498">
                  <a:moveTo>
                    <a:pt x="0" y="0"/>
                  </a:moveTo>
                  <a:lnTo>
                    <a:pt x="4389120" y="0"/>
                  </a:lnTo>
                  <a:lnTo>
                    <a:pt x="4389120" y="1009498"/>
                  </a:lnTo>
                  <a:lnTo>
                    <a:pt x="0" y="10094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4717" b="-34717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4389120" cy="10285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3921740" y="2880360"/>
            <a:ext cx="3566160" cy="691286"/>
            <a:chOff x="0" y="0"/>
            <a:chExt cx="4754880" cy="92171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754880" cy="921766"/>
            </a:xfrm>
            <a:custGeom>
              <a:avLst/>
              <a:gdLst/>
              <a:ahLst/>
              <a:cxnLst/>
              <a:rect l="l" t="t" r="r" b="b"/>
              <a:pathLst>
                <a:path w="4754880" h="92176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645152" y="0"/>
                  </a:lnTo>
                  <a:cubicBezTo>
                    <a:pt x="4705731" y="0"/>
                    <a:pt x="4754880" y="49149"/>
                    <a:pt x="4754880" y="109728"/>
                  </a:cubicBezTo>
                  <a:lnTo>
                    <a:pt x="4754880" y="812038"/>
                  </a:lnTo>
                  <a:cubicBezTo>
                    <a:pt x="4754880" y="872617"/>
                    <a:pt x="4705731" y="921766"/>
                    <a:pt x="4645152" y="921766"/>
                  </a:cubicBezTo>
                  <a:lnTo>
                    <a:pt x="109728" y="921766"/>
                  </a:lnTo>
                  <a:cubicBezTo>
                    <a:pt x="49149" y="921766"/>
                    <a:pt x="0" y="872617"/>
                    <a:pt x="0" y="812038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14113764" y="2921508"/>
            <a:ext cx="3182112" cy="608991"/>
            <a:chOff x="0" y="0"/>
            <a:chExt cx="4242816" cy="81198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242816" cy="811989"/>
            </a:xfrm>
            <a:custGeom>
              <a:avLst/>
              <a:gdLst/>
              <a:ahLst/>
              <a:cxnLst/>
              <a:rect l="l" t="t" r="r" b="b"/>
              <a:pathLst>
                <a:path w="4242816" h="811989">
                  <a:moveTo>
                    <a:pt x="0" y="0"/>
                  </a:moveTo>
                  <a:lnTo>
                    <a:pt x="4242816" y="0"/>
                  </a:lnTo>
                  <a:lnTo>
                    <a:pt x="4242816" y="811989"/>
                  </a:lnTo>
                  <a:lnTo>
                    <a:pt x="0" y="81198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1813" b="-51813"/>
              </a:stretch>
            </a:blipFill>
          </p:spPr>
        </p:sp>
        <p:sp>
          <p:nvSpPr>
            <p:cNvPr id="35" name="TextBox 35"/>
            <p:cNvSpPr txBox="1"/>
            <p:nvPr/>
          </p:nvSpPr>
          <p:spPr>
            <a:xfrm>
              <a:off x="0" y="-28575"/>
              <a:ext cx="4242816" cy="84056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Non-holiday records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 rot="-10800000">
            <a:off x="15512796" y="3557930"/>
            <a:ext cx="384048" cy="224942"/>
            <a:chOff x="0" y="0"/>
            <a:chExt cx="512064" cy="29992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12064" cy="299974"/>
            </a:xfrm>
            <a:custGeom>
              <a:avLst/>
              <a:gdLst/>
              <a:ahLst/>
              <a:cxnLst/>
              <a:rect l="l" t="t" r="r" b="b"/>
              <a:pathLst>
                <a:path w="512064" h="299974">
                  <a:moveTo>
                    <a:pt x="0" y="299974"/>
                  </a:moveTo>
                  <a:lnTo>
                    <a:pt x="256032" y="0"/>
                  </a:lnTo>
                  <a:lnTo>
                    <a:pt x="512064" y="299974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3921740" y="3769157"/>
            <a:ext cx="3566160" cy="757123"/>
            <a:chOff x="0" y="0"/>
            <a:chExt cx="4754880" cy="100949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754880" cy="1009523"/>
            </a:xfrm>
            <a:custGeom>
              <a:avLst/>
              <a:gdLst/>
              <a:ahLst/>
              <a:cxnLst/>
              <a:rect l="l" t="t" r="r" b="b"/>
              <a:pathLst>
                <a:path w="4754880" h="1009523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4645152" y="0"/>
                  </a:lnTo>
                  <a:cubicBezTo>
                    <a:pt x="4705731" y="0"/>
                    <a:pt x="4754880" y="49149"/>
                    <a:pt x="4754880" y="109728"/>
                  </a:cubicBezTo>
                  <a:lnTo>
                    <a:pt x="4754880" y="899795"/>
                  </a:lnTo>
                  <a:cubicBezTo>
                    <a:pt x="4754880" y="960374"/>
                    <a:pt x="4705731" y="1009523"/>
                    <a:pt x="4645152" y="1009523"/>
                  </a:cubicBezTo>
                  <a:lnTo>
                    <a:pt x="109728" y="1009523"/>
                  </a:lnTo>
                  <a:cubicBezTo>
                    <a:pt x="49149" y="1009523"/>
                    <a:pt x="0" y="960374"/>
                    <a:pt x="0" y="899795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4058900" y="3769157"/>
            <a:ext cx="3291840" cy="757123"/>
            <a:chOff x="0" y="0"/>
            <a:chExt cx="4389120" cy="100949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389120" cy="1009498"/>
            </a:xfrm>
            <a:custGeom>
              <a:avLst/>
              <a:gdLst/>
              <a:ahLst/>
              <a:cxnLst/>
              <a:rect l="l" t="t" r="r" b="b"/>
              <a:pathLst>
                <a:path w="4389120" h="1009498">
                  <a:moveTo>
                    <a:pt x="0" y="0"/>
                  </a:moveTo>
                  <a:lnTo>
                    <a:pt x="4389120" y="0"/>
                  </a:lnTo>
                  <a:lnTo>
                    <a:pt x="4389120" y="1009498"/>
                  </a:lnTo>
                  <a:lnTo>
                    <a:pt x="0" y="10094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4717" b="-34717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4389120" cy="10285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976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0012680" y="4869180"/>
            <a:ext cx="7406640" cy="822960"/>
            <a:chOff x="0" y="0"/>
            <a:chExt cx="9875520" cy="109728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9875520" cy="1097280"/>
            </a:xfrm>
            <a:custGeom>
              <a:avLst/>
              <a:gdLst/>
              <a:ahLst/>
              <a:cxnLst/>
              <a:rect l="l" t="t" r="r" b="b"/>
              <a:pathLst>
                <a:path w="9875520" h="1097280">
                  <a:moveTo>
                    <a:pt x="0" y="0"/>
                  </a:moveTo>
                  <a:lnTo>
                    <a:pt x="9875520" y="0"/>
                  </a:lnTo>
                  <a:lnTo>
                    <a:pt x="9875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5365" b="-125365"/>
              </a:stretch>
            </a:blipFill>
          </p:spPr>
        </p:sp>
        <p:sp>
          <p:nvSpPr>
            <p:cNvPr id="45" name="TextBox 45"/>
            <p:cNvSpPr txBox="1"/>
            <p:nvPr/>
          </p:nvSpPr>
          <p:spPr>
            <a:xfrm>
              <a:off x="0" y="-38100"/>
              <a:ext cx="9875520" cy="11353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 i="1">
                  <a:solidFill>
                    <a:srgbClr val="6B728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Note: All 24 holiday records come from one holiday (Monday, 17 Jan).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48" name="TextBox 48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85800" y="8727605"/>
            <a:ext cx="15951708" cy="850392"/>
            <a:chOff x="0" y="0"/>
            <a:chExt cx="21268944" cy="1133856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1028700" y="8768753"/>
            <a:ext cx="15626405" cy="768096"/>
            <a:chOff x="0" y="0"/>
            <a:chExt cx="20835207" cy="1024128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20835207" cy="1024128"/>
            </a:xfrm>
            <a:custGeom>
              <a:avLst/>
              <a:gdLst/>
              <a:ahLst/>
              <a:cxnLst/>
              <a:rect l="l" t="t" r="r" b="b"/>
              <a:pathLst>
                <a:path w="20835207" h="1024128">
                  <a:moveTo>
                    <a:pt x="0" y="0"/>
                  </a:moveTo>
                  <a:lnTo>
                    <a:pt x="20835207" y="0"/>
                  </a:lnTo>
                  <a:lnTo>
                    <a:pt x="20835207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7265" r="2306" b="-337265"/>
              </a:stretch>
            </a:blipFill>
          </p:spPr>
        </p:sp>
        <p:sp>
          <p:nvSpPr>
            <p:cNvPr id="53" name="TextBox 53"/>
            <p:cNvSpPr txBox="1"/>
            <p:nvPr/>
          </p:nvSpPr>
          <p:spPr>
            <a:xfrm>
              <a:off x="0" y="-38100"/>
              <a:ext cx="20835207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Average rental demand was 41.67 on recorded holidays compared with 58.71 on non-holidays. With only 24 holiday records, this comparison should be read descriptively, not as a general rule.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85800" y="8727605"/>
            <a:ext cx="82296" cy="850392"/>
            <a:chOff x="0" y="0"/>
            <a:chExt cx="109728" cy="1133856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-433286"/>
            <a:ext cx="17307381" cy="3375368"/>
            <a:chOff x="0" y="0"/>
            <a:chExt cx="22710970" cy="442920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10969" cy="4429201"/>
            </a:xfrm>
            <a:custGeom>
              <a:avLst/>
              <a:gdLst/>
              <a:ahLst/>
              <a:cxnLst/>
              <a:rect l="l" t="t" r="r" b="b"/>
              <a:pathLst>
                <a:path w="22710969" h="4429201">
                  <a:moveTo>
                    <a:pt x="0" y="0"/>
                  </a:moveTo>
                  <a:lnTo>
                    <a:pt x="22710969" y="0"/>
                  </a:lnTo>
                  <a:lnTo>
                    <a:pt x="22710969" y="4429201"/>
                  </a:lnTo>
                  <a:lnTo>
                    <a:pt x="0" y="44292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05" r="954" b="-13408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22710970" cy="444825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Demand Varies Across Weather Conditions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  ·  WEATHER ANALYSIS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 / 17</a:t>
              </a:r>
            </a:p>
          </p:txBody>
        </p:sp>
      </p:grp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00265" y="1194536"/>
            <a:ext cx="13032782" cy="8231684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2138660" y="2263140"/>
            <a:ext cx="5417820" cy="411480"/>
            <a:chOff x="0" y="0"/>
            <a:chExt cx="7223760" cy="5486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223760" cy="548640"/>
            </a:xfrm>
            <a:custGeom>
              <a:avLst/>
              <a:gdLst/>
              <a:ahLst/>
              <a:cxnLst/>
              <a:rect l="l" t="t" r="r" b="b"/>
              <a:pathLst>
                <a:path w="7223760" h="548640">
                  <a:moveTo>
                    <a:pt x="0" y="0"/>
                  </a:moveTo>
                  <a:lnTo>
                    <a:pt x="7223760" y="0"/>
                  </a:lnTo>
                  <a:lnTo>
                    <a:pt x="72237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6553" b="-206552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22376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RECORD COUNTS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 rot="12060">
            <a:off x="12129116" y="2697290"/>
            <a:ext cx="5436908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" name="Group 18"/>
          <p:cNvGrpSpPr/>
          <p:nvPr/>
        </p:nvGrpSpPr>
        <p:grpSpPr>
          <a:xfrm>
            <a:off x="12129135" y="2802255"/>
            <a:ext cx="5436870" cy="869442"/>
            <a:chOff x="0" y="0"/>
            <a:chExt cx="7249160" cy="115925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249160" cy="1159256"/>
            </a:xfrm>
            <a:custGeom>
              <a:avLst/>
              <a:gdLst/>
              <a:ahLst/>
              <a:cxnLst/>
              <a:rect l="l" t="t" r="r" b="b"/>
              <a:pathLst>
                <a:path w="7249160" h="1159256">
                  <a:moveTo>
                    <a:pt x="0" y="0"/>
                  </a:moveTo>
                  <a:lnTo>
                    <a:pt x="7249160" y="0"/>
                  </a:lnTo>
                  <a:lnTo>
                    <a:pt x="7249160" y="1159256"/>
                  </a:lnTo>
                  <a:lnTo>
                    <a:pt x="0" y="115925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12344400" y="2811780"/>
            <a:ext cx="3017520" cy="850392"/>
            <a:chOff x="0" y="0"/>
            <a:chExt cx="4023360" cy="113385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3360" cy="1133856"/>
            </a:xfrm>
            <a:custGeom>
              <a:avLst/>
              <a:gdLst/>
              <a:ahLst/>
              <a:cxnLst/>
              <a:rect l="l" t="t" r="r" b="b"/>
              <a:pathLst>
                <a:path w="4023360" h="1133856">
                  <a:moveTo>
                    <a:pt x="0" y="0"/>
                  </a:moveTo>
                  <a:lnTo>
                    <a:pt x="4023360" y="0"/>
                  </a:lnTo>
                  <a:lnTo>
                    <a:pt x="402336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40" b="-19140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4023360" cy="11719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Clear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5087600" y="2811780"/>
            <a:ext cx="2194560" cy="850392"/>
            <a:chOff x="0" y="0"/>
            <a:chExt cx="2926080" cy="113385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926080" cy="1133856"/>
            </a:xfrm>
            <a:custGeom>
              <a:avLst/>
              <a:gdLst/>
              <a:ahLst/>
              <a:cxnLst/>
              <a:rect l="l" t="t" r="r" b="b"/>
              <a:pathLst>
                <a:path w="2926080" h="1133856">
                  <a:moveTo>
                    <a:pt x="0" y="0"/>
                  </a:moveTo>
                  <a:lnTo>
                    <a:pt x="2926080" y="0"/>
                  </a:lnTo>
                  <a:lnTo>
                    <a:pt x="292608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3" b="-283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2926080" cy="11529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700"/>
                </a:lnSpc>
              </a:pPr>
              <a:r>
                <a:rPr lang="en-US" sz="225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606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129135" y="3789807"/>
            <a:ext cx="5436870" cy="869442"/>
            <a:chOff x="0" y="0"/>
            <a:chExt cx="7249160" cy="115925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249160" cy="1159256"/>
            </a:xfrm>
            <a:custGeom>
              <a:avLst/>
              <a:gdLst/>
              <a:ahLst/>
              <a:cxnLst/>
              <a:rect l="l" t="t" r="r" b="b"/>
              <a:pathLst>
                <a:path w="7249160" h="1159256">
                  <a:moveTo>
                    <a:pt x="0" y="0"/>
                  </a:moveTo>
                  <a:lnTo>
                    <a:pt x="7249160" y="0"/>
                  </a:lnTo>
                  <a:lnTo>
                    <a:pt x="7249160" y="1159256"/>
                  </a:lnTo>
                  <a:lnTo>
                    <a:pt x="0" y="115925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28" name="Group 28"/>
          <p:cNvGrpSpPr/>
          <p:nvPr/>
        </p:nvGrpSpPr>
        <p:grpSpPr>
          <a:xfrm>
            <a:off x="12344400" y="3799332"/>
            <a:ext cx="3017520" cy="850392"/>
            <a:chOff x="0" y="0"/>
            <a:chExt cx="4023360" cy="113385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023360" cy="1133856"/>
            </a:xfrm>
            <a:custGeom>
              <a:avLst/>
              <a:gdLst/>
              <a:ahLst/>
              <a:cxnLst/>
              <a:rect l="l" t="t" r="r" b="b"/>
              <a:pathLst>
                <a:path w="4023360" h="1133856">
                  <a:moveTo>
                    <a:pt x="0" y="0"/>
                  </a:moveTo>
                  <a:lnTo>
                    <a:pt x="4023360" y="0"/>
                  </a:lnTo>
                  <a:lnTo>
                    <a:pt x="402336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40" b="-19140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4023360" cy="11719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Cloudy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5087600" y="3799332"/>
            <a:ext cx="2194560" cy="850392"/>
            <a:chOff x="0" y="0"/>
            <a:chExt cx="2926080" cy="113385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926080" cy="1133856"/>
            </a:xfrm>
            <a:custGeom>
              <a:avLst/>
              <a:gdLst/>
              <a:ahLst/>
              <a:cxnLst/>
              <a:rect l="l" t="t" r="r" b="b"/>
              <a:pathLst>
                <a:path w="2926080" h="1133856">
                  <a:moveTo>
                    <a:pt x="0" y="0"/>
                  </a:moveTo>
                  <a:lnTo>
                    <a:pt x="2926080" y="0"/>
                  </a:lnTo>
                  <a:lnTo>
                    <a:pt x="292608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3" b="-283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2926080" cy="11529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700"/>
                </a:lnSpc>
              </a:pPr>
              <a:r>
                <a:rPr lang="en-US" sz="225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309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129135" y="4777359"/>
            <a:ext cx="5436870" cy="869442"/>
            <a:chOff x="0" y="0"/>
            <a:chExt cx="7249160" cy="115925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249160" cy="1159256"/>
            </a:xfrm>
            <a:custGeom>
              <a:avLst/>
              <a:gdLst/>
              <a:ahLst/>
              <a:cxnLst/>
              <a:rect l="l" t="t" r="r" b="b"/>
              <a:pathLst>
                <a:path w="7249160" h="1159256">
                  <a:moveTo>
                    <a:pt x="0" y="0"/>
                  </a:moveTo>
                  <a:lnTo>
                    <a:pt x="7249160" y="0"/>
                  </a:lnTo>
                  <a:lnTo>
                    <a:pt x="7249160" y="1159256"/>
                  </a:lnTo>
                  <a:lnTo>
                    <a:pt x="0" y="115925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36" name="Group 36"/>
          <p:cNvGrpSpPr/>
          <p:nvPr/>
        </p:nvGrpSpPr>
        <p:grpSpPr>
          <a:xfrm>
            <a:off x="12344400" y="4786884"/>
            <a:ext cx="3017520" cy="850392"/>
            <a:chOff x="0" y="0"/>
            <a:chExt cx="4023360" cy="1133856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023360" cy="1133856"/>
            </a:xfrm>
            <a:custGeom>
              <a:avLst/>
              <a:gdLst/>
              <a:ahLst/>
              <a:cxnLst/>
              <a:rect l="l" t="t" r="r" b="b"/>
              <a:pathLst>
                <a:path w="4023360" h="1133856">
                  <a:moveTo>
                    <a:pt x="0" y="0"/>
                  </a:moveTo>
                  <a:lnTo>
                    <a:pt x="4023360" y="0"/>
                  </a:lnTo>
                  <a:lnTo>
                    <a:pt x="402336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40" b="-19140"/>
              </a:stretch>
            </a:blipFill>
          </p:spPr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4023360" cy="11719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Light Rain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5087600" y="4786884"/>
            <a:ext cx="2194560" cy="850392"/>
            <a:chOff x="0" y="0"/>
            <a:chExt cx="2926080" cy="113385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926080" cy="1133856"/>
            </a:xfrm>
            <a:custGeom>
              <a:avLst/>
              <a:gdLst/>
              <a:ahLst/>
              <a:cxnLst/>
              <a:rect l="l" t="t" r="r" b="b"/>
              <a:pathLst>
                <a:path w="2926080" h="1133856">
                  <a:moveTo>
                    <a:pt x="0" y="0"/>
                  </a:moveTo>
                  <a:lnTo>
                    <a:pt x="2926080" y="0"/>
                  </a:lnTo>
                  <a:lnTo>
                    <a:pt x="292608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3" b="-283"/>
              </a:stretch>
            </a:blipFill>
          </p:spPr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2926080" cy="11529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700"/>
                </a:lnSpc>
              </a:pPr>
              <a:r>
                <a:rPr lang="en-US" sz="225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84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2129135" y="5764911"/>
            <a:ext cx="5436870" cy="869442"/>
            <a:chOff x="0" y="0"/>
            <a:chExt cx="7249160" cy="1159256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249160" cy="1159256"/>
            </a:xfrm>
            <a:custGeom>
              <a:avLst/>
              <a:gdLst/>
              <a:ahLst/>
              <a:cxnLst/>
              <a:rect l="l" t="t" r="r" b="b"/>
              <a:pathLst>
                <a:path w="7249160" h="1159256">
                  <a:moveTo>
                    <a:pt x="0" y="0"/>
                  </a:moveTo>
                  <a:lnTo>
                    <a:pt x="7249160" y="0"/>
                  </a:lnTo>
                  <a:lnTo>
                    <a:pt x="7249160" y="1159256"/>
                  </a:lnTo>
                  <a:lnTo>
                    <a:pt x="0" y="115925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7ECF1"/>
              </a:solidFill>
              <a:prstDash val="solid"/>
              <a:miter/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12344400" y="5774436"/>
            <a:ext cx="3017520" cy="850392"/>
            <a:chOff x="0" y="0"/>
            <a:chExt cx="4023360" cy="113385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023360" cy="1133856"/>
            </a:xfrm>
            <a:custGeom>
              <a:avLst/>
              <a:gdLst/>
              <a:ahLst/>
              <a:cxnLst/>
              <a:rect l="l" t="t" r="r" b="b"/>
              <a:pathLst>
                <a:path w="4023360" h="1133856">
                  <a:moveTo>
                    <a:pt x="0" y="0"/>
                  </a:moveTo>
                  <a:lnTo>
                    <a:pt x="4023360" y="0"/>
                  </a:lnTo>
                  <a:lnTo>
                    <a:pt x="402336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140" b="-19140"/>
              </a:stretch>
            </a:blipFill>
          </p:spPr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4023360" cy="11719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Heavy Rain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5087600" y="5774436"/>
            <a:ext cx="2194560" cy="850392"/>
            <a:chOff x="0" y="0"/>
            <a:chExt cx="2926080" cy="1133856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926080" cy="1133856"/>
            </a:xfrm>
            <a:custGeom>
              <a:avLst/>
              <a:gdLst/>
              <a:ahLst/>
              <a:cxnLst/>
              <a:rect l="l" t="t" r="r" b="b"/>
              <a:pathLst>
                <a:path w="2926080" h="1133856">
                  <a:moveTo>
                    <a:pt x="0" y="0"/>
                  </a:moveTo>
                  <a:lnTo>
                    <a:pt x="2926080" y="0"/>
                  </a:lnTo>
                  <a:lnTo>
                    <a:pt x="292608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3" b="-283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2926080" cy="11529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700"/>
                </a:lnSpc>
              </a:pPr>
              <a:r>
                <a:rPr lang="en-US" sz="2250" b="1">
                  <a:solidFill>
                    <a:srgbClr val="E9A23B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2138660" y="6899148"/>
            <a:ext cx="5417820" cy="960120"/>
            <a:chOff x="0" y="0"/>
            <a:chExt cx="7223760" cy="128016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223760" cy="1280160"/>
            </a:xfrm>
            <a:custGeom>
              <a:avLst/>
              <a:gdLst/>
              <a:ahLst/>
              <a:cxnLst/>
              <a:rect l="l" t="t" r="r" b="b"/>
              <a:pathLst>
                <a:path w="7223760" h="1280160">
                  <a:moveTo>
                    <a:pt x="0" y="0"/>
                  </a:moveTo>
                  <a:lnTo>
                    <a:pt x="7223760" y="0"/>
                  </a:lnTo>
                  <a:lnTo>
                    <a:pt x="72237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9951" b="-59951"/>
              </a:stretch>
            </a:blipFill>
          </p:spPr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7223760" cy="13182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E9A23B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Note: Heavy Rain has only 1 recorded observation — not a reliable basis for a general conclusion.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55" name="Group 55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57" name="Group 57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Average demand is highest under Clear conditions (61.67), followed by Cloudy (58.60), then Light Rain (33.20). Values are ordered by severity, not alphabetically.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62" name="TextBox 62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sp>
        <p:nvSpPr>
          <p:cNvPr id="63" name="AutoShape 63"/>
          <p:cNvSpPr/>
          <p:nvPr/>
        </p:nvSpPr>
        <p:spPr>
          <a:xfrm>
            <a:off x="726948" y="1755648"/>
            <a:ext cx="1509555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06374" y="-366563"/>
            <a:ext cx="17577054" cy="3226372"/>
            <a:chOff x="0" y="0"/>
            <a:chExt cx="23436072" cy="43018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36072" cy="4301829"/>
            </a:xfrm>
            <a:custGeom>
              <a:avLst/>
              <a:gdLst/>
              <a:ahLst/>
              <a:cxnLst/>
              <a:rect l="l" t="t" r="r" b="b"/>
              <a:pathLst>
                <a:path w="23436072" h="4301829">
                  <a:moveTo>
                    <a:pt x="0" y="0"/>
                  </a:moveTo>
                  <a:lnTo>
                    <a:pt x="23436072" y="0"/>
                  </a:lnTo>
                  <a:lnTo>
                    <a:pt x="23436072" y="4301829"/>
                  </a:lnTo>
                  <a:lnTo>
                    <a:pt x="0" y="430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7007" r="4018" b="-16766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3436072" cy="431135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Weekday vs Weekend Demand Under Different Weather Conditions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11  ·  CROSS-FACTOR COMPARISON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644104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07548" y="775710"/>
            <a:ext cx="19367063" cy="8643149"/>
          </a:xfrm>
          <a:prstGeom prst="rect">
            <a:avLst/>
          </a:prstGeom>
        </p:spPr>
      </p:pic>
      <p:grpSp>
        <p:nvGrpSpPr>
          <p:cNvPr id="12" name="Group 12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Clear and Cloudy conditions show a noticeable weekday vs weekend gap, while the difference under Light Rain is much smaller. This is a descriptive cross-factor comparison, not a statistically tested interaction effect.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7030700" y="9741789"/>
            <a:ext cx="685800" cy="411480"/>
            <a:chOff x="0" y="0"/>
            <a:chExt cx="91440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 / 17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12  ·  CORRELATION ANALYSIS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Temperature Shows a Stronger Association with Casual Riders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537480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17040225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12 / 17</a:t>
              </a:r>
            </a:p>
          </p:txBody>
        </p:sp>
      </p:grp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  <a14:imgEffect>
                      <a14:saturation sat="122000"/>
                    </a14:imgEffect>
                    <a14:imgEffect>
                      <a14:brightnessContrast bright="-6000" contrast="-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003554" y="693420"/>
            <a:ext cx="20272248" cy="8982401"/>
          </a:xfrm>
          <a:prstGeom prst="rect">
            <a:avLst/>
          </a:prstGeom>
        </p:spPr>
      </p:pic>
      <p:grpSp>
        <p:nvGrpSpPr>
          <p:cNvPr id="15" name="Group 15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Temperature shows a positive correlation with rental demand overall (+0.229), and this association is notably stronger for casual rentals (+0.470) than for registered rentals (+0.169). Apparent temperature follows the same pattern. Correlation reflects association, not causation.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13  ·  GROUPED ANALYSIS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The Temperature–Demand Relationship Is Non-Linear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537328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13 / 17</a:t>
              </a:r>
            </a:p>
          </p:txBody>
        </p:sp>
      </p:grp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36032" y="554460"/>
            <a:ext cx="19544042" cy="9025604"/>
          </a:xfrm>
          <a:prstGeom prst="rect">
            <a:avLst/>
          </a:prstGeom>
        </p:spPr>
      </p:pic>
      <p:grpSp>
        <p:nvGrpSpPr>
          <p:cNvPr id="15" name="Group 15"/>
          <p:cNvGrpSpPr/>
          <p:nvPr/>
        </p:nvGrpSpPr>
        <p:grpSpPr>
          <a:xfrm>
            <a:off x="685800" y="8709660"/>
            <a:ext cx="15951708" cy="850392"/>
            <a:chOff x="0" y="0"/>
            <a:chExt cx="21268944" cy="113385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268944" cy="1133856"/>
            </a:xfrm>
            <a:custGeom>
              <a:avLst/>
              <a:gdLst/>
              <a:ahLst/>
              <a:cxnLst/>
              <a:rect l="l" t="t" r="r" b="b"/>
              <a:pathLst>
                <a:path w="21268944" h="1133856">
                  <a:moveTo>
                    <a:pt x="0" y="0"/>
                  </a:moveTo>
                  <a:lnTo>
                    <a:pt x="21268944" y="0"/>
                  </a:lnTo>
                  <a:lnTo>
                    <a:pt x="212689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685800" y="8709660"/>
            <a:ext cx="82296" cy="850392"/>
            <a:chOff x="0" y="0"/>
            <a:chExt cx="109728" cy="1133856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9728" cy="1133856"/>
            </a:xfrm>
            <a:custGeom>
              <a:avLst/>
              <a:gdLst/>
              <a:ahLst/>
              <a:cxnLst/>
              <a:rect l="l" t="t" r="r" b="b"/>
              <a:pathLst>
                <a:path w="109728" h="1133856">
                  <a:moveTo>
                    <a:pt x="0" y="0"/>
                  </a:moveTo>
                  <a:lnTo>
                    <a:pt x="109728" y="0"/>
                  </a:lnTo>
                  <a:lnTo>
                    <a:pt x="109728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1028700" y="8750808"/>
            <a:ext cx="15265908" cy="768096"/>
            <a:chOff x="0" y="0"/>
            <a:chExt cx="20354544" cy="102412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0354544" cy="1024128"/>
            </a:xfrm>
            <a:custGeom>
              <a:avLst/>
              <a:gdLst/>
              <a:ahLst/>
              <a:cxnLst/>
              <a:rect l="l" t="t" r="r" b="b"/>
              <a:pathLst>
                <a:path w="20354544" h="1024128">
                  <a:moveTo>
                    <a:pt x="0" y="0"/>
                  </a:moveTo>
                  <a:lnTo>
                    <a:pt x="20354544" y="0"/>
                  </a:lnTo>
                  <a:lnTo>
                    <a:pt x="20354544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7265" b="-337265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20354544" cy="10622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Demand rises across the lower temperature bands and reaches its highest average in the 0.3–0.4 band (93.88), then falls to 59.48 in the 0.4–0.5 band — showing the relationship is not a simple straight-line trend, without implying an optimal causal temperature.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  ·  ENVIRONMENTAL FACTORS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5800" y="795528"/>
            <a:ext cx="16870680" cy="960120"/>
            <a:chOff x="0" y="0"/>
            <a:chExt cx="22494240" cy="128016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1280160"/>
            </a:xfrm>
            <a:custGeom>
              <a:avLst/>
              <a:gdLst/>
              <a:ahLst/>
              <a:cxnLst/>
              <a:rect l="l" t="t" r="r" b="b"/>
              <a:pathLst>
                <a:path w="22494239" h="1280160">
                  <a:moveTo>
                    <a:pt x="0" y="0"/>
                  </a:moveTo>
                  <a:lnTo>
                    <a:pt x="22494239" y="0"/>
                  </a:lnTo>
                  <a:lnTo>
                    <a:pt x="224942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2379" b="-292379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12992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Humidity Shows a Negative Association with Demand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76277" y="1755648"/>
            <a:ext cx="1546951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685800" y="2125980"/>
            <a:ext cx="8092440" cy="411480"/>
            <a:chOff x="0" y="0"/>
            <a:chExt cx="1078992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789920" cy="548640"/>
            </a:xfrm>
            <a:custGeom>
              <a:avLst/>
              <a:gdLst/>
              <a:ahLst/>
              <a:cxnLst/>
              <a:rect l="l" t="t" r="r" b="b"/>
              <a:pathLst>
                <a:path w="10789920" h="548640">
                  <a:moveTo>
                    <a:pt x="0" y="0"/>
                  </a:moveTo>
                  <a:lnTo>
                    <a:pt x="10789920" y="0"/>
                  </a:lnTo>
                  <a:lnTo>
                    <a:pt x="10789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3205" b="-333205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1078992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CORRELATION WITH TOTAL RENTALS</a:t>
              </a:r>
            </a:p>
          </p:txBody>
        </p:sp>
      </p:grpSp>
      <p:sp>
        <p:nvSpPr>
          <p:cNvPr id="14" name="AutoShape 14"/>
          <p:cNvSpPr/>
          <p:nvPr/>
        </p:nvSpPr>
        <p:spPr>
          <a:xfrm>
            <a:off x="653417" y="2763854"/>
            <a:ext cx="8111487" cy="19112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5" y="2530706"/>
            <a:ext cx="9447457" cy="5051201"/>
          </a:xfrm>
          <a:prstGeom prst="rect">
            <a:avLst/>
          </a:prstGeom>
        </p:spPr>
      </p:pic>
      <p:grpSp>
        <p:nvGrpSpPr>
          <p:cNvPr id="16" name="Group 16"/>
          <p:cNvGrpSpPr/>
          <p:nvPr/>
        </p:nvGrpSpPr>
        <p:grpSpPr>
          <a:xfrm>
            <a:off x="9464040" y="2125980"/>
            <a:ext cx="8092440" cy="411480"/>
            <a:chOff x="0" y="0"/>
            <a:chExt cx="10789920" cy="5486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789920" cy="548640"/>
            </a:xfrm>
            <a:custGeom>
              <a:avLst/>
              <a:gdLst/>
              <a:ahLst/>
              <a:cxnLst/>
              <a:rect l="l" t="t" r="r" b="b"/>
              <a:pathLst>
                <a:path w="10789920" h="548640">
                  <a:moveTo>
                    <a:pt x="0" y="0"/>
                  </a:moveTo>
                  <a:lnTo>
                    <a:pt x="10789920" y="0"/>
                  </a:lnTo>
                  <a:lnTo>
                    <a:pt x="10789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3205" b="-333205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1078992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AVERAGE RENTALS BY HUMIDITY BAND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9464051" y="2768616"/>
            <a:ext cx="8111487" cy="19112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7212" y="2513215"/>
            <a:ext cx="9589975" cy="5046379"/>
          </a:xfrm>
          <a:prstGeom prst="rect">
            <a:avLst/>
          </a:prstGeom>
        </p:spPr>
      </p:pic>
      <p:grpSp>
        <p:nvGrpSpPr>
          <p:cNvPr id="21" name="Group 21"/>
          <p:cNvGrpSpPr/>
          <p:nvPr/>
        </p:nvGrpSpPr>
        <p:grpSpPr>
          <a:xfrm>
            <a:off x="685800" y="8915400"/>
            <a:ext cx="15951708" cy="685800"/>
            <a:chOff x="0" y="0"/>
            <a:chExt cx="21268944" cy="91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268944" cy="914400"/>
            </a:xfrm>
            <a:custGeom>
              <a:avLst/>
              <a:gdLst/>
              <a:ahLst/>
              <a:cxnLst/>
              <a:rect l="l" t="t" r="r" b="b"/>
              <a:pathLst>
                <a:path w="21268944" h="914400">
                  <a:moveTo>
                    <a:pt x="0" y="0"/>
                  </a:moveTo>
                  <a:lnTo>
                    <a:pt x="21268944" y="0"/>
                  </a:lnTo>
                  <a:lnTo>
                    <a:pt x="21268944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23" name="Group 23"/>
          <p:cNvGrpSpPr/>
          <p:nvPr/>
        </p:nvGrpSpPr>
        <p:grpSpPr>
          <a:xfrm>
            <a:off x="685800" y="8915400"/>
            <a:ext cx="82296" cy="685800"/>
            <a:chOff x="0" y="0"/>
            <a:chExt cx="109728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9728" cy="914400"/>
            </a:xfrm>
            <a:custGeom>
              <a:avLst/>
              <a:gdLst/>
              <a:ahLst/>
              <a:cxnLst/>
              <a:rect l="l" t="t" r="r" b="b"/>
              <a:pathLst>
                <a:path w="109728" h="914400">
                  <a:moveTo>
                    <a:pt x="0" y="0"/>
                  </a:moveTo>
                  <a:lnTo>
                    <a:pt x="109728" y="0"/>
                  </a:lnTo>
                  <a:lnTo>
                    <a:pt x="109728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028700" y="8956548"/>
            <a:ext cx="15265908" cy="603504"/>
            <a:chOff x="0" y="0"/>
            <a:chExt cx="20354544" cy="80467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0354544" cy="804672"/>
            </a:xfrm>
            <a:custGeom>
              <a:avLst/>
              <a:gdLst/>
              <a:ahLst/>
              <a:cxnLst/>
              <a:rect l="l" t="t" r="r" b="b"/>
              <a:pathLst>
                <a:path w="20354544" h="804672">
                  <a:moveTo>
                    <a:pt x="0" y="0"/>
                  </a:moveTo>
                  <a:lnTo>
                    <a:pt x="20354544" y="0"/>
                  </a:lnTo>
                  <a:lnTo>
                    <a:pt x="20354544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42882" b="-442882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0354544" cy="84277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Humidity shows a negative correlation with total rentals (−0.254), and average demand decreases steadily across higher humidity bands (82.98 → 42.07). Windspeed shows only a weak positive correlation (+0.104). Neither should be read as a proven driver of demand.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7049750" y="9738360"/>
            <a:ext cx="685800" cy="411480"/>
            <a:chOff x="0" y="0"/>
            <a:chExt cx="914400" cy="5486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14 / 17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15  ·  FORECAST ANALYSIS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71512" y="-388523"/>
            <a:ext cx="16870680" cy="3303594"/>
            <a:chOff x="0" y="0"/>
            <a:chExt cx="22494240" cy="44047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494239" cy="4404792"/>
            </a:xfrm>
            <a:custGeom>
              <a:avLst/>
              <a:gdLst/>
              <a:ahLst/>
              <a:cxnLst/>
              <a:rect l="l" t="t" r="r" b="b"/>
              <a:pathLst>
                <a:path w="22494239" h="4404792">
                  <a:moveTo>
                    <a:pt x="0" y="0"/>
                  </a:moveTo>
                  <a:lnTo>
                    <a:pt x="22494239" y="0"/>
                  </a:lnTo>
                  <a:lnTo>
                    <a:pt x="22494239" y="4404792"/>
                  </a:lnTo>
                  <a:lnTo>
                    <a:pt x="0" y="4404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974" b="-14036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22494240" cy="4423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The Model Projects Demand Over the Forecast Period</a:t>
              </a:r>
            </a:p>
          </p:txBody>
        </p:sp>
      </p:grpSp>
      <p:sp>
        <p:nvSpPr>
          <p:cNvPr id="10" name="AutoShape 10"/>
          <p:cNvSpPr/>
          <p:nvPr/>
        </p:nvSpPr>
        <p:spPr>
          <a:xfrm>
            <a:off x="685800" y="1755648"/>
            <a:ext cx="1463423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15 / 17</a:t>
              </a:r>
            </a:p>
          </p:txBody>
        </p:sp>
      </p:grp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0672" y="299379"/>
            <a:ext cx="20890510" cy="8091050"/>
          </a:xfrm>
          <a:prstGeom prst="rect">
            <a:avLst/>
          </a:prstGeom>
        </p:spPr>
      </p:pic>
      <p:grpSp>
        <p:nvGrpSpPr>
          <p:cNvPr id="15" name="Group 15"/>
          <p:cNvGrpSpPr/>
          <p:nvPr/>
        </p:nvGrpSpPr>
        <p:grpSpPr>
          <a:xfrm>
            <a:off x="701040" y="7338060"/>
            <a:ext cx="5349240" cy="460858"/>
            <a:chOff x="0" y="0"/>
            <a:chExt cx="7132320" cy="61447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132320" cy="614426"/>
            </a:xfrm>
            <a:custGeom>
              <a:avLst/>
              <a:gdLst/>
              <a:ahLst/>
              <a:cxnLst/>
              <a:rect l="l" t="t" r="r" b="b"/>
              <a:pathLst>
                <a:path w="7132320" h="61442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7022592" y="0"/>
                  </a:lnTo>
                  <a:cubicBezTo>
                    <a:pt x="7083172" y="0"/>
                    <a:pt x="7132320" y="49149"/>
                    <a:pt x="7132320" y="109728"/>
                  </a:cubicBezTo>
                  <a:lnTo>
                    <a:pt x="7132320" y="504698"/>
                  </a:lnTo>
                  <a:cubicBezTo>
                    <a:pt x="7132320" y="565277"/>
                    <a:pt x="7083172" y="614426"/>
                    <a:pt x="7022592" y="614426"/>
                  </a:cubicBezTo>
                  <a:lnTo>
                    <a:pt x="109728" y="614426"/>
                  </a:lnTo>
                  <a:cubicBezTo>
                    <a:pt x="49149" y="614426"/>
                    <a:pt x="0" y="565404"/>
                    <a:pt x="0" y="504698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6385560" y="7338060"/>
            <a:ext cx="5349240" cy="460858"/>
            <a:chOff x="0" y="0"/>
            <a:chExt cx="7132320" cy="61447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132320" cy="614426"/>
            </a:xfrm>
            <a:custGeom>
              <a:avLst/>
              <a:gdLst/>
              <a:ahLst/>
              <a:cxnLst/>
              <a:rect l="l" t="t" r="r" b="b"/>
              <a:pathLst>
                <a:path w="7132320" h="61442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7022592" y="0"/>
                  </a:lnTo>
                  <a:cubicBezTo>
                    <a:pt x="7083172" y="0"/>
                    <a:pt x="7132320" y="49149"/>
                    <a:pt x="7132320" y="109728"/>
                  </a:cubicBezTo>
                  <a:lnTo>
                    <a:pt x="7132320" y="504698"/>
                  </a:lnTo>
                  <a:cubicBezTo>
                    <a:pt x="7132320" y="565277"/>
                    <a:pt x="7083172" y="614426"/>
                    <a:pt x="7022592" y="614426"/>
                  </a:cubicBezTo>
                  <a:lnTo>
                    <a:pt x="109728" y="614426"/>
                  </a:lnTo>
                  <a:cubicBezTo>
                    <a:pt x="49149" y="614426"/>
                    <a:pt x="0" y="565404"/>
                    <a:pt x="0" y="504698"/>
                  </a:cubicBez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19" name="Group 19"/>
          <p:cNvGrpSpPr/>
          <p:nvPr/>
        </p:nvGrpSpPr>
        <p:grpSpPr>
          <a:xfrm>
            <a:off x="6577584" y="7369935"/>
            <a:ext cx="4965192" cy="378561"/>
            <a:chOff x="0" y="0"/>
            <a:chExt cx="6620256" cy="50474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620256" cy="504747"/>
            </a:xfrm>
            <a:custGeom>
              <a:avLst/>
              <a:gdLst/>
              <a:ahLst/>
              <a:cxnLst/>
              <a:rect l="l" t="t" r="r" b="b"/>
              <a:pathLst>
                <a:path w="6620256" h="504747">
                  <a:moveTo>
                    <a:pt x="0" y="0"/>
                  </a:moveTo>
                  <a:lnTo>
                    <a:pt x="6620256" y="0"/>
                  </a:lnTo>
                  <a:lnTo>
                    <a:pt x="6620256" y="504747"/>
                  </a:lnTo>
                  <a:lnTo>
                    <a:pt x="0" y="50474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5565" b="-205565"/>
              </a:stretch>
            </a:blipFill>
          </p:spPr>
        </p:sp>
        <p:sp>
          <p:nvSpPr>
            <p:cNvPr id="21" name="TextBox 21"/>
            <p:cNvSpPr txBox="1"/>
            <p:nvPr/>
          </p:nvSpPr>
          <p:spPr>
            <a:xfrm>
              <a:off x="0" y="-28575"/>
              <a:ext cx="6620256" cy="53332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Full 21-day forecast average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 rot="-10800000">
            <a:off x="3031236" y="7785202"/>
            <a:ext cx="384048" cy="159106"/>
            <a:chOff x="0" y="0"/>
            <a:chExt cx="512064" cy="21214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12064" cy="212090"/>
            </a:xfrm>
            <a:custGeom>
              <a:avLst/>
              <a:gdLst/>
              <a:ahLst/>
              <a:cxnLst/>
              <a:rect l="l" t="t" r="r" b="b"/>
              <a:pathLst>
                <a:path w="512064" h="212090">
                  <a:moveTo>
                    <a:pt x="0" y="212090"/>
                  </a:moveTo>
                  <a:lnTo>
                    <a:pt x="256032" y="0"/>
                  </a:lnTo>
                  <a:lnTo>
                    <a:pt x="512064" y="212090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24" name="Group 24"/>
          <p:cNvGrpSpPr/>
          <p:nvPr/>
        </p:nvGrpSpPr>
        <p:grpSpPr>
          <a:xfrm>
            <a:off x="693420" y="7921318"/>
            <a:ext cx="5349240" cy="504749"/>
            <a:chOff x="0" y="0"/>
            <a:chExt cx="7132320" cy="67299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132320" cy="672973"/>
            </a:xfrm>
            <a:custGeom>
              <a:avLst/>
              <a:gdLst/>
              <a:ahLst/>
              <a:cxnLst/>
              <a:rect l="l" t="t" r="r" b="b"/>
              <a:pathLst>
                <a:path w="7132320" h="672973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7022592" y="0"/>
                  </a:lnTo>
                  <a:cubicBezTo>
                    <a:pt x="7083172" y="0"/>
                    <a:pt x="7132320" y="49149"/>
                    <a:pt x="7132320" y="109728"/>
                  </a:cubicBezTo>
                  <a:lnTo>
                    <a:pt x="7132320" y="563245"/>
                  </a:lnTo>
                  <a:cubicBezTo>
                    <a:pt x="7132320" y="623824"/>
                    <a:pt x="7083172" y="672973"/>
                    <a:pt x="7022592" y="672973"/>
                  </a:cubicBezTo>
                  <a:lnTo>
                    <a:pt x="109728" y="672973"/>
                  </a:lnTo>
                  <a:cubicBezTo>
                    <a:pt x="49149" y="672973"/>
                    <a:pt x="0" y="623824"/>
                    <a:pt x="0" y="563245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6385560" y="7921318"/>
            <a:ext cx="5349240" cy="504749"/>
            <a:chOff x="0" y="0"/>
            <a:chExt cx="7132320" cy="67299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132320" cy="672973"/>
            </a:xfrm>
            <a:custGeom>
              <a:avLst/>
              <a:gdLst/>
              <a:ahLst/>
              <a:cxnLst/>
              <a:rect l="l" t="t" r="r" b="b"/>
              <a:pathLst>
                <a:path w="7132320" h="672973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7022592" y="0"/>
                  </a:lnTo>
                  <a:cubicBezTo>
                    <a:pt x="7083172" y="0"/>
                    <a:pt x="7132320" y="49149"/>
                    <a:pt x="7132320" y="109728"/>
                  </a:cubicBezTo>
                  <a:lnTo>
                    <a:pt x="7132320" y="563245"/>
                  </a:lnTo>
                  <a:cubicBezTo>
                    <a:pt x="7132320" y="623824"/>
                    <a:pt x="7083172" y="672973"/>
                    <a:pt x="7022592" y="672973"/>
                  </a:cubicBezTo>
                  <a:lnTo>
                    <a:pt x="109728" y="672973"/>
                  </a:lnTo>
                  <a:cubicBezTo>
                    <a:pt x="49149" y="672973"/>
                    <a:pt x="0" y="623824"/>
                    <a:pt x="0" y="563245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666746" y="8726472"/>
            <a:ext cx="15980283" cy="796671"/>
            <a:chOff x="0" y="0"/>
            <a:chExt cx="21307044" cy="106222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307044" cy="1062228"/>
            </a:xfrm>
            <a:custGeom>
              <a:avLst/>
              <a:gdLst/>
              <a:ahLst/>
              <a:cxnLst/>
              <a:rect l="l" t="t" r="r" b="b"/>
              <a:pathLst>
                <a:path w="21307044" h="1062228">
                  <a:moveTo>
                    <a:pt x="0" y="94869"/>
                  </a:moveTo>
                  <a:cubicBezTo>
                    <a:pt x="0" y="42418"/>
                    <a:pt x="42418" y="0"/>
                    <a:pt x="94869" y="0"/>
                  </a:cubicBezTo>
                  <a:lnTo>
                    <a:pt x="21212175" y="0"/>
                  </a:lnTo>
                  <a:cubicBezTo>
                    <a:pt x="21264499" y="0"/>
                    <a:pt x="21307044" y="42418"/>
                    <a:pt x="21307044" y="94869"/>
                  </a:cubicBezTo>
                  <a:lnTo>
                    <a:pt x="21307044" y="967359"/>
                  </a:lnTo>
                  <a:cubicBezTo>
                    <a:pt x="21307044" y="1019683"/>
                    <a:pt x="21264626" y="1062228"/>
                    <a:pt x="21212175" y="1062228"/>
                  </a:cubicBezTo>
                  <a:lnTo>
                    <a:pt x="94869" y="1062228"/>
                  </a:lnTo>
                  <a:cubicBezTo>
                    <a:pt x="42418" y="1062228"/>
                    <a:pt x="0" y="1019810"/>
                    <a:pt x="0" y="967359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E9A23B"/>
              </a:solidFill>
              <a:prstDash val="solid"/>
              <a:miter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681033" y="8740760"/>
            <a:ext cx="82296" cy="768096"/>
            <a:chOff x="0" y="0"/>
            <a:chExt cx="109728" cy="102412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9728" cy="1024128"/>
            </a:xfrm>
            <a:custGeom>
              <a:avLst/>
              <a:gdLst/>
              <a:ahLst/>
              <a:cxnLst/>
              <a:rect l="l" t="t" r="r" b="b"/>
              <a:pathLst>
                <a:path w="109728" h="1024128">
                  <a:moveTo>
                    <a:pt x="0" y="0"/>
                  </a:moveTo>
                  <a:lnTo>
                    <a:pt x="109728" y="0"/>
                  </a:lnTo>
                  <a:lnTo>
                    <a:pt x="109728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6311265" y="7250757"/>
            <a:ext cx="5074920" cy="1864416"/>
            <a:chOff x="0" y="0"/>
            <a:chExt cx="6766560" cy="248588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766560" cy="2485887"/>
            </a:xfrm>
            <a:custGeom>
              <a:avLst/>
              <a:gdLst/>
              <a:ahLst/>
              <a:cxnLst/>
              <a:rect l="l" t="t" r="r" b="b"/>
              <a:pathLst>
                <a:path w="6766560" h="2485887">
                  <a:moveTo>
                    <a:pt x="0" y="0"/>
                  </a:moveTo>
                  <a:lnTo>
                    <a:pt x="6766560" y="0"/>
                  </a:lnTo>
                  <a:lnTo>
                    <a:pt x="6766560" y="2485887"/>
                  </a:lnTo>
                  <a:lnTo>
                    <a:pt x="0" y="248588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01" b="33425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6766560" cy="249541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060"/>
                </a:lnSpc>
              </a:pPr>
              <a:r>
                <a:rPr lang="en-US" sz="255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1,543.28 rentals/day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44474" y="7379208"/>
            <a:ext cx="4965192" cy="378562"/>
            <a:chOff x="0" y="0"/>
            <a:chExt cx="6620256" cy="504749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6620256" cy="504748"/>
            </a:xfrm>
            <a:custGeom>
              <a:avLst/>
              <a:gdLst/>
              <a:ahLst/>
              <a:cxnLst/>
              <a:rect l="l" t="t" r="r" b="b"/>
              <a:pathLst>
                <a:path w="6620256" h="504748">
                  <a:moveTo>
                    <a:pt x="0" y="0"/>
                  </a:moveTo>
                  <a:lnTo>
                    <a:pt x="6620256" y="0"/>
                  </a:lnTo>
                  <a:lnTo>
                    <a:pt x="6620256" y="504748"/>
                  </a:lnTo>
                  <a:lnTo>
                    <a:pt x="0" y="5047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5564" b="-205565"/>
              </a:stretch>
            </a:blipFill>
          </p:spPr>
        </p:sp>
        <p:sp>
          <p:nvSpPr>
            <p:cNvPr id="37" name="TextBox 37"/>
            <p:cNvSpPr txBox="1"/>
            <p:nvPr/>
          </p:nvSpPr>
          <p:spPr>
            <a:xfrm>
              <a:off x="0" y="-28575"/>
              <a:ext cx="6620256" cy="53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First 7 forecast days avg.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 rot="-10800000">
            <a:off x="8868156" y="7775929"/>
            <a:ext cx="384048" cy="159106"/>
            <a:chOff x="0" y="0"/>
            <a:chExt cx="512064" cy="212141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12064" cy="212090"/>
            </a:xfrm>
            <a:custGeom>
              <a:avLst/>
              <a:gdLst/>
              <a:ahLst/>
              <a:cxnLst/>
              <a:rect l="l" t="t" r="r" b="b"/>
              <a:pathLst>
                <a:path w="512064" h="212090">
                  <a:moveTo>
                    <a:pt x="0" y="212090"/>
                  </a:moveTo>
                  <a:lnTo>
                    <a:pt x="256032" y="0"/>
                  </a:lnTo>
                  <a:lnTo>
                    <a:pt x="512064" y="212090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097280" y="7241484"/>
            <a:ext cx="5074920" cy="1864416"/>
            <a:chOff x="0" y="0"/>
            <a:chExt cx="6766560" cy="248588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766560" cy="2485887"/>
            </a:xfrm>
            <a:custGeom>
              <a:avLst/>
              <a:gdLst/>
              <a:ahLst/>
              <a:cxnLst/>
              <a:rect l="l" t="t" r="r" b="b"/>
              <a:pathLst>
                <a:path w="6766560" h="2485887">
                  <a:moveTo>
                    <a:pt x="0" y="0"/>
                  </a:moveTo>
                  <a:lnTo>
                    <a:pt x="6766560" y="0"/>
                  </a:lnTo>
                  <a:lnTo>
                    <a:pt x="6766560" y="2485887"/>
                  </a:lnTo>
                  <a:lnTo>
                    <a:pt x="0" y="248588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501" b="33425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9525"/>
              <a:ext cx="6766560" cy="249541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060"/>
                </a:lnSpc>
              </a:pPr>
              <a:r>
                <a:rPr lang="en-US" sz="255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1,500.49 rentals/day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77700" y="7338060"/>
            <a:ext cx="5143500" cy="460858"/>
            <a:chOff x="0" y="0"/>
            <a:chExt cx="6858000" cy="614477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858000" cy="614426"/>
            </a:xfrm>
            <a:custGeom>
              <a:avLst/>
              <a:gdLst/>
              <a:ahLst/>
              <a:cxnLst/>
              <a:rect l="l" t="t" r="r" b="b"/>
              <a:pathLst>
                <a:path w="6858000" h="61442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748272" y="0"/>
                  </a:lnTo>
                  <a:cubicBezTo>
                    <a:pt x="6808851" y="0"/>
                    <a:pt x="6858000" y="49149"/>
                    <a:pt x="6858000" y="109728"/>
                  </a:cubicBezTo>
                  <a:lnTo>
                    <a:pt x="6858000" y="504698"/>
                  </a:lnTo>
                  <a:cubicBezTo>
                    <a:pt x="6858000" y="565277"/>
                    <a:pt x="6808851" y="614426"/>
                    <a:pt x="6748272" y="614426"/>
                  </a:cubicBezTo>
                  <a:lnTo>
                    <a:pt x="109728" y="614426"/>
                  </a:lnTo>
                  <a:cubicBezTo>
                    <a:pt x="49149" y="614426"/>
                    <a:pt x="0" y="565404"/>
                    <a:pt x="0" y="504698"/>
                  </a:cubicBezTo>
                  <a:close/>
                </a:path>
              </a:pathLst>
            </a:custGeom>
            <a:solidFill>
              <a:srgbClr val="FCEEDA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12269724" y="7369935"/>
            <a:ext cx="4759452" cy="378562"/>
            <a:chOff x="0" y="0"/>
            <a:chExt cx="6345936" cy="50474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6345936" cy="504748"/>
            </a:xfrm>
            <a:custGeom>
              <a:avLst/>
              <a:gdLst/>
              <a:ahLst/>
              <a:cxnLst/>
              <a:rect l="l" t="t" r="r" b="b"/>
              <a:pathLst>
                <a:path w="6345936" h="504748">
                  <a:moveTo>
                    <a:pt x="0" y="0"/>
                  </a:moveTo>
                  <a:lnTo>
                    <a:pt x="6345936" y="0"/>
                  </a:lnTo>
                  <a:lnTo>
                    <a:pt x="6345936" y="504748"/>
                  </a:lnTo>
                  <a:lnTo>
                    <a:pt x="0" y="5047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4975" b="-194975"/>
              </a:stretch>
            </a:blipFill>
          </p:spPr>
        </p:sp>
        <p:sp>
          <p:nvSpPr>
            <p:cNvPr id="47" name="TextBox 47"/>
            <p:cNvSpPr txBox="1"/>
            <p:nvPr/>
          </p:nvSpPr>
          <p:spPr>
            <a:xfrm>
              <a:off x="0" y="-28575"/>
              <a:ext cx="6345936" cy="53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Forecast period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 rot="-10800000">
            <a:off x="14457426" y="7775929"/>
            <a:ext cx="384048" cy="159106"/>
            <a:chOff x="0" y="0"/>
            <a:chExt cx="512064" cy="212141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512064" cy="212090"/>
            </a:xfrm>
            <a:custGeom>
              <a:avLst/>
              <a:gdLst/>
              <a:ahLst/>
              <a:cxnLst/>
              <a:rect l="l" t="t" r="r" b="b"/>
              <a:pathLst>
                <a:path w="512064" h="212090">
                  <a:moveTo>
                    <a:pt x="0" y="212090"/>
                  </a:moveTo>
                  <a:lnTo>
                    <a:pt x="256032" y="0"/>
                  </a:lnTo>
                  <a:lnTo>
                    <a:pt x="512064" y="212090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50" name="Group 50"/>
          <p:cNvGrpSpPr/>
          <p:nvPr/>
        </p:nvGrpSpPr>
        <p:grpSpPr>
          <a:xfrm>
            <a:off x="12077700" y="7921318"/>
            <a:ext cx="5143500" cy="504749"/>
            <a:chOff x="0" y="0"/>
            <a:chExt cx="6858000" cy="672998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6858000" cy="672973"/>
            </a:xfrm>
            <a:custGeom>
              <a:avLst/>
              <a:gdLst/>
              <a:ahLst/>
              <a:cxnLst/>
              <a:rect l="l" t="t" r="r" b="b"/>
              <a:pathLst>
                <a:path w="6858000" h="672973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748272" y="0"/>
                  </a:lnTo>
                  <a:cubicBezTo>
                    <a:pt x="6808851" y="0"/>
                    <a:pt x="6858000" y="49149"/>
                    <a:pt x="6858000" y="109728"/>
                  </a:cubicBezTo>
                  <a:lnTo>
                    <a:pt x="6858000" y="563245"/>
                  </a:lnTo>
                  <a:cubicBezTo>
                    <a:pt x="6858000" y="623824"/>
                    <a:pt x="6808851" y="672973"/>
                    <a:pt x="6748272" y="672973"/>
                  </a:cubicBezTo>
                  <a:lnTo>
                    <a:pt x="109728" y="672973"/>
                  </a:lnTo>
                  <a:cubicBezTo>
                    <a:pt x="49149" y="672973"/>
                    <a:pt x="0" y="623824"/>
                    <a:pt x="0" y="563245"/>
                  </a:cubicBez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52" name="Group 52"/>
          <p:cNvGrpSpPr/>
          <p:nvPr/>
        </p:nvGrpSpPr>
        <p:grpSpPr>
          <a:xfrm>
            <a:off x="12214860" y="7921318"/>
            <a:ext cx="4869180" cy="504749"/>
            <a:chOff x="0" y="0"/>
            <a:chExt cx="6492240" cy="67299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492240" cy="672998"/>
            </a:xfrm>
            <a:custGeom>
              <a:avLst/>
              <a:gdLst/>
              <a:ahLst/>
              <a:cxnLst/>
              <a:rect l="l" t="t" r="r" b="b"/>
              <a:pathLst>
                <a:path w="6492240" h="672998">
                  <a:moveTo>
                    <a:pt x="0" y="0"/>
                  </a:moveTo>
                  <a:lnTo>
                    <a:pt x="6492240" y="0"/>
                  </a:lnTo>
                  <a:lnTo>
                    <a:pt x="6492240" y="672998"/>
                  </a:lnTo>
                  <a:lnTo>
                    <a:pt x="0" y="67299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7967" b="-137967"/>
              </a:stretch>
            </a:blip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492240" cy="6920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15 Feb – 7 Mar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00298" y="8779132"/>
            <a:ext cx="15446157" cy="672084"/>
            <a:chOff x="0" y="0"/>
            <a:chExt cx="20594876" cy="89611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20594875" cy="896112"/>
            </a:xfrm>
            <a:custGeom>
              <a:avLst/>
              <a:gdLst/>
              <a:ahLst/>
              <a:cxnLst/>
              <a:rect l="l" t="t" r="r" b="b"/>
              <a:pathLst>
                <a:path w="20594875" h="896112">
                  <a:moveTo>
                    <a:pt x="0" y="0"/>
                  </a:moveTo>
                  <a:lnTo>
                    <a:pt x="20594875" y="0"/>
                  </a:lnTo>
                  <a:lnTo>
                    <a:pt x="20594875" y="896112"/>
                  </a:lnTo>
                  <a:lnTo>
                    <a:pt x="0" y="8961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2588" r="1166" b="-392588"/>
              </a:stretch>
            </a:blipFill>
          </p:spPr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20594876" cy="93421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Based on the Forecast method: Excel FORECAST.ETS, the model projects an average of about 1,500 rentals/day for the first 7 forecast days — a projection, not a guaranteed outcome. Prediction intervals are not shown.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60" name="TextBox 60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560204" y="6943115"/>
            <a:ext cx="17408758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20"/>
              </a:lnSpc>
              <a:spcBef>
                <a:spcPct val="0"/>
              </a:spcBef>
            </a:pPr>
            <a:r>
              <a:rPr lang="en-US" sz="13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16  ·  ANOMALY DETECTION (IQR METHOD)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71512" y="-682435"/>
            <a:ext cx="17797673" cy="3914458"/>
            <a:chOff x="0" y="0"/>
            <a:chExt cx="23730231" cy="52192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3730231" cy="5219277"/>
            </a:xfrm>
            <a:custGeom>
              <a:avLst/>
              <a:gdLst/>
              <a:ahLst/>
              <a:cxnLst/>
              <a:rect l="l" t="t" r="r" b="b"/>
              <a:pathLst>
                <a:path w="23730231" h="5219277">
                  <a:moveTo>
                    <a:pt x="0" y="0"/>
                  </a:moveTo>
                  <a:lnTo>
                    <a:pt x="23730231" y="0"/>
                  </a:lnTo>
                  <a:lnTo>
                    <a:pt x="23730231" y="5219277"/>
                  </a:lnTo>
                  <a:lnTo>
                    <a:pt x="0" y="52192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1713" r="5208" b="3758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3730231" cy="522880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280"/>
                </a:lnSpc>
              </a:pPr>
              <a:r>
                <a:rPr lang="en-US" sz="44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One Anomaly Flagged — 14 Feb, the Dataset’s Final Partial Day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16 / 17</a:t>
              </a:r>
            </a:p>
          </p:txBody>
        </p:sp>
      </p:grp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12852" y="1202606"/>
            <a:ext cx="13421357" cy="7883998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2207240" y="2194560"/>
            <a:ext cx="5212080" cy="411480"/>
            <a:chOff x="0" y="0"/>
            <a:chExt cx="6949440" cy="5486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49440" cy="548640"/>
            </a:xfrm>
            <a:custGeom>
              <a:avLst/>
              <a:gdLst/>
              <a:ahLst/>
              <a:cxnLst/>
              <a:rect l="l" t="t" r="r" b="b"/>
              <a:pathLst>
                <a:path w="6949440" h="548640">
                  <a:moveTo>
                    <a:pt x="0" y="0"/>
                  </a:moveTo>
                  <a:lnTo>
                    <a:pt x="6949440" y="0"/>
                  </a:lnTo>
                  <a:lnTo>
                    <a:pt x="69494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6810" b="-196810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4944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IQR THRESHOLDS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 rot="12540">
            <a:off x="12197696" y="2628710"/>
            <a:ext cx="5231168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" name="Group 18"/>
          <p:cNvGrpSpPr/>
          <p:nvPr/>
        </p:nvGrpSpPr>
        <p:grpSpPr>
          <a:xfrm>
            <a:off x="12207240" y="2743200"/>
            <a:ext cx="5212080" cy="432054"/>
            <a:chOff x="0" y="0"/>
            <a:chExt cx="6949440" cy="5760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949440" cy="576072"/>
            </a:xfrm>
            <a:custGeom>
              <a:avLst/>
              <a:gdLst/>
              <a:ahLst/>
              <a:cxnLst/>
              <a:rect l="l" t="t" r="r" b="b"/>
              <a:pathLst>
                <a:path w="6949440" h="576072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839712" y="0"/>
                  </a:lnTo>
                  <a:cubicBezTo>
                    <a:pt x="6900291" y="0"/>
                    <a:pt x="6949440" y="49149"/>
                    <a:pt x="6949440" y="109728"/>
                  </a:cubicBezTo>
                  <a:lnTo>
                    <a:pt x="6949440" y="466344"/>
                  </a:lnTo>
                  <a:cubicBezTo>
                    <a:pt x="6949440" y="526923"/>
                    <a:pt x="6900291" y="576072"/>
                    <a:pt x="6839712" y="576072"/>
                  </a:cubicBezTo>
                  <a:lnTo>
                    <a:pt x="109728" y="576072"/>
                  </a:lnTo>
                  <a:cubicBezTo>
                    <a:pt x="49149" y="576072"/>
                    <a:pt x="0" y="526923"/>
                    <a:pt x="0" y="466344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12399264" y="2784348"/>
            <a:ext cx="4828032" cy="349758"/>
            <a:chOff x="0" y="0"/>
            <a:chExt cx="6437376" cy="46634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437376" cy="466344"/>
            </a:xfrm>
            <a:custGeom>
              <a:avLst/>
              <a:gdLst/>
              <a:ahLst/>
              <a:cxnLst/>
              <a:rect l="l" t="t" r="r" b="b"/>
              <a:pathLst>
                <a:path w="6437376" h="466344">
                  <a:moveTo>
                    <a:pt x="0" y="0"/>
                  </a:moveTo>
                  <a:lnTo>
                    <a:pt x="6437376" y="0"/>
                  </a:lnTo>
                  <a:lnTo>
                    <a:pt x="6437376" y="466344"/>
                  </a:lnTo>
                  <a:lnTo>
                    <a:pt x="0" y="466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8969" b="-218969"/>
              </a:stretch>
            </a:blip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6437376" cy="4949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Lower threshold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 rot="-10800000">
            <a:off x="14621256" y="3161538"/>
            <a:ext cx="384048" cy="150876"/>
            <a:chOff x="0" y="0"/>
            <a:chExt cx="512064" cy="20116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12064" cy="201168"/>
            </a:xfrm>
            <a:custGeom>
              <a:avLst/>
              <a:gdLst/>
              <a:ahLst/>
              <a:cxnLst/>
              <a:rect l="l" t="t" r="r" b="b"/>
              <a:pathLst>
                <a:path w="512064" h="201168">
                  <a:moveTo>
                    <a:pt x="0" y="201168"/>
                  </a:moveTo>
                  <a:lnTo>
                    <a:pt x="256032" y="0"/>
                  </a:lnTo>
                  <a:lnTo>
                    <a:pt x="512064" y="201168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2207240" y="3298698"/>
            <a:ext cx="5212080" cy="473202"/>
            <a:chOff x="0" y="0"/>
            <a:chExt cx="6949440" cy="63093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949440" cy="630936"/>
            </a:xfrm>
            <a:custGeom>
              <a:avLst/>
              <a:gdLst/>
              <a:ahLst/>
              <a:cxnLst/>
              <a:rect l="l" t="t" r="r" b="b"/>
              <a:pathLst>
                <a:path w="6949440" h="63093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839712" y="0"/>
                  </a:lnTo>
                  <a:cubicBezTo>
                    <a:pt x="6900291" y="0"/>
                    <a:pt x="6949440" y="49149"/>
                    <a:pt x="6949440" y="109728"/>
                  </a:cubicBezTo>
                  <a:lnTo>
                    <a:pt x="6949440" y="521208"/>
                  </a:lnTo>
                  <a:cubicBezTo>
                    <a:pt x="6949440" y="581787"/>
                    <a:pt x="6900291" y="630936"/>
                    <a:pt x="6839712" y="630936"/>
                  </a:cubicBezTo>
                  <a:lnTo>
                    <a:pt x="109728" y="630936"/>
                  </a:lnTo>
                  <a:cubicBezTo>
                    <a:pt x="49149" y="630936"/>
                    <a:pt x="0" y="581787"/>
                    <a:pt x="0" y="521208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12344400" y="3298698"/>
            <a:ext cx="4937760" cy="473202"/>
            <a:chOff x="0" y="0"/>
            <a:chExt cx="6583680" cy="63093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583680" cy="630936"/>
            </a:xfrm>
            <a:custGeom>
              <a:avLst/>
              <a:gdLst/>
              <a:ahLst/>
              <a:cxnLst/>
              <a:rect l="l" t="t" r="r" b="b"/>
              <a:pathLst>
                <a:path w="6583680" h="630936">
                  <a:moveTo>
                    <a:pt x="0" y="0"/>
                  </a:moveTo>
                  <a:lnTo>
                    <a:pt x="6583680" y="0"/>
                  </a:lnTo>
                  <a:lnTo>
                    <a:pt x="6583680" y="630936"/>
                  </a:lnTo>
                  <a:lnTo>
                    <a:pt x="0" y="6309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3322" b="-153322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6583680" cy="64046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169.5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207240" y="3909060"/>
            <a:ext cx="5212080" cy="432054"/>
            <a:chOff x="0" y="0"/>
            <a:chExt cx="6949440" cy="576072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949440" cy="576072"/>
            </a:xfrm>
            <a:custGeom>
              <a:avLst/>
              <a:gdLst/>
              <a:ahLst/>
              <a:cxnLst/>
              <a:rect l="l" t="t" r="r" b="b"/>
              <a:pathLst>
                <a:path w="6949440" h="576072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839712" y="0"/>
                  </a:lnTo>
                  <a:cubicBezTo>
                    <a:pt x="6900291" y="0"/>
                    <a:pt x="6949440" y="49149"/>
                    <a:pt x="6949440" y="109728"/>
                  </a:cubicBezTo>
                  <a:lnTo>
                    <a:pt x="6949440" y="466344"/>
                  </a:lnTo>
                  <a:cubicBezTo>
                    <a:pt x="6949440" y="526923"/>
                    <a:pt x="6900291" y="576072"/>
                    <a:pt x="6839712" y="576072"/>
                  </a:cubicBezTo>
                  <a:lnTo>
                    <a:pt x="109728" y="576072"/>
                  </a:lnTo>
                  <a:cubicBezTo>
                    <a:pt x="49149" y="576072"/>
                    <a:pt x="0" y="526923"/>
                    <a:pt x="0" y="466344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2399264" y="3950208"/>
            <a:ext cx="4828032" cy="349758"/>
            <a:chOff x="0" y="0"/>
            <a:chExt cx="6437376" cy="46634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437376" cy="466344"/>
            </a:xfrm>
            <a:custGeom>
              <a:avLst/>
              <a:gdLst/>
              <a:ahLst/>
              <a:cxnLst/>
              <a:rect l="l" t="t" r="r" b="b"/>
              <a:pathLst>
                <a:path w="6437376" h="466344">
                  <a:moveTo>
                    <a:pt x="0" y="0"/>
                  </a:moveTo>
                  <a:lnTo>
                    <a:pt x="6437376" y="0"/>
                  </a:lnTo>
                  <a:lnTo>
                    <a:pt x="6437376" y="466344"/>
                  </a:lnTo>
                  <a:lnTo>
                    <a:pt x="0" y="466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8969" b="-218969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6437376" cy="4949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Upper threshold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 rot="-10800000">
            <a:off x="14621256" y="4327398"/>
            <a:ext cx="384048" cy="150876"/>
            <a:chOff x="0" y="0"/>
            <a:chExt cx="512064" cy="20116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12064" cy="201168"/>
            </a:xfrm>
            <a:custGeom>
              <a:avLst/>
              <a:gdLst/>
              <a:ahLst/>
              <a:cxnLst/>
              <a:rect l="l" t="t" r="r" b="b"/>
              <a:pathLst>
                <a:path w="512064" h="201168">
                  <a:moveTo>
                    <a:pt x="0" y="201168"/>
                  </a:moveTo>
                  <a:lnTo>
                    <a:pt x="256032" y="0"/>
                  </a:lnTo>
                  <a:lnTo>
                    <a:pt x="512064" y="201168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12207240" y="4464558"/>
            <a:ext cx="5212080" cy="473202"/>
            <a:chOff x="0" y="0"/>
            <a:chExt cx="6949440" cy="630936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949440" cy="630936"/>
            </a:xfrm>
            <a:custGeom>
              <a:avLst/>
              <a:gdLst/>
              <a:ahLst/>
              <a:cxnLst/>
              <a:rect l="l" t="t" r="r" b="b"/>
              <a:pathLst>
                <a:path w="6949440" h="63093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839712" y="0"/>
                  </a:lnTo>
                  <a:cubicBezTo>
                    <a:pt x="6900291" y="0"/>
                    <a:pt x="6949440" y="49149"/>
                    <a:pt x="6949440" y="109728"/>
                  </a:cubicBezTo>
                  <a:lnTo>
                    <a:pt x="6949440" y="521208"/>
                  </a:lnTo>
                  <a:cubicBezTo>
                    <a:pt x="6949440" y="581787"/>
                    <a:pt x="6900291" y="630936"/>
                    <a:pt x="6839712" y="630936"/>
                  </a:cubicBezTo>
                  <a:lnTo>
                    <a:pt x="109728" y="630936"/>
                  </a:lnTo>
                  <a:cubicBezTo>
                    <a:pt x="49149" y="630936"/>
                    <a:pt x="0" y="581787"/>
                    <a:pt x="0" y="521208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2344400" y="4464558"/>
            <a:ext cx="4937760" cy="473202"/>
            <a:chOff x="0" y="0"/>
            <a:chExt cx="6583680" cy="63093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6583680" cy="630936"/>
            </a:xfrm>
            <a:custGeom>
              <a:avLst/>
              <a:gdLst/>
              <a:ahLst/>
              <a:cxnLst/>
              <a:rect l="l" t="t" r="r" b="b"/>
              <a:pathLst>
                <a:path w="6583680" h="630936">
                  <a:moveTo>
                    <a:pt x="0" y="0"/>
                  </a:moveTo>
                  <a:lnTo>
                    <a:pt x="6583680" y="0"/>
                  </a:lnTo>
                  <a:lnTo>
                    <a:pt x="6583680" y="630936"/>
                  </a:lnTo>
                  <a:lnTo>
                    <a:pt x="0" y="6309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3322" b="-153322"/>
              </a:stretch>
            </a:blipFill>
          </p:spPr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6583680" cy="64046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2,397.5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2207240" y="5074920"/>
            <a:ext cx="5212080" cy="432054"/>
            <a:chOff x="0" y="0"/>
            <a:chExt cx="6949440" cy="57607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6949440" cy="576072"/>
            </a:xfrm>
            <a:custGeom>
              <a:avLst/>
              <a:gdLst/>
              <a:ahLst/>
              <a:cxnLst/>
              <a:rect l="l" t="t" r="r" b="b"/>
              <a:pathLst>
                <a:path w="6949440" h="576072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839712" y="0"/>
                  </a:lnTo>
                  <a:cubicBezTo>
                    <a:pt x="6900291" y="0"/>
                    <a:pt x="6949440" y="49149"/>
                    <a:pt x="6949440" y="109728"/>
                  </a:cubicBezTo>
                  <a:lnTo>
                    <a:pt x="6949440" y="466344"/>
                  </a:lnTo>
                  <a:cubicBezTo>
                    <a:pt x="6949440" y="526923"/>
                    <a:pt x="6900291" y="576072"/>
                    <a:pt x="6839712" y="576072"/>
                  </a:cubicBezTo>
                  <a:lnTo>
                    <a:pt x="109728" y="576072"/>
                  </a:lnTo>
                  <a:cubicBezTo>
                    <a:pt x="49149" y="576072"/>
                    <a:pt x="0" y="526923"/>
                    <a:pt x="0" y="466344"/>
                  </a:cubicBezTo>
                  <a:close/>
                </a:path>
              </a:pathLst>
            </a:custGeom>
            <a:solidFill>
              <a:srgbClr val="FCEEDA"/>
            </a:solidFill>
          </p:spPr>
        </p:sp>
      </p:grpSp>
      <p:grpSp>
        <p:nvGrpSpPr>
          <p:cNvPr id="44" name="Group 44"/>
          <p:cNvGrpSpPr/>
          <p:nvPr/>
        </p:nvGrpSpPr>
        <p:grpSpPr>
          <a:xfrm>
            <a:off x="12399264" y="5116068"/>
            <a:ext cx="4828032" cy="349758"/>
            <a:chOff x="0" y="0"/>
            <a:chExt cx="6437376" cy="466344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6437376" cy="466344"/>
            </a:xfrm>
            <a:custGeom>
              <a:avLst/>
              <a:gdLst/>
              <a:ahLst/>
              <a:cxnLst/>
              <a:rect l="l" t="t" r="r" b="b"/>
              <a:pathLst>
                <a:path w="6437376" h="466344">
                  <a:moveTo>
                    <a:pt x="0" y="0"/>
                  </a:moveTo>
                  <a:lnTo>
                    <a:pt x="6437376" y="0"/>
                  </a:lnTo>
                  <a:lnTo>
                    <a:pt x="6437376" y="466344"/>
                  </a:lnTo>
                  <a:lnTo>
                    <a:pt x="0" y="4663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8969" b="-218969"/>
              </a:stretch>
            </a:blipFill>
          </p:spPr>
        </p:sp>
        <p:sp>
          <p:nvSpPr>
            <p:cNvPr id="46" name="TextBox 46"/>
            <p:cNvSpPr txBox="1"/>
            <p:nvPr/>
          </p:nvSpPr>
          <p:spPr>
            <a:xfrm>
              <a:off x="0" y="-28575"/>
              <a:ext cx="6437376" cy="4949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Days flagged (0 High / 1 Low)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 rot="-10800000">
            <a:off x="14621256" y="5493258"/>
            <a:ext cx="384048" cy="150876"/>
            <a:chOff x="0" y="0"/>
            <a:chExt cx="512064" cy="201168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12064" cy="201168"/>
            </a:xfrm>
            <a:custGeom>
              <a:avLst/>
              <a:gdLst/>
              <a:ahLst/>
              <a:cxnLst/>
              <a:rect l="l" t="t" r="r" b="b"/>
              <a:pathLst>
                <a:path w="512064" h="201168">
                  <a:moveTo>
                    <a:pt x="0" y="201168"/>
                  </a:moveTo>
                  <a:lnTo>
                    <a:pt x="256032" y="0"/>
                  </a:lnTo>
                  <a:lnTo>
                    <a:pt x="512064" y="201168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49" name="Group 49"/>
          <p:cNvGrpSpPr/>
          <p:nvPr/>
        </p:nvGrpSpPr>
        <p:grpSpPr>
          <a:xfrm>
            <a:off x="12207240" y="5630418"/>
            <a:ext cx="5212080" cy="473202"/>
            <a:chOff x="0" y="0"/>
            <a:chExt cx="6949440" cy="630936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949440" cy="630936"/>
            </a:xfrm>
            <a:custGeom>
              <a:avLst/>
              <a:gdLst/>
              <a:ahLst/>
              <a:cxnLst/>
              <a:rect l="l" t="t" r="r" b="b"/>
              <a:pathLst>
                <a:path w="6949440" h="630936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6839712" y="0"/>
                  </a:lnTo>
                  <a:cubicBezTo>
                    <a:pt x="6900291" y="0"/>
                    <a:pt x="6949440" y="49149"/>
                    <a:pt x="6949440" y="109728"/>
                  </a:cubicBezTo>
                  <a:lnTo>
                    <a:pt x="6949440" y="521208"/>
                  </a:lnTo>
                  <a:cubicBezTo>
                    <a:pt x="6949440" y="581787"/>
                    <a:pt x="6900291" y="630936"/>
                    <a:pt x="6839712" y="630936"/>
                  </a:cubicBezTo>
                  <a:lnTo>
                    <a:pt x="109728" y="630936"/>
                  </a:lnTo>
                  <a:cubicBezTo>
                    <a:pt x="49149" y="630936"/>
                    <a:pt x="0" y="581787"/>
                    <a:pt x="0" y="521208"/>
                  </a:cubicBez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51" name="Group 51"/>
          <p:cNvGrpSpPr/>
          <p:nvPr/>
        </p:nvGrpSpPr>
        <p:grpSpPr>
          <a:xfrm>
            <a:off x="12344400" y="5630418"/>
            <a:ext cx="4937760" cy="473202"/>
            <a:chOff x="0" y="0"/>
            <a:chExt cx="6583680" cy="630936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6583680" cy="630936"/>
            </a:xfrm>
            <a:custGeom>
              <a:avLst/>
              <a:gdLst/>
              <a:ahLst/>
              <a:cxnLst/>
              <a:rect l="l" t="t" r="r" b="b"/>
              <a:pathLst>
                <a:path w="6583680" h="630936">
                  <a:moveTo>
                    <a:pt x="0" y="0"/>
                  </a:moveTo>
                  <a:lnTo>
                    <a:pt x="6583680" y="0"/>
                  </a:lnTo>
                  <a:lnTo>
                    <a:pt x="6583680" y="630936"/>
                  </a:lnTo>
                  <a:lnTo>
                    <a:pt x="0" y="6309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3322" b="-153322"/>
              </a:stretch>
            </a:blipFill>
          </p:spPr>
        </p:sp>
        <p:sp>
          <p:nvSpPr>
            <p:cNvPr id="53" name="TextBox 53"/>
            <p:cNvSpPr txBox="1"/>
            <p:nvPr/>
          </p:nvSpPr>
          <p:spPr>
            <a:xfrm>
              <a:off x="0" y="-9525"/>
              <a:ext cx="6583680" cy="64046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 of 45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216767" y="6417945"/>
            <a:ext cx="5212080" cy="1371600"/>
            <a:chOff x="0" y="0"/>
            <a:chExt cx="6949440" cy="18288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6949440" cy="1828800"/>
            </a:xfrm>
            <a:custGeom>
              <a:avLst/>
              <a:gdLst/>
              <a:ahLst/>
              <a:cxnLst/>
              <a:rect l="l" t="t" r="r" b="b"/>
              <a:pathLst>
                <a:path w="6949440" h="1828800">
                  <a:moveTo>
                    <a:pt x="0" y="0"/>
                  </a:moveTo>
                  <a:lnTo>
                    <a:pt x="6949440" y="0"/>
                  </a:lnTo>
                  <a:lnTo>
                    <a:pt x="694944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043" b="-24043"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6949440" cy="18669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29"/>
                </a:lnSpc>
              </a:pPr>
              <a:r>
                <a:rPr lang="en-US" sz="1774" i="1">
                  <a:solidFill>
                    <a:srgbClr val="FF5757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Flagged: 14-Feb-2011 — 151 rentals; the dataset ends at 07:00 that day.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71512" y="8701582"/>
            <a:ext cx="15980283" cy="796671"/>
            <a:chOff x="0" y="0"/>
            <a:chExt cx="21307044" cy="1062228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21307044" cy="1062228"/>
            </a:xfrm>
            <a:custGeom>
              <a:avLst/>
              <a:gdLst/>
              <a:ahLst/>
              <a:cxnLst/>
              <a:rect l="l" t="t" r="r" b="b"/>
              <a:pathLst>
                <a:path w="21307044" h="1062228">
                  <a:moveTo>
                    <a:pt x="0" y="94869"/>
                  </a:moveTo>
                  <a:cubicBezTo>
                    <a:pt x="0" y="42418"/>
                    <a:pt x="42418" y="0"/>
                    <a:pt x="94869" y="0"/>
                  </a:cubicBezTo>
                  <a:lnTo>
                    <a:pt x="21212175" y="0"/>
                  </a:lnTo>
                  <a:cubicBezTo>
                    <a:pt x="21264499" y="0"/>
                    <a:pt x="21307044" y="42418"/>
                    <a:pt x="21307044" y="94869"/>
                  </a:cubicBezTo>
                  <a:lnTo>
                    <a:pt x="21307044" y="967359"/>
                  </a:lnTo>
                  <a:cubicBezTo>
                    <a:pt x="21307044" y="1019683"/>
                    <a:pt x="21264626" y="1062228"/>
                    <a:pt x="21212175" y="1062228"/>
                  </a:cubicBezTo>
                  <a:lnTo>
                    <a:pt x="94869" y="1062228"/>
                  </a:lnTo>
                  <a:cubicBezTo>
                    <a:pt x="42418" y="1062228"/>
                    <a:pt x="0" y="1019810"/>
                    <a:pt x="0" y="967359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E9A23B"/>
              </a:solidFill>
              <a:prstDash val="solid"/>
              <a:miter/>
            </a:ln>
          </p:spPr>
        </p:sp>
      </p:grpSp>
      <p:grpSp>
        <p:nvGrpSpPr>
          <p:cNvPr id="59" name="Group 59"/>
          <p:cNvGrpSpPr/>
          <p:nvPr/>
        </p:nvGrpSpPr>
        <p:grpSpPr>
          <a:xfrm>
            <a:off x="685800" y="8715870"/>
            <a:ext cx="82296" cy="768096"/>
            <a:chOff x="0" y="0"/>
            <a:chExt cx="109728" cy="1024128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109728" cy="1024128"/>
            </a:xfrm>
            <a:custGeom>
              <a:avLst/>
              <a:gdLst/>
              <a:ahLst/>
              <a:cxnLst/>
              <a:rect l="l" t="t" r="r" b="b"/>
              <a:pathLst>
                <a:path w="109728" h="1024128">
                  <a:moveTo>
                    <a:pt x="0" y="0"/>
                  </a:moveTo>
                  <a:lnTo>
                    <a:pt x="109728" y="0"/>
                  </a:lnTo>
                  <a:lnTo>
                    <a:pt x="109728" y="1024128"/>
                  </a:lnTo>
                  <a:lnTo>
                    <a:pt x="0" y="1024128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61" name="Group 61"/>
          <p:cNvGrpSpPr/>
          <p:nvPr/>
        </p:nvGrpSpPr>
        <p:grpSpPr>
          <a:xfrm>
            <a:off x="1028700" y="8757018"/>
            <a:ext cx="15265908" cy="685800"/>
            <a:chOff x="0" y="0"/>
            <a:chExt cx="20354544" cy="9144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20354544" cy="914400"/>
            </a:xfrm>
            <a:custGeom>
              <a:avLst/>
              <a:gdLst/>
              <a:ahLst/>
              <a:cxnLst/>
              <a:rect l="l" t="t" r="r" b="b"/>
              <a:pathLst>
                <a:path w="20354544" h="914400">
                  <a:moveTo>
                    <a:pt x="0" y="0"/>
                  </a:moveTo>
                  <a:lnTo>
                    <a:pt x="20354544" y="0"/>
                  </a:lnTo>
                  <a:lnTo>
                    <a:pt x="203545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83736" b="-383736"/>
              </a:stretch>
            </a:blipFill>
          </p:spPr>
        </p:sp>
        <p:sp>
          <p:nvSpPr>
            <p:cNvPr id="63" name="TextBox 63"/>
            <p:cNvSpPr txBox="1"/>
            <p:nvPr/>
          </p:nvSpPr>
          <p:spPr>
            <a:xfrm>
              <a:off x="0" y="-38100"/>
              <a:ext cx="20354544" cy="9525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IQR method flagged 14 February as a low-demand day (151 rentals). However, the dataset ends at 07:00 on that date, so the total reflects a partial day rather than a genuine drop in demand.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66" name="TextBox 66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sp>
        <p:nvSpPr>
          <p:cNvPr id="67" name="AutoShape 67"/>
          <p:cNvSpPr/>
          <p:nvPr/>
        </p:nvSpPr>
        <p:spPr>
          <a:xfrm>
            <a:off x="685800" y="1704148"/>
            <a:ext cx="1537480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90619" y="2908478"/>
            <a:ext cx="10081260" cy="746453"/>
            <a:chOff x="0" y="0"/>
            <a:chExt cx="13441680" cy="9952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441680" cy="995274"/>
            </a:xfrm>
            <a:custGeom>
              <a:avLst/>
              <a:gdLst/>
              <a:ahLst/>
              <a:cxnLst/>
              <a:rect l="l" t="t" r="r" b="b"/>
              <a:pathLst>
                <a:path w="13441680" h="995274">
                  <a:moveTo>
                    <a:pt x="0" y="0"/>
                  </a:moveTo>
                  <a:lnTo>
                    <a:pt x="13441680" y="0"/>
                  </a:lnTo>
                  <a:lnTo>
                    <a:pt x="13441680" y="995274"/>
                  </a:lnTo>
                  <a:lnTo>
                    <a:pt x="0" y="9952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14858" b="-211451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441680" cy="103337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Demand peaks around 08:00 and 17:00 (140.2 rentals/hour at 17:00); working days average 64.14 vs 47.65 on non-working days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85800" y="-377406"/>
            <a:ext cx="16870680" cy="3303594"/>
            <a:chOff x="0" y="0"/>
            <a:chExt cx="22494240" cy="440479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494239" cy="4404792"/>
            </a:xfrm>
            <a:custGeom>
              <a:avLst/>
              <a:gdLst/>
              <a:ahLst/>
              <a:cxnLst/>
              <a:rect l="l" t="t" r="r" b="b"/>
              <a:pathLst>
                <a:path w="22494239" h="4404792">
                  <a:moveTo>
                    <a:pt x="0" y="0"/>
                  </a:moveTo>
                  <a:lnTo>
                    <a:pt x="22494239" y="0"/>
                  </a:lnTo>
                  <a:lnTo>
                    <a:pt x="22494239" y="4404792"/>
                  </a:lnTo>
                  <a:lnTo>
                    <a:pt x="0" y="4404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974" b="-14036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2494240" cy="4423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73F5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Findings, Limitations &amp; Recommendations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3428" cy="123444"/>
            <a:chOff x="0" y="0"/>
            <a:chExt cx="24377904" cy="1645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77904" cy="164592"/>
            </a:xfrm>
            <a:custGeom>
              <a:avLst/>
              <a:gdLst/>
              <a:ahLst/>
              <a:cxnLst/>
              <a:rect l="l" t="t" r="r" b="b"/>
              <a:pathLst>
                <a:path w="24377904" h="164592">
                  <a:moveTo>
                    <a:pt x="0" y="0"/>
                  </a:moveTo>
                  <a:lnTo>
                    <a:pt x="24377904" y="0"/>
                  </a:lnTo>
                  <a:lnTo>
                    <a:pt x="24377904" y="164592"/>
                  </a:lnTo>
                  <a:lnTo>
                    <a:pt x="0" y="164592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85800" y="438912"/>
            <a:ext cx="12344400" cy="411480"/>
            <a:chOff x="0" y="0"/>
            <a:chExt cx="1645920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548640"/>
            </a:xfrm>
            <a:custGeom>
              <a:avLst/>
              <a:gdLst/>
              <a:ahLst/>
              <a:cxnLst/>
              <a:rect l="l" t="t" r="r" b="b"/>
              <a:pathLst>
                <a:path w="16459200" h="548640">
                  <a:moveTo>
                    <a:pt x="0" y="0"/>
                  </a:moveTo>
                  <a:lnTo>
                    <a:pt x="16459200" y="0"/>
                  </a:lnTo>
                  <a:lnTo>
                    <a:pt x="164592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4551" b="-534551"/>
              </a:stretch>
            </a:blip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6459200" cy="5867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 spc="149">
                  <a:solidFill>
                    <a:srgbClr val="2A9D8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17  ·  SUMMARY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>
            <a:off x="677000" y="1667870"/>
            <a:ext cx="1460541" cy="0"/>
          </a:xfrm>
          <a:prstGeom prst="line">
            <a:avLst/>
          </a:prstGeom>
          <a:ln w="28575" cap="rnd">
            <a:solidFill>
              <a:srgbClr val="E9A23B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17048988" y="9738360"/>
            <a:ext cx="685800" cy="411480"/>
            <a:chOff x="0" y="0"/>
            <a:chExt cx="914400" cy="5486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4400" cy="548640"/>
            </a:xfrm>
            <a:custGeom>
              <a:avLst/>
              <a:gdLst/>
              <a:ahLst/>
              <a:cxnLst/>
              <a:rect l="l" t="t" r="r" b="b"/>
              <a:pathLst>
                <a:path w="914400" h="54864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r="-26982"/>
              </a:stretch>
            </a:blip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4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17 / 17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95334" y="1919761"/>
            <a:ext cx="10424160" cy="411480"/>
            <a:chOff x="0" y="0"/>
            <a:chExt cx="13898880" cy="5486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898880" cy="548640"/>
            </a:xfrm>
            <a:custGeom>
              <a:avLst/>
              <a:gdLst/>
              <a:ahLst/>
              <a:cxnLst/>
              <a:rect l="l" t="t" r="r" b="b"/>
              <a:pathLst>
                <a:path w="13898880" h="548640">
                  <a:moveTo>
                    <a:pt x="0" y="0"/>
                  </a:moveTo>
                  <a:lnTo>
                    <a:pt x="13898880" y="0"/>
                  </a:lnTo>
                  <a:lnTo>
                    <a:pt x="138988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43620" b="-443620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1389888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KEY FINDINGS</a:t>
              </a:r>
            </a:p>
          </p:txBody>
        </p:sp>
      </p:grpSp>
      <p:sp>
        <p:nvSpPr>
          <p:cNvPr id="20" name="AutoShape 20"/>
          <p:cNvSpPr/>
          <p:nvPr/>
        </p:nvSpPr>
        <p:spPr>
          <a:xfrm>
            <a:off x="685809" y="2268046"/>
            <a:ext cx="10443212" cy="19138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1" name="Group 21"/>
          <p:cNvGrpSpPr/>
          <p:nvPr/>
        </p:nvGrpSpPr>
        <p:grpSpPr>
          <a:xfrm>
            <a:off x="791456" y="9097518"/>
            <a:ext cx="15951708" cy="640842"/>
            <a:chOff x="0" y="0"/>
            <a:chExt cx="21268944" cy="85445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268944" cy="854456"/>
            </a:xfrm>
            <a:custGeom>
              <a:avLst/>
              <a:gdLst/>
              <a:ahLst/>
              <a:cxnLst/>
              <a:rect l="l" t="t" r="r" b="b"/>
              <a:pathLst>
                <a:path w="21268944" h="854456">
                  <a:moveTo>
                    <a:pt x="0" y="0"/>
                  </a:moveTo>
                  <a:lnTo>
                    <a:pt x="21268944" y="0"/>
                  </a:lnTo>
                  <a:lnTo>
                    <a:pt x="21268944" y="854456"/>
                  </a:lnTo>
                  <a:lnTo>
                    <a:pt x="0" y="854456"/>
                  </a:ln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23" name="Group 23"/>
          <p:cNvGrpSpPr/>
          <p:nvPr/>
        </p:nvGrpSpPr>
        <p:grpSpPr>
          <a:xfrm>
            <a:off x="676271" y="9110779"/>
            <a:ext cx="115185" cy="614321"/>
            <a:chOff x="0" y="0"/>
            <a:chExt cx="109728" cy="58521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9728" cy="585216"/>
            </a:xfrm>
            <a:custGeom>
              <a:avLst/>
              <a:gdLst/>
              <a:ahLst/>
              <a:cxnLst/>
              <a:rect l="l" t="t" r="r" b="b"/>
              <a:pathLst>
                <a:path w="109728" h="585216">
                  <a:moveTo>
                    <a:pt x="0" y="0"/>
                  </a:moveTo>
                  <a:lnTo>
                    <a:pt x="109728" y="0"/>
                  </a:lnTo>
                  <a:lnTo>
                    <a:pt x="109728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973836" y="9221343"/>
            <a:ext cx="15892772" cy="663936"/>
            <a:chOff x="0" y="0"/>
            <a:chExt cx="21190363" cy="88524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1190362" cy="885248"/>
            </a:xfrm>
            <a:custGeom>
              <a:avLst/>
              <a:gdLst/>
              <a:ahLst/>
              <a:cxnLst/>
              <a:rect l="l" t="t" r="r" b="b"/>
              <a:pathLst>
                <a:path w="21190362" h="885248">
                  <a:moveTo>
                    <a:pt x="0" y="0"/>
                  </a:moveTo>
                  <a:lnTo>
                    <a:pt x="21190362" y="0"/>
                  </a:lnTo>
                  <a:lnTo>
                    <a:pt x="21190362" y="885248"/>
                  </a:lnTo>
                  <a:lnTo>
                    <a:pt x="0" y="885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21163" r="3944" b="-374876"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1190363" cy="9233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50"/>
                </a:lnSpc>
              </a:pPr>
              <a:r>
                <a:rPr lang="en-US" sz="1875" i="1">
                  <a:solidFill>
                    <a:srgbClr val="263238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 complete Excel-based workflow: data cleaning, PivotTable analysis, forecasting, and anomaly detection.</a:t>
              </a:r>
            </a:p>
            <a:p>
              <a:pPr algn="l">
                <a:lnSpc>
                  <a:spcPts val="2250"/>
                </a:lnSpc>
              </a:pPr>
              <a:endParaRPr lang="en-US" sz="1875" i="1">
                <a:solidFill>
                  <a:srgbClr val="26323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452860" y="2057400"/>
            <a:ext cx="6172200" cy="411480"/>
            <a:chOff x="0" y="0"/>
            <a:chExt cx="822960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229600" cy="548640"/>
            </a:xfrm>
            <a:custGeom>
              <a:avLst/>
              <a:gdLst/>
              <a:ahLst/>
              <a:cxnLst/>
              <a:rect l="l" t="t" r="r" b="b"/>
              <a:pathLst>
                <a:path w="8229600" h="548640">
                  <a:moveTo>
                    <a:pt x="0" y="0"/>
                  </a:moveTo>
                  <a:lnTo>
                    <a:pt x="8229600" y="0"/>
                  </a:lnTo>
                  <a:lnTo>
                    <a:pt x="8229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28575"/>
              <a:ext cx="82296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SNAPSHOT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 rot="10560">
            <a:off x="11443316" y="2491550"/>
            <a:ext cx="6191279" cy="0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2" name="Group 32"/>
          <p:cNvGrpSpPr/>
          <p:nvPr/>
        </p:nvGrpSpPr>
        <p:grpSpPr>
          <a:xfrm>
            <a:off x="11452860" y="2606040"/>
            <a:ext cx="2948940" cy="604876"/>
            <a:chOff x="0" y="0"/>
            <a:chExt cx="3931920" cy="80650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931920" cy="806450"/>
            </a:xfrm>
            <a:custGeom>
              <a:avLst/>
              <a:gdLst/>
              <a:ahLst/>
              <a:cxnLst/>
              <a:rect l="l" t="t" r="r" b="b"/>
              <a:pathLst>
                <a:path w="3931920" h="80645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822192" y="0"/>
                  </a:lnTo>
                  <a:cubicBezTo>
                    <a:pt x="3882771" y="0"/>
                    <a:pt x="3931920" y="49149"/>
                    <a:pt x="3931920" y="109728"/>
                  </a:cubicBezTo>
                  <a:lnTo>
                    <a:pt x="3931920" y="696722"/>
                  </a:lnTo>
                  <a:cubicBezTo>
                    <a:pt x="3931920" y="757301"/>
                    <a:pt x="3882771" y="806450"/>
                    <a:pt x="3822192" y="806450"/>
                  </a:cubicBezTo>
                  <a:lnTo>
                    <a:pt x="109728" y="806450"/>
                  </a:lnTo>
                  <a:cubicBezTo>
                    <a:pt x="49149" y="806450"/>
                    <a:pt x="0" y="757428"/>
                    <a:pt x="0" y="696722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34" name="Group 34"/>
          <p:cNvGrpSpPr/>
          <p:nvPr/>
        </p:nvGrpSpPr>
        <p:grpSpPr>
          <a:xfrm rot="-10800000">
            <a:off x="12735306" y="3197200"/>
            <a:ext cx="384048" cy="200254"/>
            <a:chOff x="0" y="0"/>
            <a:chExt cx="512064" cy="267005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12064" cy="266954"/>
            </a:xfrm>
            <a:custGeom>
              <a:avLst/>
              <a:gdLst/>
              <a:ahLst/>
              <a:cxnLst/>
              <a:rect l="l" t="t" r="r" b="b"/>
              <a:pathLst>
                <a:path w="512064" h="266954">
                  <a:moveTo>
                    <a:pt x="0" y="266954"/>
                  </a:moveTo>
                  <a:lnTo>
                    <a:pt x="256032" y="0"/>
                  </a:lnTo>
                  <a:lnTo>
                    <a:pt x="512064" y="266954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6" name="Group 36"/>
          <p:cNvGrpSpPr/>
          <p:nvPr/>
        </p:nvGrpSpPr>
        <p:grpSpPr>
          <a:xfrm>
            <a:off x="11452860" y="3383737"/>
            <a:ext cx="2948940" cy="662483"/>
            <a:chOff x="0" y="0"/>
            <a:chExt cx="3931920" cy="88331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931920" cy="883285"/>
            </a:xfrm>
            <a:custGeom>
              <a:avLst/>
              <a:gdLst/>
              <a:ahLst/>
              <a:cxnLst/>
              <a:rect l="l" t="t" r="r" b="b"/>
              <a:pathLst>
                <a:path w="3931920" h="883285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822192" y="0"/>
                  </a:lnTo>
                  <a:cubicBezTo>
                    <a:pt x="3882771" y="0"/>
                    <a:pt x="3931920" y="49149"/>
                    <a:pt x="3931920" y="109728"/>
                  </a:cubicBezTo>
                  <a:lnTo>
                    <a:pt x="3931920" y="773557"/>
                  </a:lnTo>
                  <a:cubicBezTo>
                    <a:pt x="3931920" y="834136"/>
                    <a:pt x="3882771" y="883285"/>
                    <a:pt x="3822192" y="883285"/>
                  </a:cubicBezTo>
                  <a:lnTo>
                    <a:pt x="109728" y="883285"/>
                  </a:lnTo>
                  <a:cubicBezTo>
                    <a:pt x="49149" y="883285"/>
                    <a:pt x="0" y="834136"/>
                    <a:pt x="0" y="773557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38" name="Group 38"/>
          <p:cNvGrpSpPr/>
          <p:nvPr/>
        </p:nvGrpSpPr>
        <p:grpSpPr>
          <a:xfrm>
            <a:off x="14607540" y="2606040"/>
            <a:ext cx="3017520" cy="604876"/>
            <a:chOff x="0" y="0"/>
            <a:chExt cx="4023360" cy="806501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023360" cy="806450"/>
            </a:xfrm>
            <a:custGeom>
              <a:avLst/>
              <a:gdLst/>
              <a:ahLst/>
              <a:cxnLst/>
              <a:rect l="l" t="t" r="r" b="b"/>
              <a:pathLst>
                <a:path w="4023360" h="80645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913632" y="0"/>
                  </a:lnTo>
                  <a:cubicBezTo>
                    <a:pt x="3974211" y="0"/>
                    <a:pt x="4023360" y="49149"/>
                    <a:pt x="4023360" y="109728"/>
                  </a:cubicBezTo>
                  <a:lnTo>
                    <a:pt x="4023360" y="696722"/>
                  </a:lnTo>
                  <a:cubicBezTo>
                    <a:pt x="4023360" y="757301"/>
                    <a:pt x="3974211" y="806450"/>
                    <a:pt x="3913632" y="806450"/>
                  </a:cubicBezTo>
                  <a:lnTo>
                    <a:pt x="109728" y="806450"/>
                  </a:lnTo>
                  <a:cubicBezTo>
                    <a:pt x="49149" y="806450"/>
                    <a:pt x="0" y="757428"/>
                    <a:pt x="0" y="696722"/>
                  </a:cubicBezTo>
                  <a:close/>
                </a:path>
              </a:pathLst>
            </a:custGeom>
            <a:solidFill>
              <a:srgbClr val="E4F3F1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11631168" y="2647188"/>
            <a:ext cx="2633472" cy="522580"/>
            <a:chOff x="0" y="0"/>
            <a:chExt cx="3511296" cy="696773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3511296" cy="696772"/>
            </a:xfrm>
            <a:custGeom>
              <a:avLst/>
              <a:gdLst/>
              <a:ahLst/>
              <a:cxnLst/>
              <a:rect l="l" t="t" r="r" b="b"/>
              <a:pathLst>
                <a:path w="3511296" h="696772">
                  <a:moveTo>
                    <a:pt x="0" y="0"/>
                  </a:moveTo>
                  <a:lnTo>
                    <a:pt x="3511296" y="0"/>
                  </a:lnTo>
                  <a:lnTo>
                    <a:pt x="3511296" y="696772"/>
                  </a:lnTo>
                  <a:lnTo>
                    <a:pt x="0" y="6967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192" b="-48192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3511296" cy="7253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Registered share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 rot="-10800000">
            <a:off x="15924276" y="3197200"/>
            <a:ext cx="384048" cy="200254"/>
            <a:chOff x="0" y="0"/>
            <a:chExt cx="512064" cy="267005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12064" cy="266954"/>
            </a:xfrm>
            <a:custGeom>
              <a:avLst/>
              <a:gdLst/>
              <a:ahLst/>
              <a:cxnLst/>
              <a:rect l="l" t="t" r="r" b="b"/>
              <a:pathLst>
                <a:path w="512064" h="266954">
                  <a:moveTo>
                    <a:pt x="0" y="266954"/>
                  </a:moveTo>
                  <a:lnTo>
                    <a:pt x="256032" y="0"/>
                  </a:lnTo>
                  <a:lnTo>
                    <a:pt x="512064" y="266954"/>
                  </a:ln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14607540" y="3383737"/>
            <a:ext cx="3017520" cy="662483"/>
            <a:chOff x="0" y="0"/>
            <a:chExt cx="4023360" cy="88331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4023360" cy="883285"/>
            </a:xfrm>
            <a:custGeom>
              <a:avLst/>
              <a:gdLst/>
              <a:ahLst/>
              <a:cxnLst/>
              <a:rect l="l" t="t" r="r" b="b"/>
              <a:pathLst>
                <a:path w="4023360" h="883285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913632" y="0"/>
                  </a:lnTo>
                  <a:cubicBezTo>
                    <a:pt x="3974211" y="0"/>
                    <a:pt x="4023360" y="49149"/>
                    <a:pt x="4023360" y="109728"/>
                  </a:cubicBezTo>
                  <a:lnTo>
                    <a:pt x="4023360" y="773557"/>
                  </a:lnTo>
                  <a:cubicBezTo>
                    <a:pt x="4023360" y="834136"/>
                    <a:pt x="3974211" y="883285"/>
                    <a:pt x="3913632" y="883285"/>
                  </a:cubicBezTo>
                  <a:lnTo>
                    <a:pt x="109728" y="883285"/>
                  </a:lnTo>
                  <a:cubicBezTo>
                    <a:pt x="49149" y="883285"/>
                    <a:pt x="0" y="834136"/>
                    <a:pt x="0" y="773557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11570970" y="3383737"/>
            <a:ext cx="2743200" cy="662483"/>
            <a:chOff x="0" y="0"/>
            <a:chExt cx="3657600" cy="88331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3657600" cy="883310"/>
            </a:xfrm>
            <a:custGeom>
              <a:avLst/>
              <a:gdLst/>
              <a:ahLst/>
              <a:cxnLst/>
              <a:rect l="l" t="t" r="r" b="b"/>
              <a:pathLst>
                <a:path w="3657600" h="883310">
                  <a:moveTo>
                    <a:pt x="0" y="0"/>
                  </a:moveTo>
                  <a:lnTo>
                    <a:pt x="3657600" y="0"/>
                  </a:lnTo>
                  <a:lnTo>
                    <a:pt x="3657600" y="883310"/>
                  </a:lnTo>
                  <a:lnTo>
                    <a:pt x="0" y="8833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683" b="-30683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3657600" cy="902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91.6%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452860" y="4183380"/>
            <a:ext cx="2948940" cy="604876"/>
            <a:chOff x="0" y="0"/>
            <a:chExt cx="3931920" cy="806501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3931920" cy="806450"/>
            </a:xfrm>
            <a:custGeom>
              <a:avLst/>
              <a:gdLst/>
              <a:ahLst/>
              <a:cxnLst/>
              <a:rect l="l" t="t" r="r" b="b"/>
              <a:pathLst>
                <a:path w="3931920" h="80645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822192" y="0"/>
                  </a:lnTo>
                  <a:cubicBezTo>
                    <a:pt x="3882771" y="0"/>
                    <a:pt x="3931920" y="49149"/>
                    <a:pt x="3931920" y="109728"/>
                  </a:cubicBezTo>
                  <a:lnTo>
                    <a:pt x="3931920" y="696722"/>
                  </a:lnTo>
                  <a:cubicBezTo>
                    <a:pt x="3931920" y="757301"/>
                    <a:pt x="3882771" y="806450"/>
                    <a:pt x="3822192" y="806450"/>
                  </a:cubicBezTo>
                  <a:lnTo>
                    <a:pt x="109728" y="806450"/>
                  </a:lnTo>
                  <a:cubicBezTo>
                    <a:pt x="49149" y="806450"/>
                    <a:pt x="0" y="757428"/>
                    <a:pt x="0" y="696722"/>
                  </a:cubicBezTo>
                  <a:close/>
                </a:path>
              </a:pathLst>
            </a:custGeom>
            <a:solidFill>
              <a:srgbClr val="E7ECF1"/>
            </a:solidFill>
          </p:spPr>
        </p:sp>
      </p:grpSp>
      <p:grpSp>
        <p:nvGrpSpPr>
          <p:cNvPr id="52" name="Group 52"/>
          <p:cNvGrpSpPr/>
          <p:nvPr/>
        </p:nvGrpSpPr>
        <p:grpSpPr>
          <a:xfrm>
            <a:off x="11672316" y="4224528"/>
            <a:ext cx="2564892" cy="522579"/>
            <a:chOff x="0" y="0"/>
            <a:chExt cx="3419856" cy="69677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3419856" cy="696771"/>
            </a:xfrm>
            <a:custGeom>
              <a:avLst/>
              <a:gdLst/>
              <a:ahLst/>
              <a:cxnLst/>
              <a:rect l="l" t="t" r="r" b="b"/>
              <a:pathLst>
                <a:path w="3419856" h="696771">
                  <a:moveTo>
                    <a:pt x="0" y="0"/>
                  </a:moveTo>
                  <a:lnTo>
                    <a:pt x="3419856" y="0"/>
                  </a:lnTo>
                  <a:lnTo>
                    <a:pt x="3419856" y="696771"/>
                  </a:lnTo>
                  <a:lnTo>
                    <a:pt x="0" y="6967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635" b="-45635"/>
              </a:stretch>
            </a:blipFill>
          </p:spPr>
        </p:sp>
        <p:sp>
          <p:nvSpPr>
            <p:cNvPr id="54" name="TextBox 54"/>
            <p:cNvSpPr txBox="1"/>
            <p:nvPr/>
          </p:nvSpPr>
          <p:spPr>
            <a:xfrm>
              <a:off x="0" y="-28575"/>
              <a:ext cx="3419856" cy="72534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Working-day average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4799564" y="2647188"/>
            <a:ext cx="2564892" cy="522580"/>
            <a:chOff x="0" y="0"/>
            <a:chExt cx="3419856" cy="696773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3419856" cy="696772"/>
            </a:xfrm>
            <a:custGeom>
              <a:avLst/>
              <a:gdLst/>
              <a:ahLst/>
              <a:cxnLst/>
              <a:rect l="l" t="t" r="r" b="b"/>
              <a:pathLst>
                <a:path w="3419856" h="696772">
                  <a:moveTo>
                    <a:pt x="0" y="0"/>
                  </a:moveTo>
                  <a:lnTo>
                    <a:pt x="3419856" y="0"/>
                  </a:lnTo>
                  <a:lnTo>
                    <a:pt x="3419856" y="696772"/>
                  </a:lnTo>
                  <a:lnTo>
                    <a:pt x="0" y="6967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5635" b="-45635"/>
              </a:stretch>
            </a:blipFill>
          </p:spPr>
        </p:sp>
        <p:sp>
          <p:nvSpPr>
            <p:cNvPr id="57" name="TextBox 57"/>
            <p:cNvSpPr txBox="1"/>
            <p:nvPr/>
          </p:nvSpPr>
          <p:spPr>
            <a:xfrm>
              <a:off x="0" y="-28575"/>
              <a:ext cx="3419856" cy="7253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Peak hourly avg (5 PM)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 rot="-10800000">
            <a:off x="12735306" y="4774540"/>
            <a:ext cx="384048" cy="200254"/>
            <a:chOff x="0" y="0"/>
            <a:chExt cx="512064" cy="267005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512064" cy="266954"/>
            </a:xfrm>
            <a:custGeom>
              <a:avLst/>
              <a:gdLst/>
              <a:ahLst/>
              <a:cxnLst/>
              <a:rect l="l" t="t" r="r" b="b"/>
              <a:pathLst>
                <a:path w="512064" h="266954">
                  <a:moveTo>
                    <a:pt x="0" y="266954"/>
                  </a:moveTo>
                  <a:lnTo>
                    <a:pt x="256032" y="0"/>
                  </a:lnTo>
                  <a:lnTo>
                    <a:pt x="512064" y="266954"/>
                  </a:ln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60" name="Group 60"/>
          <p:cNvGrpSpPr/>
          <p:nvPr/>
        </p:nvGrpSpPr>
        <p:grpSpPr>
          <a:xfrm>
            <a:off x="11452860" y="4961077"/>
            <a:ext cx="2948940" cy="662483"/>
            <a:chOff x="0" y="0"/>
            <a:chExt cx="3931920" cy="88331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3931920" cy="883285"/>
            </a:xfrm>
            <a:custGeom>
              <a:avLst/>
              <a:gdLst/>
              <a:ahLst/>
              <a:cxnLst/>
              <a:rect l="l" t="t" r="r" b="b"/>
              <a:pathLst>
                <a:path w="3931920" h="883285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822192" y="0"/>
                  </a:lnTo>
                  <a:cubicBezTo>
                    <a:pt x="3882771" y="0"/>
                    <a:pt x="3931920" y="49149"/>
                    <a:pt x="3931920" y="109728"/>
                  </a:cubicBezTo>
                  <a:lnTo>
                    <a:pt x="3931920" y="773557"/>
                  </a:lnTo>
                  <a:cubicBezTo>
                    <a:pt x="3931920" y="834136"/>
                    <a:pt x="3882771" y="883285"/>
                    <a:pt x="3822192" y="883285"/>
                  </a:cubicBezTo>
                  <a:lnTo>
                    <a:pt x="109728" y="883285"/>
                  </a:lnTo>
                  <a:cubicBezTo>
                    <a:pt x="49149" y="883285"/>
                    <a:pt x="0" y="834136"/>
                    <a:pt x="0" y="773557"/>
                  </a:cubicBezTo>
                  <a:close/>
                </a:path>
              </a:pathLst>
            </a:custGeom>
            <a:solidFill>
              <a:srgbClr val="173F5F"/>
            </a:solidFill>
          </p:spPr>
        </p:sp>
      </p:grpSp>
      <p:grpSp>
        <p:nvGrpSpPr>
          <p:cNvPr id="62" name="Group 62"/>
          <p:cNvGrpSpPr/>
          <p:nvPr/>
        </p:nvGrpSpPr>
        <p:grpSpPr>
          <a:xfrm>
            <a:off x="11570970" y="4311718"/>
            <a:ext cx="2674620" cy="1980251"/>
            <a:chOff x="0" y="0"/>
            <a:chExt cx="3566160" cy="2640335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3566160" cy="2640334"/>
            </a:xfrm>
            <a:custGeom>
              <a:avLst/>
              <a:gdLst/>
              <a:ahLst/>
              <a:cxnLst/>
              <a:rect l="l" t="t" r="r" b="b"/>
              <a:pathLst>
                <a:path w="3566160" h="2640334">
                  <a:moveTo>
                    <a:pt x="0" y="0"/>
                  </a:moveTo>
                  <a:lnTo>
                    <a:pt x="3566160" y="0"/>
                  </a:lnTo>
                  <a:lnTo>
                    <a:pt x="3566160" y="2640334"/>
                  </a:lnTo>
                  <a:lnTo>
                    <a:pt x="0" y="26403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590" b="56955"/>
              </a:stretch>
            </a:blipFill>
          </p:spPr>
        </p:sp>
        <p:sp>
          <p:nvSpPr>
            <p:cNvPr id="64" name="TextBox 64"/>
            <p:cNvSpPr txBox="1"/>
            <p:nvPr/>
          </p:nvSpPr>
          <p:spPr>
            <a:xfrm>
              <a:off x="0" y="-19050"/>
              <a:ext cx="3566160" cy="26593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64.14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14813280" y="3383737"/>
            <a:ext cx="2674620" cy="662483"/>
            <a:chOff x="0" y="0"/>
            <a:chExt cx="3566160" cy="88331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3566160" cy="883310"/>
            </a:xfrm>
            <a:custGeom>
              <a:avLst/>
              <a:gdLst/>
              <a:ahLst/>
              <a:cxnLst/>
              <a:rect l="l" t="t" r="r" b="b"/>
              <a:pathLst>
                <a:path w="3566160" h="883310">
                  <a:moveTo>
                    <a:pt x="0" y="0"/>
                  </a:moveTo>
                  <a:lnTo>
                    <a:pt x="3566160" y="0"/>
                  </a:lnTo>
                  <a:lnTo>
                    <a:pt x="3566160" y="883310"/>
                  </a:lnTo>
                  <a:lnTo>
                    <a:pt x="0" y="8833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666" b="-28666"/>
              </a:stretch>
            </a:blipFill>
          </p:spPr>
        </p:sp>
        <p:sp>
          <p:nvSpPr>
            <p:cNvPr id="67" name="TextBox 67"/>
            <p:cNvSpPr txBox="1"/>
            <p:nvPr/>
          </p:nvSpPr>
          <p:spPr>
            <a:xfrm>
              <a:off x="0" y="-19050"/>
              <a:ext cx="3566160" cy="902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140.2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4607540" y="4183380"/>
            <a:ext cx="3017520" cy="604876"/>
            <a:chOff x="0" y="0"/>
            <a:chExt cx="4023360" cy="806501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4023360" cy="806450"/>
            </a:xfrm>
            <a:custGeom>
              <a:avLst/>
              <a:gdLst/>
              <a:ahLst/>
              <a:cxnLst/>
              <a:rect l="l" t="t" r="r" b="b"/>
              <a:pathLst>
                <a:path w="4023360" h="80645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913632" y="0"/>
                  </a:lnTo>
                  <a:cubicBezTo>
                    <a:pt x="3974211" y="0"/>
                    <a:pt x="4023360" y="49149"/>
                    <a:pt x="4023360" y="109728"/>
                  </a:cubicBezTo>
                  <a:lnTo>
                    <a:pt x="4023360" y="696722"/>
                  </a:lnTo>
                  <a:cubicBezTo>
                    <a:pt x="4023360" y="757301"/>
                    <a:pt x="3974211" y="806450"/>
                    <a:pt x="3913632" y="806450"/>
                  </a:cubicBezTo>
                  <a:lnTo>
                    <a:pt x="109728" y="806450"/>
                  </a:lnTo>
                  <a:cubicBezTo>
                    <a:pt x="49149" y="806450"/>
                    <a:pt x="0" y="757428"/>
                    <a:pt x="0" y="696722"/>
                  </a:cubicBezTo>
                  <a:close/>
                </a:path>
              </a:pathLst>
            </a:custGeom>
            <a:solidFill>
              <a:srgbClr val="FCEEDA"/>
            </a:solidFill>
          </p:spPr>
        </p:sp>
      </p:grpSp>
      <p:grpSp>
        <p:nvGrpSpPr>
          <p:cNvPr id="70" name="Group 70"/>
          <p:cNvGrpSpPr/>
          <p:nvPr/>
        </p:nvGrpSpPr>
        <p:grpSpPr>
          <a:xfrm>
            <a:off x="14799564" y="4224528"/>
            <a:ext cx="2633472" cy="522580"/>
            <a:chOff x="0" y="0"/>
            <a:chExt cx="3511296" cy="696773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3511296" cy="696772"/>
            </a:xfrm>
            <a:custGeom>
              <a:avLst/>
              <a:gdLst/>
              <a:ahLst/>
              <a:cxnLst/>
              <a:rect l="l" t="t" r="r" b="b"/>
              <a:pathLst>
                <a:path w="3511296" h="696772">
                  <a:moveTo>
                    <a:pt x="0" y="0"/>
                  </a:moveTo>
                  <a:lnTo>
                    <a:pt x="3511296" y="0"/>
                  </a:lnTo>
                  <a:lnTo>
                    <a:pt x="3511296" y="696772"/>
                  </a:lnTo>
                  <a:lnTo>
                    <a:pt x="0" y="6967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192" b="-48192"/>
              </a:stretch>
            </a:blipFill>
          </p:spPr>
        </p:sp>
        <p:sp>
          <p:nvSpPr>
            <p:cNvPr id="72" name="TextBox 72"/>
            <p:cNvSpPr txBox="1"/>
            <p:nvPr/>
          </p:nvSpPr>
          <p:spPr>
            <a:xfrm>
              <a:off x="0" y="-28575"/>
              <a:ext cx="3511296" cy="72534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80"/>
                </a:lnSpc>
              </a:pPr>
              <a:r>
                <a:rPr lang="en-US" sz="1650" b="1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Forecast avg (rentals/day)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 rot="-10800000">
            <a:off x="15924276" y="4774540"/>
            <a:ext cx="384048" cy="200254"/>
            <a:chOff x="0" y="0"/>
            <a:chExt cx="512064" cy="267005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512064" cy="266954"/>
            </a:xfrm>
            <a:custGeom>
              <a:avLst/>
              <a:gdLst/>
              <a:ahLst/>
              <a:cxnLst/>
              <a:rect l="l" t="t" r="r" b="b"/>
              <a:pathLst>
                <a:path w="512064" h="266954">
                  <a:moveTo>
                    <a:pt x="0" y="266954"/>
                  </a:moveTo>
                  <a:lnTo>
                    <a:pt x="256032" y="0"/>
                  </a:lnTo>
                  <a:lnTo>
                    <a:pt x="512064" y="266954"/>
                  </a:ln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75" name="Group 75"/>
          <p:cNvGrpSpPr/>
          <p:nvPr/>
        </p:nvGrpSpPr>
        <p:grpSpPr>
          <a:xfrm>
            <a:off x="14607540" y="4961077"/>
            <a:ext cx="3017520" cy="662483"/>
            <a:chOff x="0" y="0"/>
            <a:chExt cx="4023360" cy="88331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023360" cy="883285"/>
            </a:xfrm>
            <a:custGeom>
              <a:avLst/>
              <a:gdLst/>
              <a:ahLst/>
              <a:cxnLst/>
              <a:rect l="l" t="t" r="r" b="b"/>
              <a:pathLst>
                <a:path w="4023360" h="883285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3913632" y="0"/>
                  </a:lnTo>
                  <a:cubicBezTo>
                    <a:pt x="3974211" y="0"/>
                    <a:pt x="4023360" y="49149"/>
                    <a:pt x="4023360" y="109728"/>
                  </a:cubicBezTo>
                  <a:lnTo>
                    <a:pt x="4023360" y="773557"/>
                  </a:lnTo>
                  <a:cubicBezTo>
                    <a:pt x="4023360" y="834136"/>
                    <a:pt x="3974211" y="883285"/>
                    <a:pt x="3913632" y="883285"/>
                  </a:cubicBezTo>
                  <a:lnTo>
                    <a:pt x="109728" y="883285"/>
                  </a:lnTo>
                  <a:cubicBezTo>
                    <a:pt x="49149" y="883285"/>
                    <a:pt x="0" y="834136"/>
                    <a:pt x="0" y="773557"/>
                  </a:cubicBezTo>
                  <a:close/>
                </a:path>
              </a:pathLst>
            </a:custGeom>
            <a:solidFill>
              <a:srgbClr val="E9A23B"/>
            </a:solidFill>
          </p:spPr>
        </p:sp>
      </p:grpSp>
      <p:grpSp>
        <p:nvGrpSpPr>
          <p:cNvPr id="77" name="Group 77"/>
          <p:cNvGrpSpPr/>
          <p:nvPr/>
        </p:nvGrpSpPr>
        <p:grpSpPr>
          <a:xfrm>
            <a:off x="14744700" y="4961077"/>
            <a:ext cx="2743200" cy="662483"/>
            <a:chOff x="0" y="0"/>
            <a:chExt cx="3657600" cy="88331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657600" cy="883310"/>
            </a:xfrm>
            <a:custGeom>
              <a:avLst/>
              <a:gdLst/>
              <a:ahLst/>
              <a:cxnLst/>
              <a:rect l="l" t="t" r="r" b="b"/>
              <a:pathLst>
                <a:path w="3657600" h="883310">
                  <a:moveTo>
                    <a:pt x="0" y="0"/>
                  </a:moveTo>
                  <a:lnTo>
                    <a:pt x="3657600" y="0"/>
                  </a:lnTo>
                  <a:lnTo>
                    <a:pt x="3657600" y="883310"/>
                  </a:lnTo>
                  <a:lnTo>
                    <a:pt x="0" y="8833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0683" b="-30683"/>
              </a:stretch>
            </a:blipFill>
          </p:spPr>
        </p:sp>
        <p:sp>
          <p:nvSpPr>
            <p:cNvPr id="79" name="TextBox 79"/>
            <p:cNvSpPr txBox="1"/>
            <p:nvPr/>
          </p:nvSpPr>
          <p:spPr>
            <a:xfrm>
              <a:off x="0" y="-19050"/>
              <a:ext cx="3657600" cy="9023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1,500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11452860" y="5897880"/>
            <a:ext cx="6172200" cy="411480"/>
            <a:chOff x="0" y="0"/>
            <a:chExt cx="8229600" cy="54864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8229600" cy="548640"/>
            </a:xfrm>
            <a:custGeom>
              <a:avLst/>
              <a:gdLst/>
              <a:ahLst/>
              <a:cxnLst/>
              <a:rect l="l" t="t" r="r" b="b"/>
              <a:pathLst>
                <a:path w="8229600" h="548640">
                  <a:moveTo>
                    <a:pt x="0" y="0"/>
                  </a:moveTo>
                  <a:lnTo>
                    <a:pt x="8229600" y="0"/>
                  </a:lnTo>
                  <a:lnTo>
                    <a:pt x="8229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b="-242275"/>
              </a:stretch>
            </a:blipFill>
          </p:spPr>
        </p:sp>
        <p:sp>
          <p:nvSpPr>
            <p:cNvPr id="82" name="TextBox 82"/>
            <p:cNvSpPr txBox="1"/>
            <p:nvPr/>
          </p:nvSpPr>
          <p:spPr>
            <a:xfrm>
              <a:off x="0" y="-28575"/>
              <a:ext cx="82296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LIMITATIONS</a:t>
              </a:r>
            </a:p>
          </p:txBody>
        </p:sp>
      </p:grpSp>
      <p:sp>
        <p:nvSpPr>
          <p:cNvPr id="83" name="AutoShape 83"/>
          <p:cNvSpPr/>
          <p:nvPr/>
        </p:nvSpPr>
        <p:spPr>
          <a:xfrm>
            <a:off x="11443331" y="6327283"/>
            <a:ext cx="6191249" cy="19018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4" name="Group 84"/>
          <p:cNvGrpSpPr/>
          <p:nvPr/>
        </p:nvGrpSpPr>
        <p:grpSpPr>
          <a:xfrm>
            <a:off x="11452860" y="6419088"/>
            <a:ext cx="6172200" cy="493776"/>
            <a:chOff x="0" y="0"/>
            <a:chExt cx="8229600" cy="658368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8229600" cy="658368"/>
            </a:xfrm>
            <a:custGeom>
              <a:avLst/>
              <a:gdLst/>
              <a:ahLst/>
              <a:cxnLst/>
              <a:rect l="l" t="t" r="r" b="b"/>
              <a:pathLst>
                <a:path w="8229600" h="658368">
                  <a:moveTo>
                    <a:pt x="0" y="0"/>
                  </a:moveTo>
                  <a:lnTo>
                    <a:pt x="8229600" y="0"/>
                  </a:lnTo>
                  <a:lnTo>
                    <a:pt x="822960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</p:sp>
        <p:sp>
          <p:nvSpPr>
            <p:cNvPr id="86" name="TextBox 86"/>
            <p:cNvSpPr txBox="1"/>
            <p:nvPr/>
          </p:nvSpPr>
          <p:spPr>
            <a:xfrm>
              <a:off x="0" y="-28575"/>
              <a:ext cx="8229600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745"/>
                </a:lnSpc>
              </a:pPr>
              <a:r>
                <a:rPr lang="en-US" sz="145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Covers only 1-Jan – 14-Feb 2011; February is partial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11452860" y="6912864"/>
            <a:ext cx="6172200" cy="493776"/>
            <a:chOff x="0" y="0"/>
            <a:chExt cx="8229600" cy="658368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8229600" cy="658368"/>
            </a:xfrm>
            <a:custGeom>
              <a:avLst/>
              <a:gdLst/>
              <a:ahLst/>
              <a:cxnLst/>
              <a:rect l="l" t="t" r="r" b="b"/>
              <a:pathLst>
                <a:path w="8229600" h="658368">
                  <a:moveTo>
                    <a:pt x="0" y="0"/>
                  </a:moveTo>
                  <a:lnTo>
                    <a:pt x="8229600" y="0"/>
                  </a:lnTo>
                  <a:lnTo>
                    <a:pt x="822960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</p:sp>
        <p:sp>
          <p:nvSpPr>
            <p:cNvPr id="89" name="TextBox 89"/>
            <p:cNvSpPr txBox="1"/>
            <p:nvPr/>
          </p:nvSpPr>
          <p:spPr>
            <a:xfrm>
              <a:off x="0" y="-28575"/>
              <a:ext cx="8229600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745"/>
                </a:lnSpc>
              </a:pPr>
              <a:r>
                <a:rPr lang="en-US" sz="145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Only one season (winter) is present in the data</a:t>
              </a:r>
            </a:p>
          </p:txBody>
        </p:sp>
      </p:grpSp>
      <p:grpSp>
        <p:nvGrpSpPr>
          <p:cNvPr id="90" name="Group 90"/>
          <p:cNvGrpSpPr/>
          <p:nvPr/>
        </p:nvGrpSpPr>
        <p:grpSpPr>
          <a:xfrm>
            <a:off x="11452860" y="7406640"/>
            <a:ext cx="6172200" cy="493776"/>
            <a:chOff x="0" y="0"/>
            <a:chExt cx="8229600" cy="658368"/>
          </a:xfrm>
        </p:grpSpPr>
        <p:sp>
          <p:nvSpPr>
            <p:cNvPr id="91" name="Freeform 91"/>
            <p:cNvSpPr/>
            <p:nvPr/>
          </p:nvSpPr>
          <p:spPr>
            <a:xfrm>
              <a:off x="0" y="0"/>
              <a:ext cx="8229600" cy="658368"/>
            </a:xfrm>
            <a:custGeom>
              <a:avLst/>
              <a:gdLst/>
              <a:ahLst/>
              <a:cxnLst/>
              <a:rect l="l" t="t" r="r" b="b"/>
              <a:pathLst>
                <a:path w="8229600" h="658368">
                  <a:moveTo>
                    <a:pt x="0" y="0"/>
                  </a:moveTo>
                  <a:lnTo>
                    <a:pt x="8229600" y="0"/>
                  </a:lnTo>
                  <a:lnTo>
                    <a:pt x="822960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</p:sp>
        <p:sp>
          <p:nvSpPr>
            <p:cNvPr id="92" name="TextBox 92"/>
            <p:cNvSpPr txBox="1"/>
            <p:nvPr/>
          </p:nvSpPr>
          <p:spPr>
            <a:xfrm>
              <a:off x="0" y="-28575"/>
              <a:ext cx="8229600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745"/>
                </a:lnSpc>
              </a:pPr>
              <a:r>
                <a:rPr lang="en-US" sz="145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Correlation does not establish causation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11452860" y="7900416"/>
            <a:ext cx="6172200" cy="493776"/>
            <a:chOff x="0" y="0"/>
            <a:chExt cx="8229600" cy="658368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8229600" cy="658368"/>
            </a:xfrm>
            <a:custGeom>
              <a:avLst/>
              <a:gdLst/>
              <a:ahLst/>
              <a:cxnLst/>
              <a:rect l="l" t="t" r="r" b="b"/>
              <a:pathLst>
                <a:path w="8229600" h="658368">
                  <a:moveTo>
                    <a:pt x="0" y="0"/>
                  </a:moveTo>
                  <a:lnTo>
                    <a:pt x="8229600" y="0"/>
                  </a:lnTo>
                  <a:lnTo>
                    <a:pt x="822960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</p:sp>
        <p:sp>
          <p:nvSpPr>
            <p:cNvPr id="95" name="TextBox 95"/>
            <p:cNvSpPr txBox="1"/>
            <p:nvPr/>
          </p:nvSpPr>
          <p:spPr>
            <a:xfrm>
              <a:off x="0" y="-28575"/>
              <a:ext cx="8229600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745"/>
                </a:lnSpc>
              </a:pPr>
              <a:r>
                <a:rPr lang="en-US" sz="145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Heavy Rain category has only 1 observation</a:t>
              </a:r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11452860" y="8394192"/>
            <a:ext cx="6172200" cy="493776"/>
            <a:chOff x="0" y="0"/>
            <a:chExt cx="8229600" cy="658368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8229600" cy="658368"/>
            </a:xfrm>
            <a:custGeom>
              <a:avLst/>
              <a:gdLst/>
              <a:ahLst/>
              <a:cxnLst/>
              <a:rect l="l" t="t" r="r" b="b"/>
              <a:pathLst>
                <a:path w="8229600" h="658368">
                  <a:moveTo>
                    <a:pt x="0" y="0"/>
                  </a:moveTo>
                  <a:lnTo>
                    <a:pt x="8229600" y="0"/>
                  </a:lnTo>
                  <a:lnTo>
                    <a:pt x="822960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</p:sp>
        <p:sp>
          <p:nvSpPr>
            <p:cNvPr id="98" name="TextBox 98"/>
            <p:cNvSpPr txBox="1"/>
            <p:nvPr/>
          </p:nvSpPr>
          <p:spPr>
            <a:xfrm>
              <a:off x="0" y="-28575"/>
              <a:ext cx="8229600" cy="6869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745"/>
                </a:lnSpc>
              </a:pPr>
              <a:r>
                <a:rPr lang="en-US" sz="145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•  The 14-Feb anomaly is a partial day (data ends at 07:00)</a:t>
              </a:r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676271" y="9789414"/>
            <a:ext cx="10972800" cy="411480"/>
            <a:chOff x="0" y="0"/>
            <a:chExt cx="14630400" cy="548640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</p:sp>
        <p:sp>
          <p:nvSpPr>
            <p:cNvPr id="101" name="TextBox 101"/>
            <p:cNvSpPr txBox="1"/>
            <p:nvPr/>
          </p:nvSpPr>
          <p:spPr>
            <a:xfrm>
              <a:off x="0" y="-28575"/>
              <a:ext cx="1463040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Bike Sharing Demand Analysis  </a:t>
              </a: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085897" y="2331241"/>
            <a:ext cx="10081260" cy="540569"/>
            <a:chOff x="0" y="0"/>
            <a:chExt cx="13441680" cy="720758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13441680" cy="720758"/>
            </a:xfrm>
            <a:custGeom>
              <a:avLst/>
              <a:gdLst/>
              <a:ahLst/>
              <a:cxnLst/>
              <a:rect l="l" t="t" r="r" b="b"/>
              <a:pathLst>
                <a:path w="13441680" h="720758">
                  <a:moveTo>
                    <a:pt x="0" y="0"/>
                  </a:moveTo>
                  <a:lnTo>
                    <a:pt x="13441680" y="0"/>
                  </a:lnTo>
                  <a:lnTo>
                    <a:pt x="13441680" y="720758"/>
                  </a:lnTo>
                  <a:lnTo>
                    <a:pt x="0" y="72075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13130" b="-313130"/>
              </a:stretch>
            </a:blipFill>
          </p:spPr>
        </p:sp>
      </p:grpSp>
      <p:grpSp>
        <p:nvGrpSpPr>
          <p:cNvPr id="104" name="Group 104"/>
          <p:cNvGrpSpPr/>
          <p:nvPr/>
        </p:nvGrpSpPr>
        <p:grpSpPr>
          <a:xfrm>
            <a:off x="677000" y="2635171"/>
            <a:ext cx="123444" cy="127798"/>
            <a:chOff x="0" y="0"/>
            <a:chExt cx="164592" cy="170397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164592" cy="170397"/>
            </a:xfrm>
            <a:custGeom>
              <a:avLst/>
              <a:gdLst/>
              <a:ahLst/>
              <a:cxnLst/>
              <a:rect l="l" t="t" r="r" b="b"/>
              <a:pathLst>
                <a:path w="164592" h="170397">
                  <a:moveTo>
                    <a:pt x="0" y="85198"/>
                  </a:moveTo>
                  <a:cubicBezTo>
                    <a:pt x="0" y="38129"/>
                    <a:pt x="36830" y="0"/>
                    <a:pt x="82296" y="0"/>
                  </a:cubicBezTo>
                  <a:cubicBezTo>
                    <a:pt x="127762" y="0"/>
                    <a:pt x="164592" y="38129"/>
                    <a:pt x="164592" y="85198"/>
                  </a:cubicBezTo>
                  <a:cubicBezTo>
                    <a:pt x="164592" y="132268"/>
                    <a:pt x="127762" y="170397"/>
                    <a:pt x="82296" y="170397"/>
                  </a:cubicBezTo>
                  <a:cubicBezTo>
                    <a:pt x="36830" y="170397"/>
                    <a:pt x="0" y="132268"/>
                    <a:pt x="0" y="85198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06" name="Group 106"/>
          <p:cNvGrpSpPr/>
          <p:nvPr/>
        </p:nvGrpSpPr>
        <p:grpSpPr>
          <a:xfrm>
            <a:off x="1038243" y="2406940"/>
            <a:ext cx="10081260" cy="567990"/>
            <a:chOff x="0" y="0"/>
            <a:chExt cx="13441680" cy="757320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13441680" cy="757320"/>
            </a:xfrm>
            <a:custGeom>
              <a:avLst/>
              <a:gdLst/>
              <a:ahLst/>
              <a:cxnLst/>
              <a:rect l="l" t="t" r="r" b="b"/>
              <a:pathLst>
                <a:path w="13441680" h="757320">
                  <a:moveTo>
                    <a:pt x="0" y="0"/>
                  </a:moveTo>
                  <a:lnTo>
                    <a:pt x="13441680" y="0"/>
                  </a:lnTo>
                  <a:lnTo>
                    <a:pt x="13441680" y="757320"/>
                  </a:lnTo>
                  <a:lnTo>
                    <a:pt x="0" y="7573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95599" b="-295599"/>
              </a:stretch>
            </a:blipFill>
          </p:spPr>
        </p:sp>
      </p:grpSp>
      <p:grpSp>
        <p:nvGrpSpPr>
          <p:cNvPr id="108" name="Group 108"/>
          <p:cNvGrpSpPr/>
          <p:nvPr/>
        </p:nvGrpSpPr>
        <p:grpSpPr>
          <a:xfrm>
            <a:off x="990619" y="2400283"/>
            <a:ext cx="10081260" cy="597573"/>
            <a:chOff x="0" y="0"/>
            <a:chExt cx="13441680" cy="796764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13441680" cy="796764"/>
            </a:xfrm>
            <a:custGeom>
              <a:avLst/>
              <a:gdLst/>
              <a:ahLst/>
              <a:cxnLst/>
              <a:rect l="l" t="t" r="r" b="b"/>
              <a:pathLst>
                <a:path w="13441680" h="796764">
                  <a:moveTo>
                    <a:pt x="0" y="0"/>
                  </a:moveTo>
                  <a:lnTo>
                    <a:pt x="13441680" y="0"/>
                  </a:lnTo>
                  <a:lnTo>
                    <a:pt x="13441680" y="796764"/>
                  </a:lnTo>
                  <a:lnTo>
                    <a:pt x="0" y="7967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0422" b="-277015"/>
              </a:stretch>
            </a:blipFill>
          </p:spPr>
        </p:sp>
        <p:sp>
          <p:nvSpPr>
            <p:cNvPr id="110" name="TextBox 110"/>
            <p:cNvSpPr txBox="1"/>
            <p:nvPr/>
          </p:nvSpPr>
          <p:spPr>
            <a:xfrm>
              <a:off x="0" y="-38100"/>
              <a:ext cx="13441680" cy="834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58,304 rentals across 1,000 hourly records; 91.6% registered, 8.4% casual</a:t>
              </a:r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677000" y="3194069"/>
            <a:ext cx="123444" cy="127798"/>
            <a:chOff x="0" y="0"/>
            <a:chExt cx="164592" cy="170397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164592" cy="170397"/>
            </a:xfrm>
            <a:custGeom>
              <a:avLst/>
              <a:gdLst/>
              <a:ahLst/>
              <a:cxnLst/>
              <a:rect l="l" t="t" r="r" b="b"/>
              <a:pathLst>
                <a:path w="164592" h="170397">
                  <a:moveTo>
                    <a:pt x="0" y="85198"/>
                  </a:moveTo>
                  <a:cubicBezTo>
                    <a:pt x="0" y="38129"/>
                    <a:pt x="36830" y="0"/>
                    <a:pt x="82296" y="0"/>
                  </a:cubicBezTo>
                  <a:cubicBezTo>
                    <a:pt x="127762" y="0"/>
                    <a:pt x="164592" y="38129"/>
                    <a:pt x="164592" y="85198"/>
                  </a:cubicBezTo>
                  <a:cubicBezTo>
                    <a:pt x="164592" y="132268"/>
                    <a:pt x="127762" y="170397"/>
                    <a:pt x="82296" y="170397"/>
                  </a:cubicBezTo>
                  <a:cubicBezTo>
                    <a:pt x="36830" y="170397"/>
                    <a:pt x="0" y="132268"/>
                    <a:pt x="0" y="85198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13" name="Group 113"/>
          <p:cNvGrpSpPr/>
          <p:nvPr/>
        </p:nvGrpSpPr>
        <p:grpSpPr>
          <a:xfrm>
            <a:off x="695334" y="3855266"/>
            <a:ext cx="123444" cy="127798"/>
            <a:chOff x="0" y="0"/>
            <a:chExt cx="164592" cy="170397"/>
          </a:xfrm>
        </p:grpSpPr>
        <p:sp>
          <p:nvSpPr>
            <p:cNvPr id="114" name="Freeform 114"/>
            <p:cNvSpPr/>
            <p:nvPr/>
          </p:nvSpPr>
          <p:spPr>
            <a:xfrm>
              <a:off x="0" y="0"/>
              <a:ext cx="164592" cy="170397"/>
            </a:xfrm>
            <a:custGeom>
              <a:avLst/>
              <a:gdLst/>
              <a:ahLst/>
              <a:cxnLst/>
              <a:rect l="l" t="t" r="r" b="b"/>
              <a:pathLst>
                <a:path w="164592" h="170397">
                  <a:moveTo>
                    <a:pt x="0" y="85198"/>
                  </a:moveTo>
                  <a:cubicBezTo>
                    <a:pt x="0" y="38129"/>
                    <a:pt x="36830" y="0"/>
                    <a:pt x="82296" y="0"/>
                  </a:cubicBezTo>
                  <a:cubicBezTo>
                    <a:pt x="127762" y="0"/>
                    <a:pt x="164592" y="38129"/>
                    <a:pt x="164592" y="85198"/>
                  </a:cubicBezTo>
                  <a:cubicBezTo>
                    <a:pt x="164592" y="132268"/>
                    <a:pt x="127762" y="170397"/>
                    <a:pt x="82296" y="170397"/>
                  </a:cubicBezTo>
                  <a:cubicBezTo>
                    <a:pt x="36830" y="170397"/>
                    <a:pt x="0" y="132268"/>
                    <a:pt x="0" y="85198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15" name="Group 115"/>
          <p:cNvGrpSpPr/>
          <p:nvPr/>
        </p:nvGrpSpPr>
        <p:grpSpPr>
          <a:xfrm>
            <a:off x="695334" y="4348747"/>
            <a:ext cx="123444" cy="127798"/>
            <a:chOff x="0" y="0"/>
            <a:chExt cx="164592" cy="170397"/>
          </a:xfrm>
        </p:grpSpPr>
        <p:sp>
          <p:nvSpPr>
            <p:cNvPr id="116" name="Freeform 116"/>
            <p:cNvSpPr/>
            <p:nvPr/>
          </p:nvSpPr>
          <p:spPr>
            <a:xfrm>
              <a:off x="0" y="0"/>
              <a:ext cx="164592" cy="170397"/>
            </a:xfrm>
            <a:custGeom>
              <a:avLst/>
              <a:gdLst/>
              <a:ahLst/>
              <a:cxnLst/>
              <a:rect l="l" t="t" r="r" b="b"/>
              <a:pathLst>
                <a:path w="164592" h="170397">
                  <a:moveTo>
                    <a:pt x="0" y="85198"/>
                  </a:moveTo>
                  <a:cubicBezTo>
                    <a:pt x="0" y="38129"/>
                    <a:pt x="36830" y="0"/>
                    <a:pt x="82296" y="0"/>
                  </a:cubicBezTo>
                  <a:cubicBezTo>
                    <a:pt x="127762" y="0"/>
                    <a:pt x="164592" y="38129"/>
                    <a:pt x="164592" y="85198"/>
                  </a:cubicBezTo>
                  <a:cubicBezTo>
                    <a:pt x="164592" y="132268"/>
                    <a:pt x="127762" y="170397"/>
                    <a:pt x="82296" y="170397"/>
                  </a:cubicBezTo>
                  <a:cubicBezTo>
                    <a:pt x="36830" y="170397"/>
                    <a:pt x="0" y="132268"/>
                    <a:pt x="0" y="85198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17" name="Group 117"/>
          <p:cNvGrpSpPr/>
          <p:nvPr/>
        </p:nvGrpSpPr>
        <p:grpSpPr>
          <a:xfrm>
            <a:off x="695334" y="4842228"/>
            <a:ext cx="123444" cy="127798"/>
            <a:chOff x="0" y="0"/>
            <a:chExt cx="164592" cy="170397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164592" cy="170397"/>
            </a:xfrm>
            <a:custGeom>
              <a:avLst/>
              <a:gdLst/>
              <a:ahLst/>
              <a:cxnLst/>
              <a:rect l="l" t="t" r="r" b="b"/>
              <a:pathLst>
                <a:path w="164592" h="170397">
                  <a:moveTo>
                    <a:pt x="0" y="85198"/>
                  </a:moveTo>
                  <a:cubicBezTo>
                    <a:pt x="0" y="38129"/>
                    <a:pt x="36830" y="0"/>
                    <a:pt x="82296" y="0"/>
                  </a:cubicBezTo>
                  <a:cubicBezTo>
                    <a:pt x="127762" y="0"/>
                    <a:pt x="164592" y="38129"/>
                    <a:pt x="164592" y="85198"/>
                  </a:cubicBezTo>
                  <a:cubicBezTo>
                    <a:pt x="164592" y="132268"/>
                    <a:pt x="127762" y="170397"/>
                    <a:pt x="82296" y="170397"/>
                  </a:cubicBezTo>
                  <a:cubicBezTo>
                    <a:pt x="36830" y="170397"/>
                    <a:pt x="0" y="132268"/>
                    <a:pt x="0" y="85198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19" name="Group 119"/>
          <p:cNvGrpSpPr/>
          <p:nvPr/>
        </p:nvGrpSpPr>
        <p:grpSpPr>
          <a:xfrm>
            <a:off x="695334" y="5431715"/>
            <a:ext cx="123444" cy="127798"/>
            <a:chOff x="0" y="0"/>
            <a:chExt cx="164592" cy="170397"/>
          </a:xfrm>
        </p:grpSpPr>
        <p:sp>
          <p:nvSpPr>
            <p:cNvPr id="120" name="Freeform 120"/>
            <p:cNvSpPr/>
            <p:nvPr/>
          </p:nvSpPr>
          <p:spPr>
            <a:xfrm>
              <a:off x="0" y="0"/>
              <a:ext cx="164592" cy="170397"/>
            </a:xfrm>
            <a:custGeom>
              <a:avLst/>
              <a:gdLst/>
              <a:ahLst/>
              <a:cxnLst/>
              <a:rect l="l" t="t" r="r" b="b"/>
              <a:pathLst>
                <a:path w="164592" h="170397">
                  <a:moveTo>
                    <a:pt x="0" y="85198"/>
                  </a:moveTo>
                  <a:cubicBezTo>
                    <a:pt x="0" y="38129"/>
                    <a:pt x="36830" y="0"/>
                    <a:pt x="82296" y="0"/>
                  </a:cubicBezTo>
                  <a:cubicBezTo>
                    <a:pt x="127762" y="0"/>
                    <a:pt x="164592" y="38129"/>
                    <a:pt x="164592" y="85198"/>
                  </a:cubicBezTo>
                  <a:cubicBezTo>
                    <a:pt x="164592" y="132268"/>
                    <a:pt x="127762" y="170397"/>
                    <a:pt x="82296" y="170397"/>
                  </a:cubicBezTo>
                  <a:cubicBezTo>
                    <a:pt x="36830" y="170397"/>
                    <a:pt x="0" y="132268"/>
                    <a:pt x="0" y="85198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21" name="Group 121"/>
          <p:cNvGrpSpPr/>
          <p:nvPr/>
        </p:nvGrpSpPr>
        <p:grpSpPr>
          <a:xfrm>
            <a:off x="990619" y="3578881"/>
            <a:ext cx="10081260" cy="597573"/>
            <a:chOff x="0" y="0"/>
            <a:chExt cx="13441680" cy="796764"/>
          </a:xfrm>
        </p:grpSpPr>
        <p:sp>
          <p:nvSpPr>
            <p:cNvPr id="122" name="Freeform 122"/>
            <p:cNvSpPr/>
            <p:nvPr/>
          </p:nvSpPr>
          <p:spPr>
            <a:xfrm>
              <a:off x="0" y="0"/>
              <a:ext cx="13441680" cy="796764"/>
            </a:xfrm>
            <a:custGeom>
              <a:avLst/>
              <a:gdLst/>
              <a:ahLst/>
              <a:cxnLst/>
              <a:rect l="l" t="t" r="r" b="b"/>
              <a:pathLst>
                <a:path w="13441680" h="796764">
                  <a:moveTo>
                    <a:pt x="0" y="0"/>
                  </a:moveTo>
                  <a:lnTo>
                    <a:pt x="13441680" y="0"/>
                  </a:lnTo>
                  <a:lnTo>
                    <a:pt x="13441680" y="796764"/>
                  </a:lnTo>
                  <a:lnTo>
                    <a:pt x="0" y="7967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0422" b="-277015"/>
              </a:stretch>
            </a:blipFill>
          </p:spPr>
        </p:sp>
        <p:sp>
          <p:nvSpPr>
            <p:cNvPr id="123" name="TextBox 123"/>
            <p:cNvSpPr txBox="1"/>
            <p:nvPr/>
          </p:nvSpPr>
          <p:spPr>
            <a:xfrm>
              <a:off x="0" y="-38100"/>
              <a:ext cx="13441680" cy="834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Clear-weather average demand: 61.67 rentals/hour, compared with 33.20 rentals/hour during light rain</a:t>
              </a:r>
            </a:p>
          </p:txBody>
        </p:sp>
      </p:grpSp>
      <p:grpSp>
        <p:nvGrpSpPr>
          <p:cNvPr id="124" name="Group 124"/>
          <p:cNvGrpSpPr/>
          <p:nvPr/>
        </p:nvGrpSpPr>
        <p:grpSpPr>
          <a:xfrm>
            <a:off x="990619" y="4086580"/>
            <a:ext cx="10081260" cy="597573"/>
            <a:chOff x="0" y="0"/>
            <a:chExt cx="13441680" cy="796764"/>
          </a:xfrm>
        </p:grpSpPr>
        <p:sp>
          <p:nvSpPr>
            <p:cNvPr id="125" name="Freeform 125"/>
            <p:cNvSpPr/>
            <p:nvPr/>
          </p:nvSpPr>
          <p:spPr>
            <a:xfrm>
              <a:off x="0" y="0"/>
              <a:ext cx="13441680" cy="796764"/>
            </a:xfrm>
            <a:custGeom>
              <a:avLst/>
              <a:gdLst/>
              <a:ahLst/>
              <a:cxnLst/>
              <a:rect l="l" t="t" r="r" b="b"/>
              <a:pathLst>
                <a:path w="13441680" h="796764">
                  <a:moveTo>
                    <a:pt x="0" y="0"/>
                  </a:moveTo>
                  <a:lnTo>
                    <a:pt x="13441680" y="0"/>
                  </a:lnTo>
                  <a:lnTo>
                    <a:pt x="13441680" y="796764"/>
                  </a:lnTo>
                  <a:lnTo>
                    <a:pt x="0" y="7967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0422" b="-277015"/>
              </a:stretch>
            </a:blipFill>
          </p:spPr>
        </p:sp>
        <p:sp>
          <p:nvSpPr>
            <p:cNvPr id="126" name="TextBox 126"/>
            <p:cNvSpPr txBox="1"/>
            <p:nvPr/>
          </p:nvSpPr>
          <p:spPr>
            <a:xfrm>
              <a:off x="0" y="-38100"/>
              <a:ext cx="13441680" cy="834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Temperature correlates more strongly with casual (+0.470) than registered (+0.169) rentals</a:t>
              </a:r>
            </a:p>
          </p:txBody>
        </p:sp>
      </p:grpSp>
      <p:grpSp>
        <p:nvGrpSpPr>
          <p:cNvPr id="127" name="Group 127"/>
          <p:cNvGrpSpPr/>
          <p:nvPr/>
        </p:nvGrpSpPr>
        <p:grpSpPr>
          <a:xfrm>
            <a:off x="990619" y="4583552"/>
            <a:ext cx="10081260" cy="597573"/>
            <a:chOff x="0" y="0"/>
            <a:chExt cx="13441680" cy="796764"/>
          </a:xfrm>
        </p:grpSpPr>
        <p:sp>
          <p:nvSpPr>
            <p:cNvPr id="128" name="Freeform 128"/>
            <p:cNvSpPr/>
            <p:nvPr/>
          </p:nvSpPr>
          <p:spPr>
            <a:xfrm>
              <a:off x="0" y="0"/>
              <a:ext cx="13441680" cy="796764"/>
            </a:xfrm>
            <a:custGeom>
              <a:avLst/>
              <a:gdLst/>
              <a:ahLst/>
              <a:cxnLst/>
              <a:rect l="l" t="t" r="r" b="b"/>
              <a:pathLst>
                <a:path w="13441680" h="796764">
                  <a:moveTo>
                    <a:pt x="0" y="0"/>
                  </a:moveTo>
                  <a:lnTo>
                    <a:pt x="13441680" y="0"/>
                  </a:lnTo>
                  <a:lnTo>
                    <a:pt x="13441680" y="796764"/>
                  </a:lnTo>
                  <a:lnTo>
                    <a:pt x="0" y="7967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0422" b="-277015"/>
              </a:stretch>
            </a:blipFill>
          </p:spPr>
        </p:sp>
        <p:sp>
          <p:nvSpPr>
            <p:cNvPr id="129" name="TextBox 129"/>
            <p:cNvSpPr txBox="1"/>
            <p:nvPr/>
          </p:nvSpPr>
          <p:spPr>
            <a:xfrm>
              <a:off x="0" y="-38100"/>
              <a:ext cx="13441680" cy="834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Humidity shows a negative correlation with total rentals (−0.254)</a:t>
              </a:r>
            </a:p>
          </p:txBody>
        </p:sp>
      </p:grpSp>
      <p:grpSp>
        <p:nvGrpSpPr>
          <p:cNvPr id="130" name="Group 130"/>
          <p:cNvGrpSpPr/>
          <p:nvPr/>
        </p:nvGrpSpPr>
        <p:grpSpPr>
          <a:xfrm>
            <a:off x="990619" y="5126338"/>
            <a:ext cx="10081260" cy="597573"/>
            <a:chOff x="0" y="0"/>
            <a:chExt cx="13441680" cy="796764"/>
          </a:xfrm>
        </p:grpSpPr>
        <p:sp>
          <p:nvSpPr>
            <p:cNvPr id="131" name="Freeform 131"/>
            <p:cNvSpPr/>
            <p:nvPr/>
          </p:nvSpPr>
          <p:spPr>
            <a:xfrm>
              <a:off x="0" y="0"/>
              <a:ext cx="13441680" cy="796764"/>
            </a:xfrm>
            <a:custGeom>
              <a:avLst/>
              <a:gdLst/>
              <a:ahLst/>
              <a:cxnLst/>
              <a:rect l="l" t="t" r="r" b="b"/>
              <a:pathLst>
                <a:path w="13441680" h="796764">
                  <a:moveTo>
                    <a:pt x="0" y="0"/>
                  </a:moveTo>
                  <a:lnTo>
                    <a:pt x="13441680" y="0"/>
                  </a:lnTo>
                  <a:lnTo>
                    <a:pt x="13441680" y="796764"/>
                  </a:lnTo>
                  <a:lnTo>
                    <a:pt x="0" y="7967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0422" b="-277015"/>
              </a:stretch>
            </a:blipFill>
          </p:spPr>
        </p:sp>
        <p:sp>
          <p:nvSpPr>
            <p:cNvPr id="132" name="TextBox 132"/>
            <p:cNvSpPr txBox="1"/>
            <p:nvPr/>
          </p:nvSpPr>
          <p:spPr>
            <a:xfrm>
              <a:off x="0" y="-38100"/>
              <a:ext cx="13441680" cy="83486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First 7 forecast days project an average of 1,500.49 rentals/day</a:t>
              </a:r>
            </a:p>
          </p:txBody>
        </p:sp>
      </p:grpSp>
      <p:grpSp>
        <p:nvGrpSpPr>
          <p:cNvPr id="133" name="Group 133"/>
          <p:cNvGrpSpPr/>
          <p:nvPr/>
        </p:nvGrpSpPr>
        <p:grpSpPr>
          <a:xfrm>
            <a:off x="704869" y="5971561"/>
            <a:ext cx="10424160" cy="411480"/>
            <a:chOff x="0" y="0"/>
            <a:chExt cx="13898880" cy="548640"/>
          </a:xfrm>
        </p:grpSpPr>
        <p:sp>
          <p:nvSpPr>
            <p:cNvPr id="134" name="Freeform 134"/>
            <p:cNvSpPr/>
            <p:nvPr/>
          </p:nvSpPr>
          <p:spPr>
            <a:xfrm>
              <a:off x="0" y="0"/>
              <a:ext cx="13898880" cy="548640"/>
            </a:xfrm>
            <a:custGeom>
              <a:avLst/>
              <a:gdLst/>
              <a:ahLst/>
              <a:cxnLst/>
              <a:rect l="l" t="t" r="r" b="b"/>
              <a:pathLst>
                <a:path w="13898880" h="548640">
                  <a:moveTo>
                    <a:pt x="0" y="0"/>
                  </a:moveTo>
                  <a:lnTo>
                    <a:pt x="13898880" y="0"/>
                  </a:lnTo>
                  <a:lnTo>
                    <a:pt x="138988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43620" b="-443620"/>
              </a:stretch>
            </a:blipFill>
          </p:spPr>
        </p:sp>
        <p:sp>
          <p:nvSpPr>
            <p:cNvPr id="135" name="TextBox 135"/>
            <p:cNvSpPr txBox="1"/>
            <p:nvPr/>
          </p:nvSpPr>
          <p:spPr>
            <a:xfrm>
              <a:off x="0" y="-28575"/>
              <a:ext cx="13898880" cy="5772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74">
                  <a:solidFill>
                    <a:srgbClr val="173F5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RECOMMENDATIONS </a:t>
              </a:r>
            </a:p>
          </p:txBody>
        </p:sp>
      </p:grpSp>
      <p:sp>
        <p:nvSpPr>
          <p:cNvPr id="136" name="AutoShape 136"/>
          <p:cNvSpPr/>
          <p:nvPr/>
        </p:nvSpPr>
        <p:spPr>
          <a:xfrm>
            <a:off x="695343" y="6319846"/>
            <a:ext cx="10443212" cy="19138"/>
          </a:xfrm>
          <a:prstGeom prst="line">
            <a:avLst/>
          </a:prstGeom>
          <a:ln w="9525" cap="rnd">
            <a:solidFill>
              <a:srgbClr val="E7ECF1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7" name="Group 137"/>
          <p:cNvGrpSpPr/>
          <p:nvPr/>
        </p:nvGrpSpPr>
        <p:grpSpPr>
          <a:xfrm>
            <a:off x="685800" y="6590386"/>
            <a:ext cx="123444" cy="121628"/>
            <a:chOff x="0" y="0"/>
            <a:chExt cx="164592" cy="162171"/>
          </a:xfrm>
        </p:grpSpPr>
        <p:sp>
          <p:nvSpPr>
            <p:cNvPr id="138" name="Freeform 138"/>
            <p:cNvSpPr/>
            <p:nvPr/>
          </p:nvSpPr>
          <p:spPr>
            <a:xfrm>
              <a:off x="0" y="0"/>
              <a:ext cx="164592" cy="162171"/>
            </a:xfrm>
            <a:custGeom>
              <a:avLst/>
              <a:gdLst/>
              <a:ahLst/>
              <a:cxnLst/>
              <a:rect l="l" t="t" r="r" b="b"/>
              <a:pathLst>
                <a:path w="164592" h="162171">
                  <a:moveTo>
                    <a:pt x="0" y="81085"/>
                  </a:moveTo>
                  <a:cubicBezTo>
                    <a:pt x="0" y="36288"/>
                    <a:pt x="36830" y="0"/>
                    <a:pt x="82296" y="0"/>
                  </a:cubicBezTo>
                  <a:cubicBezTo>
                    <a:pt x="127762" y="0"/>
                    <a:pt x="164592" y="36288"/>
                    <a:pt x="164592" y="81085"/>
                  </a:cubicBezTo>
                  <a:cubicBezTo>
                    <a:pt x="164592" y="125882"/>
                    <a:pt x="127762" y="162171"/>
                    <a:pt x="82296" y="162171"/>
                  </a:cubicBezTo>
                  <a:cubicBezTo>
                    <a:pt x="36830" y="162171"/>
                    <a:pt x="0" y="125882"/>
                    <a:pt x="0" y="81085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39" name="Group 139"/>
          <p:cNvGrpSpPr/>
          <p:nvPr/>
        </p:nvGrpSpPr>
        <p:grpSpPr>
          <a:xfrm>
            <a:off x="990619" y="6477870"/>
            <a:ext cx="10081260" cy="540569"/>
            <a:chOff x="0" y="0"/>
            <a:chExt cx="13441680" cy="720758"/>
          </a:xfrm>
        </p:grpSpPr>
        <p:sp>
          <p:nvSpPr>
            <p:cNvPr id="140" name="Freeform 140"/>
            <p:cNvSpPr/>
            <p:nvPr/>
          </p:nvSpPr>
          <p:spPr>
            <a:xfrm>
              <a:off x="0" y="0"/>
              <a:ext cx="13441680" cy="720758"/>
            </a:xfrm>
            <a:custGeom>
              <a:avLst/>
              <a:gdLst/>
              <a:ahLst/>
              <a:cxnLst/>
              <a:rect l="l" t="t" r="r" b="b"/>
              <a:pathLst>
                <a:path w="13441680" h="720758">
                  <a:moveTo>
                    <a:pt x="0" y="0"/>
                  </a:moveTo>
                  <a:lnTo>
                    <a:pt x="13441680" y="0"/>
                  </a:lnTo>
                  <a:lnTo>
                    <a:pt x="13441680" y="720758"/>
                  </a:lnTo>
                  <a:lnTo>
                    <a:pt x="0" y="72075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13130" b="-313130"/>
              </a:stretch>
            </a:blipFill>
          </p:spPr>
        </p:sp>
      </p:grpSp>
      <p:grpSp>
        <p:nvGrpSpPr>
          <p:cNvPr id="141" name="Group 141"/>
          <p:cNvGrpSpPr/>
          <p:nvPr/>
        </p:nvGrpSpPr>
        <p:grpSpPr>
          <a:xfrm>
            <a:off x="990619" y="6449716"/>
            <a:ext cx="10081260" cy="568723"/>
            <a:chOff x="0" y="0"/>
            <a:chExt cx="13441680" cy="758298"/>
          </a:xfrm>
        </p:grpSpPr>
        <p:sp>
          <p:nvSpPr>
            <p:cNvPr id="142" name="Freeform 142"/>
            <p:cNvSpPr/>
            <p:nvPr/>
          </p:nvSpPr>
          <p:spPr>
            <a:xfrm>
              <a:off x="0" y="0"/>
              <a:ext cx="13441680" cy="758298"/>
            </a:xfrm>
            <a:custGeom>
              <a:avLst/>
              <a:gdLst/>
              <a:ahLst/>
              <a:cxnLst/>
              <a:rect l="l" t="t" r="r" b="b"/>
              <a:pathLst>
                <a:path w="13441680" h="758298">
                  <a:moveTo>
                    <a:pt x="0" y="0"/>
                  </a:moveTo>
                  <a:lnTo>
                    <a:pt x="13441680" y="0"/>
                  </a:lnTo>
                  <a:lnTo>
                    <a:pt x="13441680" y="758298"/>
                  </a:lnTo>
                  <a:lnTo>
                    <a:pt x="0" y="75829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647" b="-296140"/>
              </a:stretch>
            </a:blipFill>
          </p:spPr>
        </p:sp>
        <p:sp>
          <p:nvSpPr>
            <p:cNvPr id="143" name="TextBox 143"/>
            <p:cNvSpPr txBox="1"/>
            <p:nvPr/>
          </p:nvSpPr>
          <p:spPr>
            <a:xfrm>
              <a:off x="0" y="-38100"/>
              <a:ext cx="13441680" cy="79639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Commuter peaks: Prioritise bike availability around 08:00 and 17:00, when demand is highest.</a:t>
              </a:r>
            </a:p>
          </p:txBody>
        </p:sp>
      </p:grpSp>
      <p:grpSp>
        <p:nvGrpSpPr>
          <p:cNvPr id="144" name="Group 144"/>
          <p:cNvGrpSpPr/>
          <p:nvPr/>
        </p:nvGrpSpPr>
        <p:grpSpPr>
          <a:xfrm>
            <a:off x="695334" y="7198452"/>
            <a:ext cx="123444" cy="121628"/>
            <a:chOff x="0" y="0"/>
            <a:chExt cx="164592" cy="162171"/>
          </a:xfrm>
        </p:grpSpPr>
        <p:sp>
          <p:nvSpPr>
            <p:cNvPr id="145" name="Freeform 145"/>
            <p:cNvSpPr/>
            <p:nvPr/>
          </p:nvSpPr>
          <p:spPr>
            <a:xfrm>
              <a:off x="0" y="0"/>
              <a:ext cx="164592" cy="162171"/>
            </a:xfrm>
            <a:custGeom>
              <a:avLst/>
              <a:gdLst/>
              <a:ahLst/>
              <a:cxnLst/>
              <a:rect l="l" t="t" r="r" b="b"/>
              <a:pathLst>
                <a:path w="164592" h="162171">
                  <a:moveTo>
                    <a:pt x="0" y="81085"/>
                  </a:moveTo>
                  <a:cubicBezTo>
                    <a:pt x="0" y="36288"/>
                    <a:pt x="36830" y="0"/>
                    <a:pt x="82296" y="0"/>
                  </a:cubicBezTo>
                  <a:cubicBezTo>
                    <a:pt x="127762" y="0"/>
                    <a:pt x="164592" y="36288"/>
                    <a:pt x="164592" y="81085"/>
                  </a:cubicBezTo>
                  <a:cubicBezTo>
                    <a:pt x="164592" y="125882"/>
                    <a:pt x="127762" y="162171"/>
                    <a:pt x="82296" y="162171"/>
                  </a:cubicBezTo>
                  <a:cubicBezTo>
                    <a:pt x="36830" y="162171"/>
                    <a:pt x="0" y="125882"/>
                    <a:pt x="0" y="81085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46" name="Group 146"/>
          <p:cNvGrpSpPr/>
          <p:nvPr/>
        </p:nvGrpSpPr>
        <p:grpSpPr>
          <a:xfrm>
            <a:off x="1000153" y="7003783"/>
            <a:ext cx="10081260" cy="540569"/>
            <a:chOff x="0" y="0"/>
            <a:chExt cx="13441680" cy="720758"/>
          </a:xfrm>
        </p:grpSpPr>
        <p:sp>
          <p:nvSpPr>
            <p:cNvPr id="147" name="Freeform 147"/>
            <p:cNvSpPr/>
            <p:nvPr/>
          </p:nvSpPr>
          <p:spPr>
            <a:xfrm>
              <a:off x="0" y="0"/>
              <a:ext cx="13441680" cy="720758"/>
            </a:xfrm>
            <a:custGeom>
              <a:avLst/>
              <a:gdLst/>
              <a:ahLst/>
              <a:cxnLst/>
              <a:rect l="l" t="t" r="r" b="b"/>
              <a:pathLst>
                <a:path w="13441680" h="720758">
                  <a:moveTo>
                    <a:pt x="0" y="0"/>
                  </a:moveTo>
                  <a:lnTo>
                    <a:pt x="13441680" y="0"/>
                  </a:lnTo>
                  <a:lnTo>
                    <a:pt x="13441680" y="720758"/>
                  </a:lnTo>
                  <a:lnTo>
                    <a:pt x="0" y="72075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13130" b="-313130"/>
              </a:stretch>
            </a:blipFill>
          </p:spPr>
        </p:sp>
      </p:grpSp>
      <p:grpSp>
        <p:nvGrpSpPr>
          <p:cNvPr id="148" name="Group 148"/>
          <p:cNvGrpSpPr/>
          <p:nvPr/>
        </p:nvGrpSpPr>
        <p:grpSpPr>
          <a:xfrm>
            <a:off x="1000153" y="7066064"/>
            <a:ext cx="10081260" cy="856566"/>
            <a:chOff x="0" y="0"/>
            <a:chExt cx="13441680" cy="1142088"/>
          </a:xfrm>
        </p:grpSpPr>
        <p:sp>
          <p:nvSpPr>
            <p:cNvPr id="149" name="Freeform 149"/>
            <p:cNvSpPr/>
            <p:nvPr/>
          </p:nvSpPr>
          <p:spPr>
            <a:xfrm>
              <a:off x="0" y="0"/>
              <a:ext cx="13441680" cy="1142088"/>
            </a:xfrm>
            <a:custGeom>
              <a:avLst/>
              <a:gdLst/>
              <a:ahLst/>
              <a:cxnLst/>
              <a:rect l="l" t="t" r="r" b="b"/>
              <a:pathLst>
                <a:path w="13441680" h="1142088">
                  <a:moveTo>
                    <a:pt x="0" y="0"/>
                  </a:moveTo>
                  <a:lnTo>
                    <a:pt x="13441680" y="0"/>
                  </a:lnTo>
                  <a:lnTo>
                    <a:pt x="13441680" y="1142088"/>
                  </a:lnTo>
                  <a:lnTo>
                    <a:pt x="0" y="11420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5633" b="-163020"/>
              </a:stretch>
            </a:blipFill>
          </p:spPr>
        </p:sp>
        <p:sp>
          <p:nvSpPr>
            <p:cNvPr id="150" name="TextBox 150"/>
            <p:cNvSpPr txBox="1"/>
            <p:nvPr/>
          </p:nvSpPr>
          <p:spPr>
            <a:xfrm>
              <a:off x="0" y="-38100"/>
              <a:ext cx="13441680" cy="11801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Lower-demand periods: Adjust bike availability during weekends and light-rain conditions to align with lower expected demand.</a:t>
              </a:r>
            </a:p>
            <a:p>
              <a:pPr algn="l">
                <a:lnSpc>
                  <a:spcPts val="2070"/>
                </a:lnSpc>
              </a:pPr>
              <a:endParaRPr lang="en-US" sz="1725">
                <a:solidFill>
                  <a:srgbClr val="263238"/>
                </a:solidFill>
                <a:latin typeface="Calibri (MS)"/>
                <a:ea typeface="Calibri (MS)"/>
                <a:cs typeface="Calibri (MS)"/>
                <a:sym typeface="Calibri (MS)"/>
              </a:endParaRPr>
            </a:p>
          </p:txBody>
        </p:sp>
      </p:grpSp>
      <p:grpSp>
        <p:nvGrpSpPr>
          <p:cNvPr id="151" name="Group 151"/>
          <p:cNvGrpSpPr/>
          <p:nvPr/>
        </p:nvGrpSpPr>
        <p:grpSpPr>
          <a:xfrm>
            <a:off x="695334" y="7921974"/>
            <a:ext cx="123444" cy="121628"/>
            <a:chOff x="0" y="0"/>
            <a:chExt cx="164592" cy="162171"/>
          </a:xfrm>
        </p:grpSpPr>
        <p:sp>
          <p:nvSpPr>
            <p:cNvPr id="152" name="Freeform 152"/>
            <p:cNvSpPr/>
            <p:nvPr/>
          </p:nvSpPr>
          <p:spPr>
            <a:xfrm>
              <a:off x="0" y="0"/>
              <a:ext cx="164592" cy="162171"/>
            </a:xfrm>
            <a:custGeom>
              <a:avLst/>
              <a:gdLst/>
              <a:ahLst/>
              <a:cxnLst/>
              <a:rect l="l" t="t" r="r" b="b"/>
              <a:pathLst>
                <a:path w="164592" h="162171">
                  <a:moveTo>
                    <a:pt x="0" y="81085"/>
                  </a:moveTo>
                  <a:cubicBezTo>
                    <a:pt x="0" y="36288"/>
                    <a:pt x="36830" y="0"/>
                    <a:pt x="82296" y="0"/>
                  </a:cubicBezTo>
                  <a:cubicBezTo>
                    <a:pt x="127762" y="0"/>
                    <a:pt x="164592" y="36288"/>
                    <a:pt x="164592" y="81085"/>
                  </a:cubicBezTo>
                  <a:cubicBezTo>
                    <a:pt x="164592" y="125882"/>
                    <a:pt x="127762" y="162171"/>
                    <a:pt x="82296" y="162171"/>
                  </a:cubicBezTo>
                  <a:cubicBezTo>
                    <a:pt x="36830" y="162171"/>
                    <a:pt x="0" y="125882"/>
                    <a:pt x="0" y="81085"/>
                  </a:cubicBezTo>
                  <a:close/>
                </a:path>
              </a:pathLst>
            </a:custGeom>
            <a:solidFill>
              <a:srgbClr val="2A9D8F"/>
            </a:solidFill>
          </p:spPr>
        </p:sp>
      </p:grpSp>
      <p:grpSp>
        <p:nvGrpSpPr>
          <p:cNvPr id="153" name="Group 153"/>
          <p:cNvGrpSpPr/>
          <p:nvPr/>
        </p:nvGrpSpPr>
        <p:grpSpPr>
          <a:xfrm>
            <a:off x="990619" y="7761122"/>
            <a:ext cx="10081260" cy="599391"/>
            <a:chOff x="0" y="0"/>
            <a:chExt cx="13441680" cy="799188"/>
          </a:xfrm>
        </p:grpSpPr>
        <p:sp>
          <p:nvSpPr>
            <p:cNvPr id="154" name="Freeform 154"/>
            <p:cNvSpPr/>
            <p:nvPr/>
          </p:nvSpPr>
          <p:spPr>
            <a:xfrm>
              <a:off x="0" y="0"/>
              <a:ext cx="13441680" cy="799188"/>
            </a:xfrm>
            <a:custGeom>
              <a:avLst/>
              <a:gdLst/>
              <a:ahLst/>
              <a:cxnLst/>
              <a:rect l="l" t="t" r="r" b="b"/>
              <a:pathLst>
                <a:path w="13441680" h="799188">
                  <a:moveTo>
                    <a:pt x="0" y="0"/>
                  </a:moveTo>
                  <a:lnTo>
                    <a:pt x="13441680" y="0"/>
                  </a:lnTo>
                  <a:lnTo>
                    <a:pt x="13441680" y="799188"/>
                  </a:lnTo>
                  <a:lnTo>
                    <a:pt x="0" y="7991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79571" b="-275872"/>
              </a:stretch>
            </a:blipFill>
          </p:spPr>
        </p:sp>
        <p:sp>
          <p:nvSpPr>
            <p:cNvPr id="155" name="TextBox 155"/>
            <p:cNvSpPr txBox="1"/>
            <p:nvPr/>
          </p:nvSpPr>
          <p:spPr>
            <a:xfrm>
              <a:off x="0" y="-38100"/>
              <a:ext cx="13441680" cy="8372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2632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Forecast-based planning: Use forecast results for short-term planning, while validating them with additional seasonal data.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1637</Words>
  <Application>Microsoft Office PowerPoint</Application>
  <PresentationFormat>Custom</PresentationFormat>
  <Paragraphs>274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Source Sans 3 Bold</vt:lpstr>
      <vt:lpstr>Calibri (MS) Italics</vt:lpstr>
      <vt:lpstr>Cambria Bold</vt:lpstr>
      <vt:lpstr>Source Sans 3</vt:lpstr>
      <vt:lpstr>Calibri (MS)</vt:lpstr>
      <vt:lpstr>Calibri (MS) Bold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 Sharing Demand Analysis.pptx</dc:title>
  <cp:lastModifiedBy>ADITI KUMAR</cp:lastModifiedBy>
  <cp:revision>2</cp:revision>
  <dcterms:created xsi:type="dcterms:W3CDTF">2006-08-16T00:00:00Z</dcterms:created>
  <dcterms:modified xsi:type="dcterms:W3CDTF">2026-10-04T13:20:17Z</dcterms:modified>
  <dc:identifier>DAHWbGkaA7g</dc:identifier>
</cp:coreProperties>
</file>