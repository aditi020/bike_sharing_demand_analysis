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libri (MS)" panose="020B0604020202020204" charset="0"/>
      <p:regular r:id="rId20"/>
    </p:embeddedFont>
    <p:embeddedFont>
      <p:font typeface="Calibri (MS) Bold" panose="020B0604020202020204" charset="0"/>
      <p:regular r:id="rId21"/>
    </p:embeddedFont>
    <p:embeddedFont>
      <p:font typeface="Calibri (MS) Italics" panose="020B0604020202020204" charset="0"/>
      <p:regular r:id="rId22"/>
    </p:embeddedFont>
    <p:embeddedFont>
      <p:font typeface="Cambria Bold" panose="02040803050406030204" pitchFamily="18" charset="0"/>
      <p:regular r:id="rId23"/>
      <p:bold r:id="rId24"/>
    </p:embeddedFont>
    <p:embeddedFont>
      <p:font typeface="Open Sans Bold" panose="020B0604020202020204" charset="0"/>
      <p:regular r:id="rId25"/>
    </p:embeddedFont>
    <p:embeddedFont>
      <p:font typeface="Poppins Semi-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79" y="3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5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9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10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15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.jpe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04800" y="0"/>
            <a:ext cx="18588228" cy="10287000"/>
            <a:chOff x="0" y="0"/>
            <a:chExt cx="24784304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84304" cy="13716000"/>
            </a:xfrm>
            <a:custGeom>
              <a:avLst/>
              <a:gdLst/>
              <a:ahLst/>
              <a:cxnLst/>
              <a:rect l="l" t="t" r="r" b="b"/>
              <a:pathLst>
                <a:path w="24784304" h="13716000">
                  <a:moveTo>
                    <a:pt x="0" y="0"/>
                  </a:moveTo>
                  <a:lnTo>
                    <a:pt x="24784304" y="0"/>
                  </a:lnTo>
                  <a:lnTo>
                    <a:pt x="247843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041250" y="5915025"/>
            <a:ext cx="5993892" cy="5993892"/>
            <a:chOff x="0" y="0"/>
            <a:chExt cx="7991856" cy="79918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991856" cy="7991856"/>
            </a:xfrm>
            <a:custGeom>
              <a:avLst/>
              <a:gdLst/>
              <a:ahLst/>
              <a:cxnLst/>
              <a:rect l="l" t="t" r="r" b="b"/>
              <a:pathLst>
                <a:path w="7991856" h="7991856">
                  <a:moveTo>
                    <a:pt x="0" y="3995928"/>
                  </a:moveTo>
                  <a:cubicBezTo>
                    <a:pt x="0" y="1789049"/>
                    <a:pt x="1789049" y="0"/>
                    <a:pt x="3995928" y="0"/>
                  </a:cubicBezTo>
                  <a:cubicBezTo>
                    <a:pt x="6202807" y="0"/>
                    <a:pt x="7991856" y="1789049"/>
                    <a:pt x="7991856" y="3995928"/>
                  </a:cubicBezTo>
                  <a:cubicBezTo>
                    <a:pt x="7991856" y="6202807"/>
                    <a:pt x="6202807" y="7991856"/>
                    <a:pt x="3995928" y="7991856"/>
                  </a:cubicBezTo>
                  <a:cubicBezTo>
                    <a:pt x="1789049" y="7991856"/>
                    <a:pt x="0" y="6202807"/>
                    <a:pt x="0" y="3995928"/>
                  </a:cubicBezTo>
                  <a:close/>
                </a:path>
              </a:pathLst>
            </a:custGeom>
            <a:solidFill>
              <a:srgbClr val="2A9D8F">
                <a:alpha val="0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208758" y="6933438"/>
            <a:ext cx="4101084" cy="4101084"/>
            <a:chOff x="0" y="0"/>
            <a:chExt cx="5468112" cy="54681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468112" cy="5468112"/>
            </a:xfrm>
            <a:custGeom>
              <a:avLst/>
              <a:gdLst/>
              <a:ahLst/>
              <a:cxnLst/>
              <a:rect l="l" t="t" r="r" b="b"/>
              <a:pathLst>
                <a:path w="5468112" h="5468112">
                  <a:moveTo>
                    <a:pt x="0" y="2734056"/>
                  </a:moveTo>
                  <a:cubicBezTo>
                    <a:pt x="0" y="1224026"/>
                    <a:pt x="1224026" y="0"/>
                    <a:pt x="2734056" y="0"/>
                  </a:cubicBezTo>
                  <a:cubicBezTo>
                    <a:pt x="4244086" y="0"/>
                    <a:pt x="5468112" y="1224026"/>
                    <a:pt x="5468112" y="2734056"/>
                  </a:cubicBezTo>
                  <a:cubicBezTo>
                    <a:pt x="5468112" y="4244086"/>
                    <a:pt x="4244086" y="5468112"/>
                    <a:pt x="2734056" y="5468112"/>
                  </a:cubicBezTo>
                  <a:cubicBezTo>
                    <a:pt x="1224026" y="5468112"/>
                    <a:pt x="0" y="4244086"/>
                    <a:pt x="0" y="2734056"/>
                  </a:cubicBezTo>
                  <a:close/>
                </a:path>
              </a:pathLst>
            </a:custGeom>
            <a:solidFill>
              <a:srgbClr val="2A9D8F">
                <a:alpha val="3922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4344415" y="2940679"/>
            <a:ext cx="9326880" cy="637818"/>
            <a:chOff x="0" y="0"/>
            <a:chExt cx="12435840" cy="8504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435840" cy="850424"/>
            </a:xfrm>
            <a:custGeom>
              <a:avLst/>
              <a:gdLst/>
              <a:ahLst/>
              <a:cxnLst/>
              <a:rect l="l" t="t" r="r" b="b"/>
              <a:pathLst>
                <a:path w="12435840" h="850424">
                  <a:moveTo>
                    <a:pt x="0" y="0"/>
                  </a:moveTo>
                  <a:lnTo>
                    <a:pt x="12435840" y="0"/>
                  </a:lnTo>
                  <a:lnTo>
                    <a:pt x="12435840" y="850424"/>
                  </a:lnTo>
                  <a:lnTo>
                    <a:pt x="0" y="850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058" b="-22480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104775"/>
              <a:ext cx="12435840" cy="7456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3200" b="1" spc="179">
                  <a:solidFill>
                    <a:srgbClr val="E9A2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NEXTHIKES IT SOLUTIONS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038336" y="3674000"/>
            <a:ext cx="9601200" cy="2606040"/>
            <a:chOff x="0" y="0"/>
            <a:chExt cx="12801600" cy="34747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01600" cy="3474720"/>
            </a:xfrm>
            <a:custGeom>
              <a:avLst/>
              <a:gdLst/>
              <a:ahLst/>
              <a:cxnLst/>
              <a:rect l="l" t="t" r="r" b="b"/>
              <a:pathLst>
                <a:path w="12801600" h="3474720">
                  <a:moveTo>
                    <a:pt x="0" y="0"/>
                  </a:moveTo>
                  <a:lnTo>
                    <a:pt x="12801600" y="0"/>
                  </a:lnTo>
                  <a:lnTo>
                    <a:pt x="128016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737" b="-21736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3709031" y="1250387"/>
            <a:ext cx="11129772" cy="7786226"/>
            <a:chOff x="0" y="0"/>
            <a:chExt cx="14839696" cy="1038163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839696" cy="10381631"/>
            </a:xfrm>
            <a:custGeom>
              <a:avLst/>
              <a:gdLst/>
              <a:ahLst/>
              <a:cxnLst/>
              <a:rect l="l" t="t" r="r" b="b"/>
              <a:pathLst>
                <a:path w="14839696" h="10381631">
                  <a:moveTo>
                    <a:pt x="0" y="0"/>
                  </a:moveTo>
                  <a:lnTo>
                    <a:pt x="14839696" y="0"/>
                  </a:lnTo>
                  <a:lnTo>
                    <a:pt x="14839696" y="10381631"/>
                  </a:lnTo>
                  <a:lnTo>
                    <a:pt x="0" y="103816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59" b="52054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4839696" cy="10391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559"/>
                </a:lnSpc>
              </a:pPr>
              <a:r>
                <a:rPr lang="en-US" sz="8799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Bike Sharing</a:t>
              </a:r>
            </a:p>
            <a:p>
              <a:pPr algn="ctr">
                <a:lnSpc>
                  <a:spcPts val="10559"/>
                </a:lnSpc>
              </a:pPr>
              <a:r>
                <a:rPr lang="en-US" sz="8799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Demand Analysis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7488062" y="3674000"/>
            <a:ext cx="3033738" cy="0"/>
          </a:xfrm>
          <a:prstGeom prst="line">
            <a:avLst/>
          </a:prstGeom>
          <a:ln w="19050" cap="rnd">
            <a:solidFill>
              <a:srgbClr val="2A9D8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7048988" y="9738360"/>
            <a:ext cx="685800" cy="411480"/>
            <a:chOff x="0" y="0"/>
            <a:chExt cx="914400" cy="5486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036" r="-27034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7048988" y="9716929"/>
            <a:ext cx="685800" cy="432911"/>
            <a:chOff x="0" y="0"/>
            <a:chExt cx="914400" cy="57721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4400" cy="577215"/>
            </a:xfrm>
            <a:custGeom>
              <a:avLst/>
              <a:gdLst/>
              <a:ahLst/>
              <a:cxnLst/>
              <a:rect l="l" t="t" r="r" b="b"/>
              <a:pathLst>
                <a:path w="914400" h="577215">
                  <a:moveTo>
                    <a:pt x="0" y="0"/>
                  </a:moveTo>
                  <a:lnTo>
                    <a:pt x="914400" y="0"/>
                  </a:lnTo>
                  <a:lnTo>
                    <a:pt x="914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91" r="-3099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914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01 / 17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465310" y="6896588"/>
            <a:ext cx="3079242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Submitted by Aditi Kumar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011780" y="6596173"/>
            <a:ext cx="5986303" cy="9508"/>
          </a:xfrm>
          <a:prstGeom prst="line">
            <a:avLst/>
          </a:prstGeom>
          <a:ln w="9525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 rot="-10800000">
            <a:off x="0" y="0"/>
            <a:ext cx="371027" cy="10260806"/>
            <a:chOff x="0" y="0"/>
            <a:chExt cx="494703" cy="1368107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94665" cy="13681075"/>
            </a:xfrm>
            <a:custGeom>
              <a:avLst/>
              <a:gdLst/>
              <a:ahLst/>
              <a:cxnLst/>
              <a:rect l="l" t="t" r="r" b="b"/>
              <a:pathLst>
                <a:path w="494665" h="13681075">
                  <a:moveTo>
                    <a:pt x="0" y="0"/>
                  </a:moveTo>
                  <a:lnTo>
                    <a:pt x="494665" y="0"/>
                  </a:lnTo>
                  <a:lnTo>
                    <a:pt x="494665" y="13681075"/>
                  </a:lnTo>
                  <a:lnTo>
                    <a:pt x="0" y="1368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>
                <a:alpha val="4706"/>
              </a:srgbClr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762629" y="765781"/>
            <a:ext cx="1514475" cy="866775"/>
            <a:chOff x="0" y="0"/>
            <a:chExt cx="2019300" cy="11557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19300" cy="1155700"/>
            </a:xfrm>
            <a:custGeom>
              <a:avLst/>
              <a:gdLst/>
              <a:ahLst/>
              <a:cxnLst/>
              <a:rect l="l" t="t" r="r" b="b"/>
              <a:pathLst>
                <a:path w="2019300" h="1155700">
                  <a:moveTo>
                    <a:pt x="0" y="0"/>
                  </a:moveTo>
                  <a:lnTo>
                    <a:pt x="2019300" y="0"/>
                  </a:lnTo>
                  <a:lnTo>
                    <a:pt x="2019300" y="1155700"/>
                  </a:lnTo>
                  <a:lnTo>
                    <a:pt x="0" y="115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2277104" y="989276"/>
            <a:ext cx="2368325" cy="20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5"/>
              </a:lnSpc>
            </a:pPr>
            <a:r>
              <a:rPr lang="en-US" sz="121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Bike Sharing Demand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23444"/>
            <a:chOff x="0" y="0"/>
            <a:chExt cx="24377904" cy="164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164592"/>
            </a:xfrm>
            <a:custGeom>
              <a:avLst/>
              <a:gdLst/>
              <a:ahLst/>
              <a:cxnLst/>
              <a:rect l="l" t="t" r="r" b="b"/>
              <a:pathLst>
                <a:path w="24377904" h="164592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438912"/>
            <a:ext cx="12344400" cy="411480"/>
            <a:chOff x="0" y="0"/>
            <a:chExt cx="1645920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" y="410337"/>
            <a:ext cx="12344400" cy="440055"/>
            <a:chOff x="0" y="0"/>
            <a:chExt cx="16459200" cy="5867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00" cy="586740"/>
            </a:xfrm>
            <a:custGeom>
              <a:avLst/>
              <a:gdLst/>
              <a:ahLst/>
              <a:cxnLst/>
              <a:rect l="l" t="t" r="r" b="b"/>
              <a:pathLst>
                <a:path w="16459200" h="586740">
                  <a:moveTo>
                    <a:pt x="0" y="0"/>
                  </a:moveTo>
                  <a:lnTo>
                    <a:pt x="16459200" y="0"/>
                  </a:lnTo>
                  <a:lnTo>
                    <a:pt x="164592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6593" b="-49659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592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·  INTRODUCTION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5800" y="795528"/>
            <a:ext cx="16870680" cy="960120"/>
            <a:chOff x="0" y="0"/>
            <a:chExt cx="22494240" cy="1280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94239" cy="1280160"/>
            </a:xfrm>
            <a:custGeom>
              <a:avLst/>
              <a:gdLst/>
              <a:ahLst/>
              <a:cxnLst/>
              <a:rect l="l" t="t" r="r" b="b"/>
              <a:pathLst>
                <a:path w="22494239" h="1280160">
                  <a:moveTo>
                    <a:pt x="0" y="0"/>
                  </a:moveTo>
                  <a:lnTo>
                    <a:pt x="22494239" y="0"/>
                  </a:lnTo>
                  <a:lnTo>
                    <a:pt x="224942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141" b="-29214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85800" y="781240"/>
            <a:ext cx="16870680" cy="974407"/>
            <a:chOff x="0" y="0"/>
            <a:chExt cx="22494240" cy="12992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94239" cy="1299210"/>
            </a:xfrm>
            <a:custGeom>
              <a:avLst/>
              <a:gdLst/>
              <a:ahLst/>
              <a:cxnLst/>
              <a:rect l="l" t="t" r="r" b="b"/>
              <a:pathLst>
                <a:path w="22494239" h="1299210">
                  <a:moveTo>
                    <a:pt x="0" y="0"/>
                  </a:moveTo>
                  <a:lnTo>
                    <a:pt x="22494239" y="0"/>
                  </a:lnTo>
                  <a:lnTo>
                    <a:pt x="22494239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7359" b="-28735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2494240" cy="131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Project Objective &amp; Dataset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685801" y="1755649"/>
            <a:ext cx="1524000" cy="9532"/>
          </a:xfrm>
          <a:prstGeom prst="line">
            <a:avLst/>
          </a:prstGeom>
          <a:ln w="19050" cap="rnd">
            <a:solidFill>
              <a:srgbClr val="E9A2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685800" y="9738360"/>
            <a:ext cx="10972800" cy="411480"/>
            <a:chOff x="0" y="0"/>
            <a:chExt cx="14630400" cy="5486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240" b="-469238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685800" y="9716929"/>
            <a:ext cx="10972800" cy="432911"/>
            <a:chOff x="0" y="0"/>
            <a:chExt cx="14630400" cy="57721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630400" cy="577215"/>
            </a:xfrm>
            <a:custGeom>
              <a:avLst/>
              <a:gdLst/>
              <a:ahLst/>
              <a:cxnLst/>
              <a:rect l="l" t="t" r="r" b="b"/>
              <a:pathLst>
                <a:path w="14630400" h="577215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3878" b="-443878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Bike Sharing Demand Analysis  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048988" y="9738360"/>
            <a:ext cx="685800" cy="411480"/>
            <a:chOff x="0" y="0"/>
            <a:chExt cx="914400" cy="5486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36" r="-27034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7048988" y="9716929"/>
            <a:ext cx="685800" cy="432911"/>
            <a:chOff x="0" y="0"/>
            <a:chExt cx="914400" cy="57721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14400" cy="577215"/>
            </a:xfrm>
            <a:custGeom>
              <a:avLst/>
              <a:gdLst/>
              <a:ahLst/>
              <a:cxnLst/>
              <a:rect l="l" t="t" r="r" b="b"/>
              <a:pathLst>
                <a:path w="914400" h="577215">
                  <a:moveTo>
                    <a:pt x="0" y="0"/>
                  </a:moveTo>
                  <a:lnTo>
                    <a:pt x="914400" y="0"/>
                  </a:lnTo>
                  <a:lnTo>
                    <a:pt x="914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991" r="-30991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914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 / 17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6116" y="2128569"/>
            <a:ext cx="8691805" cy="461182"/>
            <a:chOff x="0" y="0"/>
            <a:chExt cx="11589074" cy="61490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589073" cy="614909"/>
            </a:xfrm>
            <a:custGeom>
              <a:avLst/>
              <a:gdLst/>
              <a:ahLst/>
              <a:cxnLst/>
              <a:rect l="l" t="t" r="r" b="b"/>
              <a:pathLst>
                <a:path w="11589073" h="614909">
                  <a:moveTo>
                    <a:pt x="0" y="0"/>
                  </a:moveTo>
                  <a:lnTo>
                    <a:pt x="11589073" y="0"/>
                  </a:lnTo>
                  <a:lnTo>
                    <a:pt x="11589073" y="614909"/>
                  </a:lnTo>
                  <a:lnTo>
                    <a:pt x="0" y="614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974" b="-316976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686116" y="2104549"/>
            <a:ext cx="8691805" cy="485202"/>
            <a:chOff x="0" y="0"/>
            <a:chExt cx="11589074" cy="64693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589073" cy="646936"/>
            </a:xfrm>
            <a:custGeom>
              <a:avLst/>
              <a:gdLst/>
              <a:ahLst/>
              <a:cxnLst/>
              <a:rect l="l" t="t" r="r" b="b"/>
              <a:pathLst>
                <a:path w="11589073" h="646936">
                  <a:moveTo>
                    <a:pt x="0" y="0"/>
                  </a:moveTo>
                  <a:lnTo>
                    <a:pt x="11589073" y="0"/>
                  </a:lnTo>
                  <a:lnTo>
                    <a:pt x="11589073" y="646936"/>
                  </a:lnTo>
                  <a:lnTo>
                    <a:pt x="0" y="646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6894" r="2161" b="-286117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11589074" cy="6755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74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 rot="3840">
            <a:off x="671503" y="2555367"/>
            <a:ext cx="8532524" cy="0"/>
          </a:xfrm>
          <a:prstGeom prst="line">
            <a:avLst/>
          </a:prstGeom>
          <a:ln w="9525" cap="rnd">
            <a:solidFill>
              <a:srgbClr val="E7ECF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1" name="Group 31"/>
          <p:cNvGrpSpPr/>
          <p:nvPr/>
        </p:nvGrpSpPr>
        <p:grpSpPr>
          <a:xfrm>
            <a:off x="717269" y="2743478"/>
            <a:ext cx="8691805" cy="1537274"/>
            <a:chOff x="0" y="0"/>
            <a:chExt cx="11589074" cy="204969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589073" cy="2049698"/>
            </a:xfrm>
            <a:custGeom>
              <a:avLst/>
              <a:gdLst/>
              <a:ahLst/>
              <a:cxnLst/>
              <a:rect l="l" t="t" r="r" b="b"/>
              <a:pathLst>
                <a:path w="11589073" h="2049698">
                  <a:moveTo>
                    <a:pt x="0" y="0"/>
                  </a:moveTo>
                  <a:lnTo>
                    <a:pt x="11589073" y="0"/>
                  </a:lnTo>
                  <a:lnTo>
                    <a:pt x="11589073" y="2049698"/>
                  </a:lnTo>
                  <a:lnTo>
                    <a:pt x="0" y="20496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092" b="-60092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685800" y="2711452"/>
            <a:ext cx="8691805" cy="1569300"/>
            <a:chOff x="0" y="0"/>
            <a:chExt cx="11589074" cy="2092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589073" cy="2092400"/>
            </a:xfrm>
            <a:custGeom>
              <a:avLst/>
              <a:gdLst/>
              <a:ahLst/>
              <a:cxnLst/>
              <a:rect l="l" t="t" r="r" b="b"/>
              <a:pathLst>
                <a:path w="11589073" h="2092400">
                  <a:moveTo>
                    <a:pt x="0" y="0"/>
                  </a:moveTo>
                  <a:lnTo>
                    <a:pt x="11589073" y="0"/>
                  </a:lnTo>
                  <a:lnTo>
                    <a:pt x="11589073" y="2092400"/>
                  </a:lnTo>
                  <a:lnTo>
                    <a:pt x="0" y="2092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0976" r="2161" b="-50199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1589074" cy="2130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Analyzed hourly bike rental demand and examine its relationship with time, rider type, and weather-related factors, using Microsoft Excel.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6116" y="4434479"/>
            <a:ext cx="8691805" cy="461182"/>
            <a:chOff x="0" y="0"/>
            <a:chExt cx="11589074" cy="61490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589073" cy="614909"/>
            </a:xfrm>
            <a:custGeom>
              <a:avLst/>
              <a:gdLst/>
              <a:ahLst/>
              <a:cxnLst/>
              <a:rect l="l" t="t" r="r" b="b"/>
              <a:pathLst>
                <a:path w="11589073" h="614909">
                  <a:moveTo>
                    <a:pt x="0" y="0"/>
                  </a:moveTo>
                  <a:lnTo>
                    <a:pt x="11589073" y="0"/>
                  </a:lnTo>
                  <a:lnTo>
                    <a:pt x="11589073" y="614909"/>
                  </a:lnTo>
                  <a:lnTo>
                    <a:pt x="0" y="614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974" b="-316976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686116" y="4410459"/>
            <a:ext cx="8691805" cy="485202"/>
            <a:chOff x="0" y="0"/>
            <a:chExt cx="11589074" cy="64693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589073" cy="646936"/>
            </a:xfrm>
            <a:custGeom>
              <a:avLst/>
              <a:gdLst/>
              <a:ahLst/>
              <a:cxnLst/>
              <a:rect l="l" t="t" r="r" b="b"/>
              <a:pathLst>
                <a:path w="11589073" h="646936">
                  <a:moveTo>
                    <a:pt x="0" y="0"/>
                  </a:moveTo>
                  <a:lnTo>
                    <a:pt x="11589073" y="0"/>
                  </a:lnTo>
                  <a:lnTo>
                    <a:pt x="11589073" y="646936"/>
                  </a:lnTo>
                  <a:lnTo>
                    <a:pt x="0" y="646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6894" r="2161" b="-286117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11589074" cy="6755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74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FACTORS EXAMINED</a:t>
              </a:r>
            </a:p>
          </p:txBody>
        </p:sp>
      </p:grpSp>
      <p:sp>
        <p:nvSpPr>
          <p:cNvPr id="41" name="AutoShape 41"/>
          <p:cNvSpPr/>
          <p:nvPr/>
        </p:nvSpPr>
        <p:spPr>
          <a:xfrm rot="3840">
            <a:off x="671503" y="4612767"/>
            <a:ext cx="8532524" cy="0"/>
          </a:xfrm>
          <a:prstGeom prst="line">
            <a:avLst/>
          </a:prstGeom>
          <a:ln w="9525" cap="rnd">
            <a:solidFill>
              <a:srgbClr val="E7ECF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2" name="Group 42"/>
          <p:cNvGrpSpPr/>
          <p:nvPr/>
        </p:nvGrpSpPr>
        <p:grpSpPr>
          <a:xfrm>
            <a:off x="686116" y="5141625"/>
            <a:ext cx="126171" cy="138355"/>
            <a:chOff x="0" y="0"/>
            <a:chExt cx="168228" cy="184473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68228" cy="184473"/>
            </a:xfrm>
            <a:custGeom>
              <a:avLst/>
              <a:gdLst/>
              <a:ahLst/>
              <a:cxnLst/>
              <a:rect l="l" t="t" r="r" b="b"/>
              <a:pathLst>
                <a:path w="168228" h="184473">
                  <a:moveTo>
                    <a:pt x="0" y="92236"/>
                  </a:moveTo>
                  <a:cubicBezTo>
                    <a:pt x="0" y="41279"/>
                    <a:pt x="37644" y="0"/>
                    <a:pt x="84114" y="0"/>
                  </a:cubicBezTo>
                  <a:cubicBezTo>
                    <a:pt x="130585" y="0"/>
                    <a:pt x="168228" y="41279"/>
                    <a:pt x="168228" y="92236"/>
                  </a:cubicBezTo>
                  <a:cubicBezTo>
                    <a:pt x="168228" y="143194"/>
                    <a:pt x="130585" y="184473"/>
                    <a:pt x="84114" y="184473"/>
                  </a:cubicBezTo>
                  <a:cubicBezTo>
                    <a:pt x="37644" y="184473"/>
                    <a:pt x="0" y="143194"/>
                    <a:pt x="0" y="92236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036592" y="4957152"/>
            <a:ext cx="3995427" cy="538046"/>
            <a:chOff x="0" y="0"/>
            <a:chExt cx="5327235" cy="71739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327235" cy="717394"/>
            </a:xfrm>
            <a:custGeom>
              <a:avLst/>
              <a:gdLst/>
              <a:ahLst/>
              <a:cxnLst/>
              <a:rect l="l" t="t" r="r" b="b"/>
              <a:pathLst>
                <a:path w="5327235" h="717394">
                  <a:moveTo>
                    <a:pt x="0" y="0"/>
                  </a:moveTo>
                  <a:lnTo>
                    <a:pt x="5327235" y="0"/>
                  </a:lnTo>
                  <a:lnTo>
                    <a:pt x="5327235" y="717394"/>
                  </a:lnTo>
                  <a:lnTo>
                    <a:pt x="0" y="7173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591" b="-94591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1036592" y="4925125"/>
            <a:ext cx="3995427" cy="570072"/>
            <a:chOff x="0" y="0"/>
            <a:chExt cx="5327235" cy="76009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327235" cy="760096"/>
            </a:xfrm>
            <a:custGeom>
              <a:avLst/>
              <a:gdLst/>
              <a:ahLst/>
              <a:cxnLst/>
              <a:rect l="l" t="t" r="r" b="b"/>
              <a:pathLst>
                <a:path w="5327235" h="760096">
                  <a:moveTo>
                    <a:pt x="0" y="0"/>
                  </a:moveTo>
                  <a:lnTo>
                    <a:pt x="5327235" y="0"/>
                  </a:lnTo>
                  <a:lnTo>
                    <a:pt x="5327235" y="760096"/>
                  </a:lnTo>
                  <a:lnTo>
                    <a:pt x="0" y="760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8999" r="2161" b="-78222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5327235" cy="798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Hour of day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102114" y="5141625"/>
            <a:ext cx="126171" cy="138355"/>
            <a:chOff x="0" y="0"/>
            <a:chExt cx="168228" cy="18447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68228" cy="184473"/>
            </a:xfrm>
            <a:custGeom>
              <a:avLst/>
              <a:gdLst/>
              <a:ahLst/>
              <a:cxnLst/>
              <a:rect l="l" t="t" r="r" b="b"/>
              <a:pathLst>
                <a:path w="168228" h="184473">
                  <a:moveTo>
                    <a:pt x="0" y="92236"/>
                  </a:moveTo>
                  <a:cubicBezTo>
                    <a:pt x="0" y="41279"/>
                    <a:pt x="37644" y="0"/>
                    <a:pt x="84114" y="0"/>
                  </a:cubicBezTo>
                  <a:cubicBezTo>
                    <a:pt x="130585" y="0"/>
                    <a:pt x="168228" y="41279"/>
                    <a:pt x="168228" y="92236"/>
                  </a:cubicBezTo>
                  <a:cubicBezTo>
                    <a:pt x="168228" y="143194"/>
                    <a:pt x="130585" y="184473"/>
                    <a:pt x="84114" y="184473"/>
                  </a:cubicBezTo>
                  <a:cubicBezTo>
                    <a:pt x="37644" y="184473"/>
                    <a:pt x="0" y="143194"/>
                    <a:pt x="0" y="92236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5452590" y="4957152"/>
            <a:ext cx="3995427" cy="538046"/>
            <a:chOff x="0" y="0"/>
            <a:chExt cx="5327235" cy="71739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327235" cy="717394"/>
            </a:xfrm>
            <a:custGeom>
              <a:avLst/>
              <a:gdLst/>
              <a:ahLst/>
              <a:cxnLst/>
              <a:rect l="l" t="t" r="r" b="b"/>
              <a:pathLst>
                <a:path w="5327235" h="717394">
                  <a:moveTo>
                    <a:pt x="0" y="0"/>
                  </a:moveTo>
                  <a:lnTo>
                    <a:pt x="5327235" y="0"/>
                  </a:lnTo>
                  <a:lnTo>
                    <a:pt x="5327235" y="717394"/>
                  </a:lnTo>
                  <a:lnTo>
                    <a:pt x="0" y="7173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591" b="-94591"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5452590" y="4925125"/>
            <a:ext cx="3995427" cy="570072"/>
            <a:chOff x="0" y="0"/>
            <a:chExt cx="5327235" cy="76009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327235" cy="760096"/>
            </a:xfrm>
            <a:custGeom>
              <a:avLst/>
              <a:gdLst/>
              <a:ahLst/>
              <a:cxnLst/>
              <a:rect l="l" t="t" r="r" b="b"/>
              <a:pathLst>
                <a:path w="5327235" h="760096">
                  <a:moveTo>
                    <a:pt x="0" y="0"/>
                  </a:moveTo>
                  <a:lnTo>
                    <a:pt x="5327235" y="0"/>
                  </a:lnTo>
                  <a:lnTo>
                    <a:pt x="5327235" y="760096"/>
                  </a:lnTo>
                  <a:lnTo>
                    <a:pt x="0" y="760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8999" r="2161" b="-78222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5327235" cy="798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Rider type (casual / registered)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86116" y="5787280"/>
            <a:ext cx="126171" cy="138355"/>
            <a:chOff x="0" y="0"/>
            <a:chExt cx="168228" cy="184473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68228" cy="184473"/>
            </a:xfrm>
            <a:custGeom>
              <a:avLst/>
              <a:gdLst/>
              <a:ahLst/>
              <a:cxnLst/>
              <a:rect l="l" t="t" r="r" b="b"/>
              <a:pathLst>
                <a:path w="168228" h="184473">
                  <a:moveTo>
                    <a:pt x="0" y="92236"/>
                  </a:moveTo>
                  <a:cubicBezTo>
                    <a:pt x="0" y="41279"/>
                    <a:pt x="37644" y="0"/>
                    <a:pt x="84114" y="0"/>
                  </a:cubicBezTo>
                  <a:cubicBezTo>
                    <a:pt x="130585" y="0"/>
                    <a:pt x="168228" y="41279"/>
                    <a:pt x="168228" y="92236"/>
                  </a:cubicBezTo>
                  <a:cubicBezTo>
                    <a:pt x="168228" y="143194"/>
                    <a:pt x="130585" y="184473"/>
                    <a:pt x="84114" y="184473"/>
                  </a:cubicBezTo>
                  <a:cubicBezTo>
                    <a:pt x="37644" y="184473"/>
                    <a:pt x="0" y="143194"/>
                    <a:pt x="0" y="92236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036592" y="5602807"/>
            <a:ext cx="3995427" cy="538046"/>
            <a:chOff x="0" y="0"/>
            <a:chExt cx="5327235" cy="717394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327235" cy="717394"/>
            </a:xfrm>
            <a:custGeom>
              <a:avLst/>
              <a:gdLst/>
              <a:ahLst/>
              <a:cxnLst/>
              <a:rect l="l" t="t" r="r" b="b"/>
              <a:pathLst>
                <a:path w="5327235" h="717394">
                  <a:moveTo>
                    <a:pt x="0" y="0"/>
                  </a:moveTo>
                  <a:lnTo>
                    <a:pt x="5327235" y="0"/>
                  </a:lnTo>
                  <a:lnTo>
                    <a:pt x="5327235" y="717394"/>
                  </a:lnTo>
                  <a:lnTo>
                    <a:pt x="0" y="7173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591" b="-94591"/>
              </a:stretch>
            </a:blipFill>
          </p:spPr>
        </p:sp>
      </p:grpSp>
      <p:grpSp>
        <p:nvGrpSpPr>
          <p:cNvPr id="60" name="Group 60"/>
          <p:cNvGrpSpPr/>
          <p:nvPr/>
        </p:nvGrpSpPr>
        <p:grpSpPr>
          <a:xfrm>
            <a:off x="1036592" y="5570780"/>
            <a:ext cx="3995427" cy="570072"/>
            <a:chOff x="0" y="0"/>
            <a:chExt cx="5327235" cy="76009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327235" cy="760096"/>
            </a:xfrm>
            <a:custGeom>
              <a:avLst/>
              <a:gdLst/>
              <a:ahLst/>
              <a:cxnLst/>
              <a:rect l="l" t="t" r="r" b="b"/>
              <a:pathLst>
                <a:path w="5327235" h="760096">
                  <a:moveTo>
                    <a:pt x="0" y="0"/>
                  </a:moveTo>
                  <a:lnTo>
                    <a:pt x="5327235" y="0"/>
                  </a:lnTo>
                  <a:lnTo>
                    <a:pt x="5327235" y="760096"/>
                  </a:lnTo>
                  <a:lnTo>
                    <a:pt x="0" y="760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8999" r="2161" b="-78222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5327235" cy="798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Working day / non-working day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102114" y="5787280"/>
            <a:ext cx="126171" cy="138355"/>
            <a:chOff x="0" y="0"/>
            <a:chExt cx="168228" cy="184473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68228" cy="184473"/>
            </a:xfrm>
            <a:custGeom>
              <a:avLst/>
              <a:gdLst/>
              <a:ahLst/>
              <a:cxnLst/>
              <a:rect l="l" t="t" r="r" b="b"/>
              <a:pathLst>
                <a:path w="168228" h="184473">
                  <a:moveTo>
                    <a:pt x="0" y="92236"/>
                  </a:moveTo>
                  <a:cubicBezTo>
                    <a:pt x="0" y="41279"/>
                    <a:pt x="37644" y="0"/>
                    <a:pt x="84114" y="0"/>
                  </a:cubicBezTo>
                  <a:cubicBezTo>
                    <a:pt x="130585" y="0"/>
                    <a:pt x="168228" y="41279"/>
                    <a:pt x="168228" y="92236"/>
                  </a:cubicBezTo>
                  <a:cubicBezTo>
                    <a:pt x="168228" y="143194"/>
                    <a:pt x="130585" y="184473"/>
                    <a:pt x="84114" y="184473"/>
                  </a:cubicBezTo>
                  <a:cubicBezTo>
                    <a:pt x="37644" y="184473"/>
                    <a:pt x="0" y="143194"/>
                    <a:pt x="0" y="92236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5452590" y="5602807"/>
            <a:ext cx="3995427" cy="538046"/>
            <a:chOff x="0" y="0"/>
            <a:chExt cx="5327235" cy="71739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327235" cy="717394"/>
            </a:xfrm>
            <a:custGeom>
              <a:avLst/>
              <a:gdLst/>
              <a:ahLst/>
              <a:cxnLst/>
              <a:rect l="l" t="t" r="r" b="b"/>
              <a:pathLst>
                <a:path w="5327235" h="717394">
                  <a:moveTo>
                    <a:pt x="0" y="0"/>
                  </a:moveTo>
                  <a:lnTo>
                    <a:pt x="5327235" y="0"/>
                  </a:lnTo>
                  <a:lnTo>
                    <a:pt x="5327235" y="717394"/>
                  </a:lnTo>
                  <a:lnTo>
                    <a:pt x="0" y="7173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591" b="-94591"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5452590" y="5570780"/>
            <a:ext cx="3995427" cy="570072"/>
            <a:chOff x="0" y="0"/>
            <a:chExt cx="5327235" cy="76009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5327235" cy="760096"/>
            </a:xfrm>
            <a:custGeom>
              <a:avLst/>
              <a:gdLst/>
              <a:ahLst/>
              <a:cxnLst/>
              <a:rect l="l" t="t" r="r" b="b"/>
              <a:pathLst>
                <a:path w="5327235" h="760096">
                  <a:moveTo>
                    <a:pt x="0" y="0"/>
                  </a:moveTo>
                  <a:lnTo>
                    <a:pt x="5327235" y="0"/>
                  </a:lnTo>
                  <a:lnTo>
                    <a:pt x="5327235" y="760096"/>
                  </a:lnTo>
                  <a:lnTo>
                    <a:pt x="0" y="760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8999" r="2161" b="-78222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5327235" cy="798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Weekday / weekend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86116" y="6432935"/>
            <a:ext cx="126171" cy="138355"/>
            <a:chOff x="0" y="0"/>
            <a:chExt cx="168228" cy="184473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68228" cy="184473"/>
            </a:xfrm>
            <a:custGeom>
              <a:avLst/>
              <a:gdLst/>
              <a:ahLst/>
              <a:cxnLst/>
              <a:rect l="l" t="t" r="r" b="b"/>
              <a:pathLst>
                <a:path w="168228" h="184473">
                  <a:moveTo>
                    <a:pt x="0" y="92236"/>
                  </a:moveTo>
                  <a:cubicBezTo>
                    <a:pt x="0" y="41279"/>
                    <a:pt x="37644" y="0"/>
                    <a:pt x="84114" y="0"/>
                  </a:cubicBezTo>
                  <a:cubicBezTo>
                    <a:pt x="130585" y="0"/>
                    <a:pt x="168228" y="41279"/>
                    <a:pt x="168228" y="92236"/>
                  </a:cubicBezTo>
                  <a:cubicBezTo>
                    <a:pt x="168228" y="143194"/>
                    <a:pt x="130585" y="184473"/>
                    <a:pt x="84114" y="184473"/>
                  </a:cubicBezTo>
                  <a:cubicBezTo>
                    <a:pt x="37644" y="184473"/>
                    <a:pt x="0" y="143194"/>
                    <a:pt x="0" y="92236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1036592" y="6248462"/>
            <a:ext cx="3995427" cy="538046"/>
            <a:chOff x="0" y="0"/>
            <a:chExt cx="5327235" cy="71739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5327235" cy="717394"/>
            </a:xfrm>
            <a:custGeom>
              <a:avLst/>
              <a:gdLst/>
              <a:ahLst/>
              <a:cxnLst/>
              <a:rect l="l" t="t" r="r" b="b"/>
              <a:pathLst>
                <a:path w="5327235" h="717394">
                  <a:moveTo>
                    <a:pt x="0" y="0"/>
                  </a:moveTo>
                  <a:lnTo>
                    <a:pt x="5327235" y="0"/>
                  </a:lnTo>
                  <a:lnTo>
                    <a:pt x="5327235" y="717394"/>
                  </a:lnTo>
                  <a:lnTo>
                    <a:pt x="0" y="7173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591" b="-94591"/>
              </a:stretch>
            </a:blipFill>
          </p:spPr>
        </p:sp>
      </p:grpSp>
      <p:grpSp>
        <p:nvGrpSpPr>
          <p:cNvPr id="74" name="Group 74"/>
          <p:cNvGrpSpPr/>
          <p:nvPr/>
        </p:nvGrpSpPr>
        <p:grpSpPr>
          <a:xfrm>
            <a:off x="1036592" y="6216435"/>
            <a:ext cx="3995427" cy="570072"/>
            <a:chOff x="0" y="0"/>
            <a:chExt cx="5327235" cy="76009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327235" cy="760096"/>
            </a:xfrm>
            <a:custGeom>
              <a:avLst/>
              <a:gdLst/>
              <a:ahLst/>
              <a:cxnLst/>
              <a:rect l="l" t="t" r="r" b="b"/>
              <a:pathLst>
                <a:path w="5327235" h="760096">
                  <a:moveTo>
                    <a:pt x="0" y="0"/>
                  </a:moveTo>
                  <a:lnTo>
                    <a:pt x="5327235" y="0"/>
                  </a:lnTo>
                  <a:lnTo>
                    <a:pt x="5327235" y="760096"/>
                  </a:lnTo>
                  <a:lnTo>
                    <a:pt x="0" y="760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8999" r="2161" b="-78222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5327235" cy="798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Holiday status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102114" y="6432935"/>
            <a:ext cx="126171" cy="138355"/>
            <a:chOff x="0" y="0"/>
            <a:chExt cx="168228" cy="184473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68228" cy="184473"/>
            </a:xfrm>
            <a:custGeom>
              <a:avLst/>
              <a:gdLst/>
              <a:ahLst/>
              <a:cxnLst/>
              <a:rect l="l" t="t" r="r" b="b"/>
              <a:pathLst>
                <a:path w="168228" h="184473">
                  <a:moveTo>
                    <a:pt x="0" y="92236"/>
                  </a:moveTo>
                  <a:cubicBezTo>
                    <a:pt x="0" y="41279"/>
                    <a:pt x="37644" y="0"/>
                    <a:pt x="84114" y="0"/>
                  </a:cubicBezTo>
                  <a:cubicBezTo>
                    <a:pt x="130585" y="0"/>
                    <a:pt x="168228" y="41279"/>
                    <a:pt x="168228" y="92236"/>
                  </a:cubicBezTo>
                  <a:cubicBezTo>
                    <a:pt x="168228" y="143194"/>
                    <a:pt x="130585" y="184473"/>
                    <a:pt x="84114" y="184473"/>
                  </a:cubicBezTo>
                  <a:cubicBezTo>
                    <a:pt x="37644" y="184473"/>
                    <a:pt x="0" y="143194"/>
                    <a:pt x="0" y="92236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79" name="Group 79"/>
          <p:cNvGrpSpPr/>
          <p:nvPr/>
        </p:nvGrpSpPr>
        <p:grpSpPr>
          <a:xfrm>
            <a:off x="5452590" y="6248462"/>
            <a:ext cx="3995427" cy="538046"/>
            <a:chOff x="0" y="0"/>
            <a:chExt cx="5327235" cy="71739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5327235" cy="717394"/>
            </a:xfrm>
            <a:custGeom>
              <a:avLst/>
              <a:gdLst/>
              <a:ahLst/>
              <a:cxnLst/>
              <a:rect l="l" t="t" r="r" b="b"/>
              <a:pathLst>
                <a:path w="5327235" h="717394">
                  <a:moveTo>
                    <a:pt x="0" y="0"/>
                  </a:moveTo>
                  <a:lnTo>
                    <a:pt x="5327235" y="0"/>
                  </a:lnTo>
                  <a:lnTo>
                    <a:pt x="5327235" y="717394"/>
                  </a:lnTo>
                  <a:lnTo>
                    <a:pt x="0" y="7173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591" b="-94591"/>
              </a:stretch>
            </a:blipFill>
          </p:spPr>
        </p:sp>
      </p:grpSp>
      <p:grpSp>
        <p:nvGrpSpPr>
          <p:cNvPr id="81" name="Group 81"/>
          <p:cNvGrpSpPr/>
          <p:nvPr/>
        </p:nvGrpSpPr>
        <p:grpSpPr>
          <a:xfrm>
            <a:off x="5452590" y="6216435"/>
            <a:ext cx="3995427" cy="570072"/>
            <a:chOff x="0" y="0"/>
            <a:chExt cx="5327235" cy="76009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5327235" cy="760096"/>
            </a:xfrm>
            <a:custGeom>
              <a:avLst/>
              <a:gdLst/>
              <a:ahLst/>
              <a:cxnLst/>
              <a:rect l="l" t="t" r="r" b="b"/>
              <a:pathLst>
                <a:path w="5327235" h="760096">
                  <a:moveTo>
                    <a:pt x="0" y="0"/>
                  </a:moveTo>
                  <a:lnTo>
                    <a:pt x="5327235" y="0"/>
                  </a:lnTo>
                  <a:lnTo>
                    <a:pt x="5327235" y="760096"/>
                  </a:lnTo>
                  <a:lnTo>
                    <a:pt x="0" y="760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8999" r="2161" b="-78222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5327235" cy="798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Weather condition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86116" y="7078589"/>
            <a:ext cx="126171" cy="138355"/>
            <a:chOff x="0" y="0"/>
            <a:chExt cx="168228" cy="184473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68228" cy="184473"/>
            </a:xfrm>
            <a:custGeom>
              <a:avLst/>
              <a:gdLst/>
              <a:ahLst/>
              <a:cxnLst/>
              <a:rect l="l" t="t" r="r" b="b"/>
              <a:pathLst>
                <a:path w="168228" h="184473">
                  <a:moveTo>
                    <a:pt x="0" y="92236"/>
                  </a:moveTo>
                  <a:cubicBezTo>
                    <a:pt x="0" y="41279"/>
                    <a:pt x="37644" y="0"/>
                    <a:pt x="84114" y="0"/>
                  </a:cubicBezTo>
                  <a:cubicBezTo>
                    <a:pt x="130585" y="0"/>
                    <a:pt x="168228" y="41279"/>
                    <a:pt x="168228" y="92236"/>
                  </a:cubicBezTo>
                  <a:cubicBezTo>
                    <a:pt x="168228" y="143194"/>
                    <a:pt x="130585" y="184473"/>
                    <a:pt x="84114" y="184473"/>
                  </a:cubicBezTo>
                  <a:cubicBezTo>
                    <a:pt x="37644" y="184473"/>
                    <a:pt x="0" y="143194"/>
                    <a:pt x="0" y="92236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1036592" y="6894117"/>
            <a:ext cx="3995427" cy="538046"/>
            <a:chOff x="0" y="0"/>
            <a:chExt cx="5327235" cy="71739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327235" cy="717394"/>
            </a:xfrm>
            <a:custGeom>
              <a:avLst/>
              <a:gdLst/>
              <a:ahLst/>
              <a:cxnLst/>
              <a:rect l="l" t="t" r="r" b="b"/>
              <a:pathLst>
                <a:path w="5327235" h="717394">
                  <a:moveTo>
                    <a:pt x="0" y="0"/>
                  </a:moveTo>
                  <a:lnTo>
                    <a:pt x="5327235" y="0"/>
                  </a:lnTo>
                  <a:lnTo>
                    <a:pt x="5327235" y="717394"/>
                  </a:lnTo>
                  <a:lnTo>
                    <a:pt x="0" y="7173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591" b="-94591"/>
              </a:stretch>
            </a:blipFill>
          </p:spPr>
        </p:sp>
      </p:grpSp>
      <p:grpSp>
        <p:nvGrpSpPr>
          <p:cNvPr id="88" name="Group 88"/>
          <p:cNvGrpSpPr/>
          <p:nvPr/>
        </p:nvGrpSpPr>
        <p:grpSpPr>
          <a:xfrm>
            <a:off x="1036592" y="6862090"/>
            <a:ext cx="3995427" cy="570072"/>
            <a:chOff x="0" y="0"/>
            <a:chExt cx="5327235" cy="760096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5327235" cy="760096"/>
            </a:xfrm>
            <a:custGeom>
              <a:avLst/>
              <a:gdLst/>
              <a:ahLst/>
              <a:cxnLst/>
              <a:rect l="l" t="t" r="r" b="b"/>
              <a:pathLst>
                <a:path w="5327235" h="760096">
                  <a:moveTo>
                    <a:pt x="0" y="0"/>
                  </a:moveTo>
                  <a:lnTo>
                    <a:pt x="5327235" y="0"/>
                  </a:lnTo>
                  <a:lnTo>
                    <a:pt x="5327235" y="760096"/>
                  </a:lnTo>
                  <a:lnTo>
                    <a:pt x="0" y="760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8999" r="2161" b="-78222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38100"/>
              <a:ext cx="5327235" cy="798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Temperature &amp; apparent temperature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102114" y="7078589"/>
            <a:ext cx="126171" cy="138355"/>
            <a:chOff x="0" y="0"/>
            <a:chExt cx="168228" cy="184473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68228" cy="184473"/>
            </a:xfrm>
            <a:custGeom>
              <a:avLst/>
              <a:gdLst/>
              <a:ahLst/>
              <a:cxnLst/>
              <a:rect l="l" t="t" r="r" b="b"/>
              <a:pathLst>
                <a:path w="168228" h="184473">
                  <a:moveTo>
                    <a:pt x="0" y="92236"/>
                  </a:moveTo>
                  <a:cubicBezTo>
                    <a:pt x="0" y="41279"/>
                    <a:pt x="37644" y="0"/>
                    <a:pt x="84114" y="0"/>
                  </a:cubicBezTo>
                  <a:cubicBezTo>
                    <a:pt x="130585" y="0"/>
                    <a:pt x="168228" y="41279"/>
                    <a:pt x="168228" y="92236"/>
                  </a:cubicBezTo>
                  <a:cubicBezTo>
                    <a:pt x="168228" y="143194"/>
                    <a:pt x="130585" y="184473"/>
                    <a:pt x="84114" y="184473"/>
                  </a:cubicBezTo>
                  <a:cubicBezTo>
                    <a:pt x="37644" y="184473"/>
                    <a:pt x="0" y="143194"/>
                    <a:pt x="0" y="92236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93" name="Group 93"/>
          <p:cNvGrpSpPr/>
          <p:nvPr/>
        </p:nvGrpSpPr>
        <p:grpSpPr>
          <a:xfrm>
            <a:off x="5452590" y="6894117"/>
            <a:ext cx="3995427" cy="538046"/>
            <a:chOff x="0" y="0"/>
            <a:chExt cx="5327235" cy="71739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5327235" cy="717394"/>
            </a:xfrm>
            <a:custGeom>
              <a:avLst/>
              <a:gdLst/>
              <a:ahLst/>
              <a:cxnLst/>
              <a:rect l="l" t="t" r="r" b="b"/>
              <a:pathLst>
                <a:path w="5327235" h="717394">
                  <a:moveTo>
                    <a:pt x="0" y="0"/>
                  </a:moveTo>
                  <a:lnTo>
                    <a:pt x="5327235" y="0"/>
                  </a:lnTo>
                  <a:lnTo>
                    <a:pt x="5327235" y="717394"/>
                  </a:lnTo>
                  <a:lnTo>
                    <a:pt x="0" y="7173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591" b="-94591"/>
              </a:stretch>
            </a:blipFill>
          </p:spPr>
        </p:sp>
      </p:grpSp>
      <p:grpSp>
        <p:nvGrpSpPr>
          <p:cNvPr id="95" name="Group 95"/>
          <p:cNvGrpSpPr/>
          <p:nvPr/>
        </p:nvGrpSpPr>
        <p:grpSpPr>
          <a:xfrm>
            <a:off x="5452590" y="6862090"/>
            <a:ext cx="3995427" cy="570072"/>
            <a:chOff x="0" y="0"/>
            <a:chExt cx="5327235" cy="760096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5327235" cy="760096"/>
            </a:xfrm>
            <a:custGeom>
              <a:avLst/>
              <a:gdLst/>
              <a:ahLst/>
              <a:cxnLst/>
              <a:rect l="l" t="t" r="r" b="b"/>
              <a:pathLst>
                <a:path w="5327235" h="760096">
                  <a:moveTo>
                    <a:pt x="0" y="0"/>
                  </a:moveTo>
                  <a:lnTo>
                    <a:pt x="5327235" y="0"/>
                  </a:lnTo>
                  <a:lnTo>
                    <a:pt x="5327235" y="760096"/>
                  </a:lnTo>
                  <a:lnTo>
                    <a:pt x="0" y="760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8999" r="2161" b="-78222"/>
              </a:stretch>
            </a:blipFill>
          </p:spPr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5327235" cy="798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Humidity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686116" y="7724244"/>
            <a:ext cx="126171" cy="138355"/>
            <a:chOff x="0" y="0"/>
            <a:chExt cx="168228" cy="184473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168228" cy="184473"/>
            </a:xfrm>
            <a:custGeom>
              <a:avLst/>
              <a:gdLst/>
              <a:ahLst/>
              <a:cxnLst/>
              <a:rect l="l" t="t" r="r" b="b"/>
              <a:pathLst>
                <a:path w="168228" h="184473">
                  <a:moveTo>
                    <a:pt x="0" y="92236"/>
                  </a:moveTo>
                  <a:cubicBezTo>
                    <a:pt x="0" y="41279"/>
                    <a:pt x="37644" y="0"/>
                    <a:pt x="84114" y="0"/>
                  </a:cubicBezTo>
                  <a:cubicBezTo>
                    <a:pt x="130585" y="0"/>
                    <a:pt x="168228" y="41279"/>
                    <a:pt x="168228" y="92236"/>
                  </a:cubicBezTo>
                  <a:cubicBezTo>
                    <a:pt x="168228" y="143194"/>
                    <a:pt x="130585" y="184473"/>
                    <a:pt x="84114" y="184473"/>
                  </a:cubicBezTo>
                  <a:cubicBezTo>
                    <a:pt x="37644" y="184473"/>
                    <a:pt x="0" y="143194"/>
                    <a:pt x="0" y="92236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100" name="Group 100"/>
          <p:cNvGrpSpPr/>
          <p:nvPr/>
        </p:nvGrpSpPr>
        <p:grpSpPr>
          <a:xfrm>
            <a:off x="1036592" y="7539772"/>
            <a:ext cx="3995427" cy="538046"/>
            <a:chOff x="0" y="0"/>
            <a:chExt cx="5327235" cy="717394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5327235" cy="717394"/>
            </a:xfrm>
            <a:custGeom>
              <a:avLst/>
              <a:gdLst/>
              <a:ahLst/>
              <a:cxnLst/>
              <a:rect l="l" t="t" r="r" b="b"/>
              <a:pathLst>
                <a:path w="5327235" h="717394">
                  <a:moveTo>
                    <a:pt x="0" y="0"/>
                  </a:moveTo>
                  <a:lnTo>
                    <a:pt x="5327235" y="0"/>
                  </a:lnTo>
                  <a:lnTo>
                    <a:pt x="5327235" y="717394"/>
                  </a:lnTo>
                  <a:lnTo>
                    <a:pt x="0" y="7173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4591" b="-94591"/>
              </a:stretch>
            </a:blipFill>
          </p:spPr>
        </p:sp>
      </p:grpSp>
      <p:grpSp>
        <p:nvGrpSpPr>
          <p:cNvPr id="102" name="Group 102"/>
          <p:cNvGrpSpPr/>
          <p:nvPr/>
        </p:nvGrpSpPr>
        <p:grpSpPr>
          <a:xfrm>
            <a:off x="1036592" y="7507745"/>
            <a:ext cx="3995427" cy="570072"/>
            <a:chOff x="0" y="0"/>
            <a:chExt cx="5327235" cy="760096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5327235" cy="760096"/>
            </a:xfrm>
            <a:custGeom>
              <a:avLst/>
              <a:gdLst/>
              <a:ahLst/>
              <a:cxnLst/>
              <a:rect l="l" t="t" r="r" b="b"/>
              <a:pathLst>
                <a:path w="5327235" h="760096">
                  <a:moveTo>
                    <a:pt x="0" y="0"/>
                  </a:moveTo>
                  <a:lnTo>
                    <a:pt x="5327235" y="0"/>
                  </a:lnTo>
                  <a:lnTo>
                    <a:pt x="5327235" y="760096"/>
                  </a:lnTo>
                  <a:lnTo>
                    <a:pt x="0" y="760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8999" r="2161" b="-78222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-38100"/>
              <a:ext cx="5327235" cy="798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Windspeed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9669638" y="2069313"/>
            <a:ext cx="8251396" cy="535965"/>
            <a:chOff x="0" y="0"/>
            <a:chExt cx="11001862" cy="714620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1001862" cy="714620"/>
            </a:xfrm>
            <a:custGeom>
              <a:avLst/>
              <a:gdLst/>
              <a:ahLst/>
              <a:cxnLst/>
              <a:rect l="l" t="t" r="r" b="b"/>
              <a:pathLst>
                <a:path w="11001862" h="714620">
                  <a:moveTo>
                    <a:pt x="0" y="0"/>
                  </a:moveTo>
                  <a:lnTo>
                    <a:pt x="11001862" y="0"/>
                  </a:lnTo>
                  <a:lnTo>
                    <a:pt x="11001862" y="714620"/>
                  </a:lnTo>
                  <a:lnTo>
                    <a:pt x="0" y="714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9771" b="-249771"/>
              </a:stretch>
            </a:blipFill>
          </p:spPr>
        </p:sp>
      </p:grpSp>
      <p:grpSp>
        <p:nvGrpSpPr>
          <p:cNvPr id="107" name="Group 107"/>
          <p:cNvGrpSpPr/>
          <p:nvPr/>
        </p:nvGrpSpPr>
        <p:grpSpPr>
          <a:xfrm>
            <a:off x="9669638" y="2041398"/>
            <a:ext cx="8251396" cy="563880"/>
            <a:chOff x="0" y="0"/>
            <a:chExt cx="11001862" cy="75184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11001862" cy="751840"/>
            </a:xfrm>
            <a:custGeom>
              <a:avLst/>
              <a:gdLst/>
              <a:ahLst/>
              <a:cxnLst/>
              <a:rect l="l" t="t" r="r" b="b"/>
              <a:pathLst>
                <a:path w="11001862" h="751840">
                  <a:moveTo>
                    <a:pt x="0" y="0"/>
                  </a:moveTo>
                  <a:lnTo>
                    <a:pt x="11001862" y="0"/>
                  </a:lnTo>
                  <a:lnTo>
                    <a:pt x="11001862" y="751840"/>
                  </a:lnTo>
                  <a:lnTo>
                    <a:pt x="0" y="751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1770" r="5250" b="-208544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28575"/>
              <a:ext cx="11001862" cy="7804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74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SCOPE</a:t>
              </a:r>
            </a:p>
          </p:txBody>
        </p:sp>
      </p:grpSp>
      <p:sp>
        <p:nvSpPr>
          <p:cNvPr id="110" name="AutoShape 110"/>
          <p:cNvSpPr/>
          <p:nvPr/>
        </p:nvSpPr>
        <p:spPr>
          <a:xfrm>
            <a:off x="9448023" y="2565283"/>
            <a:ext cx="8102561" cy="11141"/>
          </a:xfrm>
          <a:prstGeom prst="line">
            <a:avLst/>
          </a:prstGeom>
          <a:ln w="9525" cap="rnd">
            <a:solidFill>
              <a:srgbClr val="E7ECF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1" name="Group 111"/>
          <p:cNvGrpSpPr/>
          <p:nvPr/>
        </p:nvGrpSpPr>
        <p:grpSpPr>
          <a:xfrm>
            <a:off x="9659585" y="3069012"/>
            <a:ext cx="3908556" cy="862879"/>
            <a:chOff x="0" y="0"/>
            <a:chExt cx="5211408" cy="1150505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5211408" cy="1150505"/>
            </a:xfrm>
            <a:custGeom>
              <a:avLst/>
              <a:gdLst/>
              <a:ahLst/>
              <a:cxnLst/>
              <a:rect l="l" t="t" r="r" b="b"/>
              <a:pathLst>
                <a:path w="5211408" h="1150505">
                  <a:moveTo>
                    <a:pt x="0" y="142924"/>
                  </a:moveTo>
                  <a:cubicBezTo>
                    <a:pt x="0" y="64018"/>
                    <a:pt x="51873" y="0"/>
                    <a:pt x="115809" y="0"/>
                  </a:cubicBezTo>
                  <a:lnTo>
                    <a:pt x="5095599" y="0"/>
                  </a:lnTo>
                  <a:cubicBezTo>
                    <a:pt x="5159535" y="0"/>
                    <a:pt x="5211408" y="64018"/>
                    <a:pt x="5211408" y="142924"/>
                  </a:cubicBezTo>
                  <a:lnTo>
                    <a:pt x="5211408" y="1007581"/>
                  </a:lnTo>
                  <a:cubicBezTo>
                    <a:pt x="5211408" y="1086487"/>
                    <a:pt x="5159535" y="1150505"/>
                    <a:pt x="5095599" y="1150505"/>
                  </a:cubicBezTo>
                  <a:lnTo>
                    <a:pt x="115809" y="1150505"/>
                  </a:lnTo>
                  <a:cubicBezTo>
                    <a:pt x="51873" y="1150505"/>
                    <a:pt x="0" y="1086487"/>
                    <a:pt x="0" y="1007581"/>
                  </a:cubicBezTo>
                  <a:close/>
                </a:path>
              </a:pathLst>
            </a:custGeom>
            <a:solidFill>
              <a:srgbClr val="E7ECF1"/>
            </a:solidFill>
          </p:spPr>
        </p:sp>
      </p:grpSp>
      <p:grpSp>
        <p:nvGrpSpPr>
          <p:cNvPr id="113" name="Group 113"/>
          <p:cNvGrpSpPr/>
          <p:nvPr/>
        </p:nvGrpSpPr>
        <p:grpSpPr>
          <a:xfrm>
            <a:off x="9862251" y="3122608"/>
            <a:ext cx="3503224" cy="755711"/>
            <a:chOff x="0" y="0"/>
            <a:chExt cx="4670966" cy="1007614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4670966" cy="1007581"/>
            </a:xfrm>
            <a:custGeom>
              <a:avLst/>
              <a:gdLst/>
              <a:ahLst/>
              <a:cxnLst/>
              <a:rect l="l" t="t" r="r" b="b"/>
              <a:pathLst>
                <a:path w="4670966" h="1007581">
                  <a:moveTo>
                    <a:pt x="0" y="0"/>
                  </a:moveTo>
                  <a:lnTo>
                    <a:pt x="4670966" y="0"/>
                  </a:lnTo>
                  <a:lnTo>
                    <a:pt x="4670966" y="1007581"/>
                  </a:lnTo>
                  <a:lnTo>
                    <a:pt x="0" y="10075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264" b="-40267"/>
              </a:stretch>
            </a:blipFill>
          </p:spPr>
        </p:sp>
      </p:grpSp>
      <p:grpSp>
        <p:nvGrpSpPr>
          <p:cNvPr id="115" name="Group 115"/>
          <p:cNvGrpSpPr/>
          <p:nvPr/>
        </p:nvGrpSpPr>
        <p:grpSpPr>
          <a:xfrm>
            <a:off x="9862251" y="3094693"/>
            <a:ext cx="3503224" cy="783626"/>
            <a:chOff x="0" y="0"/>
            <a:chExt cx="4670966" cy="1044834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4670966" cy="1044834"/>
            </a:xfrm>
            <a:custGeom>
              <a:avLst/>
              <a:gdLst/>
              <a:ahLst/>
              <a:cxnLst/>
              <a:rect l="l" t="t" r="r" b="b"/>
              <a:pathLst>
                <a:path w="4670966" h="1044834">
                  <a:moveTo>
                    <a:pt x="0" y="0"/>
                  </a:moveTo>
                  <a:lnTo>
                    <a:pt x="4670966" y="0"/>
                  </a:lnTo>
                  <a:lnTo>
                    <a:pt x="4670966" y="1044834"/>
                  </a:lnTo>
                  <a:lnTo>
                    <a:pt x="0" y="10448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147" r="5250" b="-20921"/>
              </a:stretch>
            </a:blipFill>
          </p:spPr>
        </p:sp>
        <p:sp>
          <p:nvSpPr>
            <p:cNvPr id="117" name="TextBox 117"/>
            <p:cNvSpPr txBox="1"/>
            <p:nvPr/>
          </p:nvSpPr>
          <p:spPr>
            <a:xfrm>
              <a:off x="0" y="-28575"/>
              <a:ext cx="4670966" cy="10734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Historical daily coverage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 rot="-10800000">
            <a:off x="11411197" y="3914075"/>
            <a:ext cx="405332" cy="282250"/>
            <a:chOff x="0" y="0"/>
            <a:chExt cx="540442" cy="376334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540442" cy="376334"/>
            </a:xfrm>
            <a:custGeom>
              <a:avLst/>
              <a:gdLst/>
              <a:ahLst/>
              <a:cxnLst/>
              <a:rect l="l" t="t" r="r" b="b"/>
              <a:pathLst>
                <a:path w="540442" h="376334">
                  <a:moveTo>
                    <a:pt x="0" y="376334"/>
                  </a:moveTo>
                  <a:lnTo>
                    <a:pt x="270221" y="0"/>
                  </a:lnTo>
                  <a:lnTo>
                    <a:pt x="540442" y="376334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120" name="Group 120"/>
          <p:cNvGrpSpPr/>
          <p:nvPr/>
        </p:nvGrpSpPr>
        <p:grpSpPr>
          <a:xfrm>
            <a:off x="9659585" y="4178460"/>
            <a:ext cx="3908556" cy="945135"/>
            <a:chOff x="0" y="0"/>
            <a:chExt cx="5211408" cy="1260180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5211408" cy="1260180"/>
            </a:xfrm>
            <a:custGeom>
              <a:avLst/>
              <a:gdLst/>
              <a:ahLst/>
              <a:cxnLst/>
              <a:rect l="l" t="t" r="r" b="b"/>
              <a:pathLst>
                <a:path w="5211408" h="1260180">
                  <a:moveTo>
                    <a:pt x="0" y="142924"/>
                  </a:moveTo>
                  <a:cubicBezTo>
                    <a:pt x="0" y="64018"/>
                    <a:pt x="51873" y="0"/>
                    <a:pt x="115809" y="0"/>
                  </a:cubicBezTo>
                  <a:lnTo>
                    <a:pt x="5095599" y="0"/>
                  </a:lnTo>
                  <a:cubicBezTo>
                    <a:pt x="5159535" y="0"/>
                    <a:pt x="5211408" y="64018"/>
                    <a:pt x="5211408" y="142924"/>
                  </a:cubicBezTo>
                  <a:lnTo>
                    <a:pt x="5211408" y="1117256"/>
                  </a:lnTo>
                  <a:cubicBezTo>
                    <a:pt x="5211408" y="1196162"/>
                    <a:pt x="5159535" y="1260180"/>
                    <a:pt x="5095599" y="1260180"/>
                  </a:cubicBezTo>
                  <a:lnTo>
                    <a:pt x="115809" y="1260180"/>
                  </a:lnTo>
                  <a:cubicBezTo>
                    <a:pt x="51873" y="1260180"/>
                    <a:pt x="0" y="1196162"/>
                    <a:pt x="0" y="1117256"/>
                  </a:cubicBez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122" name="Group 122"/>
          <p:cNvGrpSpPr/>
          <p:nvPr/>
        </p:nvGrpSpPr>
        <p:grpSpPr>
          <a:xfrm>
            <a:off x="9804346" y="4178460"/>
            <a:ext cx="3619033" cy="945085"/>
            <a:chOff x="0" y="0"/>
            <a:chExt cx="4825378" cy="1260113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4825378" cy="1260164"/>
            </a:xfrm>
            <a:custGeom>
              <a:avLst/>
              <a:gdLst/>
              <a:ahLst/>
              <a:cxnLst/>
              <a:rect l="l" t="t" r="r" b="b"/>
              <a:pathLst>
                <a:path w="4825378" h="1260164">
                  <a:moveTo>
                    <a:pt x="0" y="0"/>
                  </a:moveTo>
                  <a:lnTo>
                    <a:pt x="4825378" y="0"/>
                  </a:lnTo>
                  <a:lnTo>
                    <a:pt x="4825378" y="1260164"/>
                  </a:lnTo>
                  <a:lnTo>
                    <a:pt x="0" y="12601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61" b="-24558"/>
              </a:stretch>
            </a:blipFill>
          </p:spPr>
        </p:sp>
      </p:grpSp>
      <p:grpSp>
        <p:nvGrpSpPr>
          <p:cNvPr id="124" name="Group 124"/>
          <p:cNvGrpSpPr/>
          <p:nvPr/>
        </p:nvGrpSpPr>
        <p:grpSpPr>
          <a:xfrm>
            <a:off x="9746441" y="3069012"/>
            <a:ext cx="3619033" cy="3064789"/>
            <a:chOff x="0" y="0"/>
            <a:chExt cx="4825378" cy="4086385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4825378" cy="4086383"/>
            </a:xfrm>
            <a:custGeom>
              <a:avLst/>
              <a:gdLst/>
              <a:ahLst/>
              <a:cxnLst/>
              <a:rect l="l" t="t" r="r" b="b"/>
              <a:pathLst>
                <a:path w="4825378" h="4086383">
                  <a:moveTo>
                    <a:pt x="0" y="0"/>
                  </a:moveTo>
                  <a:lnTo>
                    <a:pt x="4825378" y="0"/>
                  </a:lnTo>
                  <a:lnTo>
                    <a:pt x="4825378" y="4086383"/>
                  </a:lnTo>
                  <a:lnTo>
                    <a:pt x="0" y="40863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730" r="5250" b="66129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19050"/>
              <a:ext cx="4825378" cy="4105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45 days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3843543" y="2837363"/>
            <a:ext cx="3540803" cy="3064787"/>
            <a:chOff x="0" y="0"/>
            <a:chExt cx="4721071" cy="4086382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4721071" cy="4086420"/>
            </a:xfrm>
            <a:custGeom>
              <a:avLst/>
              <a:gdLst/>
              <a:ahLst/>
              <a:cxnLst/>
              <a:rect l="l" t="t" r="r" b="b"/>
              <a:pathLst>
                <a:path w="4721071" h="4086420">
                  <a:moveTo>
                    <a:pt x="0" y="0"/>
                  </a:moveTo>
                  <a:lnTo>
                    <a:pt x="4721071" y="0"/>
                  </a:lnTo>
                  <a:lnTo>
                    <a:pt x="4721071" y="4086420"/>
                  </a:lnTo>
                  <a:lnTo>
                    <a:pt x="0" y="40864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34" t="-1" r="-61134"/>
              </a:stretch>
            </a:blipFill>
          </p:spPr>
        </p:sp>
      </p:grpSp>
      <p:grpSp>
        <p:nvGrpSpPr>
          <p:cNvPr id="129" name="Group 129"/>
          <p:cNvGrpSpPr/>
          <p:nvPr/>
        </p:nvGrpSpPr>
        <p:grpSpPr>
          <a:xfrm>
            <a:off x="13701911" y="3085614"/>
            <a:ext cx="3824067" cy="769886"/>
            <a:chOff x="0" y="0"/>
            <a:chExt cx="5098756" cy="1026514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5098757" cy="1026514"/>
            </a:xfrm>
            <a:custGeom>
              <a:avLst/>
              <a:gdLst/>
              <a:ahLst/>
              <a:cxnLst/>
              <a:rect l="l" t="t" r="r" b="b"/>
              <a:pathLst>
                <a:path w="5098757" h="1026514">
                  <a:moveTo>
                    <a:pt x="0" y="127521"/>
                  </a:moveTo>
                  <a:cubicBezTo>
                    <a:pt x="0" y="57119"/>
                    <a:pt x="50752" y="0"/>
                    <a:pt x="113306" y="0"/>
                  </a:cubicBezTo>
                  <a:lnTo>
                    <a:pt x="4985451" y="0"/>
                  </a:lnTo>
                  <a:cubicBezTo>
                    <a:pt x="5048005" y="0"/>
                    <a:pt x="5098757" y="57119"/>
                    <a:pt x="5098757" y="127521"/>
                  </a:cubicBezTo>
                  <a:lnTo>
                    <a:pt x="5098757" y="898993"/>
                  </a:lnTo>
                  <a:cubicBezTo>
                    <a:pt x="5098757" y="969395"/>
                    <a:pt x="5048005" y="1026514"/>
                    <a:pt x="4985451" y="1026514"/>
                  </a:cubicBezTo>
                  <a:lnTo>
                    <a:pt x="113306" y="1026514"/>
                  </a:lnTo>
                  <a:cubicBezTo>
                    <a:pt x="50752" y="1026514"/>
                    <a:pt x="0" y="969395"/>
                    <a:pt x="0" y="898993"/>
                  </a:cubicBezTo>
                  <a:close/>
                </a:path>
              </a:pathLst>
            </a:custGeom>
            <a:solidFill>
              <a:srgbClr val="FCEEDA"/>
            </a:solidFill>
          </p:spPr>
        </p:sp>
      </p:grpSp>
      <p:grpSp>
        <p:nvGrpSpPr>
          <p:cNvPr id="131" name="Group 131"/>
          <p:cNvGrpSpPr/>
          <p:nvPr/>
        </p:nvGrpSpPr>
        <p:grpSpPr>
          <a:xfrm>
            <a:off x="13901516" y="3136920"/>
            <a:ext cx="3427497" cy="699173"/>
            <a:chOff x="0" y="0"/>
            <a:chExt cx="4569996" cy="932231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4569997" cy="932230"/>
            </a:xfrm>
            <a:custGeom>
              <a:avLst/>
              <a:gdLst/>
              <a:ahLst/>
              <a:cxnLst/>
              <a:rect l="l" t="t" r="r" b="b"/>
              <a:pathLst>
                <a:path w="4569997" h="932230">
                  <a:moveTo>
                    <a:pt x="0" y="0"/>
                  </a:moveTo>
                  <a:lnTo>
                    <a:pt x="4569997" y="0"/>
                  </a:lnTo>
                  <a:lnTo>
                    <a:pt x="4569997" y="932230"/>
                  </a:lnTo>
                  <a:lnTo>
                    <a:pt x="0" y="9322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480" r="3157" b="-35527"/>
              </a:stretch>
            </a:blipFill>
          </p:spPr>
        </p:sp>
        <p:sp>
          <p:nvSpPr>
            <p:cNvPr id="133" name="TextBox 133"/>
            <p:cNvSpPr txBox="1"/>
            <p:nvPr/>
          </p:nvSpPr>
          <p:spPr>
            <a:xfrm>
              <a:off x="0" y="-28575"/>
              <a:ext cx="4569996" cy="9608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Season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 rot="-10800000">
            <a:off x="15409744" y="3838897"/>
            <a:ext cx="469404" cy="298083"/>
            <a:chOff x="0" y="0"/>
            <a:chExt cx="528760" cy="335776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528760" cy="335776"/>
            </a:xfrm>
            <a:custGeom>
              <a:avLst/>
              <a:gdLst/>
              <a:ahLst/>
              <a:cxnLst/>
              <a:rect l="l" t="t" r="r" b="b"/>
              <a:pathLst>
                <a:path w="528760" h="335776">
                  <a:moveTo>
                    <a:pt x="0" y="335776"/>
                  </a:moveTo>
                  <a:lnTo>
                    <a:pt x="264380" y="0"/>
                  </a:lnTo>
                  <a:lnTo>
                    <a:pt x="528760" y="335776"/>
                  </a:lnTo>
                  <a:close/>
                </a:path>
              </a:pathLst>
            </a:custGeom>
            <a:solidFill>
              <a:srgbClr val="E9A23B"/>
            </a:solidFill>
          </p:spPr>
        </p:sp>
      </p:grpSp>
      <p:grpSp>
        <p:nvGrpSpPr>
          <p:cNvPr id="136" name="Group 136"/>
          <p:cNvGrpSpPr/>
          <p:nvPr/>
        </p:nvGrpSpPr>
        <p:grpSpPr>
          <a:xfrm>
            <a:off x="13732413" y="4200657"/>
            <a:ext cx="3824067" cy="843277"/>
            <a:chOff x="0" y="0"/>
            <a:chExt cx="5098756" cy="1124369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5098757" cy="1124369"/>
            </a:xfrm>
            <a:custGeom>
              <a:avLst/>
              <a:gdLst/>
              <a:ahLst/>
              <a:cxnLst/>
              <a:rect l="l" t="t" r="r" b="b"/>
              <a:pathLst>
                <a:path w="5098757" h="1124369">
                  <a:moveTo>
                    <a:pt x="0" y="127521"/>
                  </a:moveTo>
                  <a:cubicBezTo>
                    <a:pt x="0" y="57119"/>
                    <a:pt x="50752" y="0"/>
                    <a:pt x="113306" y="0"/>
                  </a:cubicBezTo>
                  <a:lnTo>
                    <a:pt x="4985451" y="0"/>
                  </a:lnTo>
                  <a:cubicBezTo>
                    <a:pt x="5048005" y="0"/>
                    <a:pt x="5098757" y="57119"/>
                    <a:pt x="5098757" y="127521"/>
                  </a:cubicBezTo>
                  <a:lnTo>
                    <a:pt x="5098757" y="996848"/>
                  </a:lnTo>
                  <a:cubicBezTo>
                    <a:pt x="5098757" y="1067250"/>
                    <a:pt x="5048005" y="1124369"/>
                    <a:pt x="4985451" y="1124369"/>
                  </a:cubicBezTo>
                  <a:lnTo>
                    <a:pt x="113306" y="1124369"/>
                  </a:lnTo>
                  <a:cubicBezTo>
                    <a:pt x="50752" y="1124369"/>
                    <a:pt x="0" y="1067250"/>
                    <a:pt x="0" y="996848"/>
                  </a:cubicBezTo>
                  <a:close/>
                </a:path>
              </a:pathLst>
            </a:custGeom>
            <a:solidFill>
              <a:srgbClr val="E9A23B"/>
            </a:solidFill>
          </p:spPr>
        </p:sp>
      </p:grpSp>
      <p:grpSp>
        <p:nvGrpSpPr>
          <p:cNvPr id="138" name="Group 138"/>
          <p:cNvGrpSpPr/>
          <p:nvPr/>
        </p:nvGrpSpPr>
        <p:grpSpPr>
          <a:xfrm>
            <a:off x="13874045" y="3069012"/>
            <a:ext cx="3540803" cy="3081391"/>
            <a:chOff x="0" y="0"/>
            <a:chExt cx="4721071" cy="4108522"/>
          </a:xfrm>
        </p:grpSpPr>
        <p:sp>
          <p:nvSpPr>
            <p:cNvPr id="139" name="Freeform 139"/>
            <p:cNvSpPr/>
            <p:nvPr/>
          </p:nvSpPr>
          <p:spPr>
            <a:xfrm>
              <a:off x="0" y="0"/>
              <a:ext cx="4721071" cy="4108524"/>
            </a:xfrm>
            <a:custGeom>
              <a:avLst/>
              <a:gdLst/>
              <a:ahLst/>
              <a:cxnLst/>
              <a:rect l="l" t="t" r="r" b="b"/>
              <a:pathLst>
                <a:path w="4721071" h="4108524">
                  <a:moveTo>
                    <a:pt x="0" y="0"/>
                  </a:moveTo>
                  <a:lnTo>
                    <a:pt x="4721071" y="0"/>
                  </a:lnTo>
                  <a:lnTo>
                    <a:pt x="4721071" y="4108524"/>
                  </a:lnTo>
                  <a:lnTo>
                    <a:pt x="0" y="41085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7655" r="-44498" b="13953"/>
              </a:stretch>
            </a:blipFill>
          </p:spPr>
        </p:sp>
        <p:sp>
          <p:nvSpPr>
            <p:cNvPr id="140" name="TextBox 140"/>
            <p:cNvSpPr txBox="1"/>
            <p:nvPr/>
          </p:nvSpPr>
          <p:spPr>
            <a:xfrm>
              <a:off x="0" y="-19050"/>
              <a:ext cx="4721071" cy="41275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Winter</a:t>
              </a: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9669638" y="5123545"/>
            <a:ext cx="8251396" cy="2294948"/>
            <a:chOff x="0" y="0"/>
            <a:chExt cx="11001862" cy="3059931"/>
          </a:xfrm>
        </p:grpSpPr>
        <p:sp>
          <p:nvSpPr>
            <p:cNvPr id="142" name="Freeform 142"/>
            <p:cNvSpPr/>
            <p:nvPr/>
          </p:nvSpPr>
          <p:spPr>
            <a:xfrm>
              <a:off x="0" y="0"/>
              <a:ext cx="11001862" cy="3059956"/>
            </a:xfrm>
            <a:custGeom>
              <a:avLst/>
              <a:gdLst/>
              <a:ahLst/>
              <a:cxnLst/>
              <a:rect l="l" t="t" r="r" b="b"/>
              <a:pathLst>
                <a:path w="11001862" h="3059956">
                  <a:moveTo>
                    <a:pt x="0" y="0"/>
                  </a:moveTo>
                  <a:lnTo>
                    <a:pt x="11001862" y="0"/>
                  </a:lnTo>
                  <a:lnTo>
                    <a:pt x="11001862" y="3059956"/>
                  </a:lnTo>
                  <a:lnTo>
                    <a:pt x="0" y="30599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08" b="-20007"/>
              </a:stretch>
            </a:blipFill>
          </p:spPr>
        </p:sp>
      </p:grpSp>
      <p:grpSp>
        <p:nvGrpSpPr>
          <p:cNvPr id="143" name="Group 143"/>
          <p:cNvGrpSpPr/>
          <p:nvPr/>
        </p:nvGrpSpPr>
        <p:grpSpPr>
          <a:xfrm>
            <a:off x="9659585" y="4710675"/>
            <a:ext cx="8251396" cy="2155374"/>
            <a:chOff x="0" y="0"/>
            <a:chExt cx="11001862" cy="2873832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11001862" cy="2873834"/>
            </a:xfrm>
            <a:custGeom>
              <a:avLst/>
              <a:gdLst/>
              <a:ahLst/>
              <a:cxnLst/>
              <a:rect l="l" t="t" r="r" b="b"/>
              <a:pathLst>
                <a:path w="11001862" h="2873834">
                  <a:moveTo>
                    <a:pt x="0" y="0"/>
                  </a:moveTo>
                  <a:lnTo>
                    <a:pt x="11001862" y="0"/>
                  </a:lnTo>
                  <a:lnTo>
                    <a:pt x="11001862" y="2873834"/>
                  </a:lnTo>
                  <a:lnTo>
                    <a:pt x="0" y="28738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290" r="5250" b="-9064"/>
              </a:stretch>
            </a:blipFill>
          </p:spPr>
        </p:sp>
        <p:sp>
          <p:nvSpPr>
            <p:cNvPr id="145" name="TextBox 145"/>
            <p:cNvSpPr txBox="1"/>
            <p:nvPr/>
          </p:nvSpPr>
          <p:spPr>
            <a:xfrm>
              <a:off x="0" y="142875"/>
              <a:ext cx="11001862" cy="273095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just">
                <a:lnSpc>
                  <a:spcPts val="1200"/>
                </a:lnSpc>
              </a:pPr>
              <a:r>
                <a:rPr lang="en-US" sz="240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 Jan 2011  →  14 Feb 2011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23444"/>
            <a:chOff x="0" y="0"/>
            <a:chExt cx="24377904" cy="164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164592"/>
            </a:xfrm>
            <a:custGeom>
              <a:avLst/>
              <a:gdLst/>
              <a:ahLst/>
              <a:cxnLst/>
              <a:rect l="l" t="t" r="r" b="b"/>
              <a:pathLst>
                <a:path w="24377904" h="164592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71504" y="-376209"/>
            <a:ext cx="16870680" cy="3303594"/>
            <a:chOff x="0" y="0"/>
            <a:chExt cx="22494240" cy="44047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94239" cy="4404792"/>
            </a:xfrm>
            <a:custGeom>
              <a:avLst/>
              <a:gdLst/>
              <a:ahLst/>
              <a:cxnLst/>
              <a:rect l="l" t="t" r="r" b="b"/>
              <a:pathLst>
                <a:path w="22494239" h="4404792">
                  <a:moveTo>
                    <a:pt x="0" y="0"/>
                  </a:moveTo>
                  <a:lnTo>
                    <a:pt x="22494239" y="0"/>
                  </a:lnTo>
                  <a:lnTo>
                    <a:pt x="22494239" y="4404792"/>
                  </a:lnTo>
                  <a:lnTo>
                    <a:pt x="0" y="4404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757" b="-1425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2494240" cy="4423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Excel Workflow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410337"/>
            <a:ext cx="12344400" cy="440055"/>
            <a:chOff x="0" y="0"/>
            <a:chExt cx="16459200" cy="5867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459200" cy="586740"/>
            </a:xfrm>
            <a:custGeom>
              <a:avLst/>
              <a:gdLst/>
              <a:ahLst/>
              <a:cxnLst/>
              <a:rect l="l" t="t" r="r" b="b"/>
              <a:pathLst>
                <a:path w="16459200" h="586740">
                  <a:moveTo>
                    <a:pt x="0" y="0"/>
                  </a:moveTo>
                  <a:lnTo>
                    <a:pt x="16459200" y="0"/>
                  </a:lnTo>
                  <a:lnTo>
                    <a:pt x="164592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6593" b="-49659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4592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·  WORKFLOW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048988" y="9716929"/>
            <a:ext cx="685800" cy="432911"/>
            <a:chOff x="0" y="0"/>
            <a:chExt cx="914400" cy="5772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" cy="577215"/>
            </a:xfrm>
            <a:custGeom>
              <a:avLst/>
              <a:gdLst/>
              <a:ahLst/>
              <a:cxnLst/>
              <a:rect l="l" t="t" r="r" b="b"/>
              <a:pathLst>
                <a:path w="914400" h="577215">
                  <a:moveTo>
                    <a:pt x="0" y="0"/>
                  </a:moveTo>
                  <a:lnTo>
                    <a:pt x="914400" y="0"/>
                  </a:lnTo>
                  <a:lnTo>
                    <a:pt x="914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91" r="-3099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914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 / 17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9131" y="2383631"/>
            <a:ext cx="4038410" cy="3530917"/>
            <a:chOff x="0" y="0"/>
            <a:chExt cx="5384546" cy="47078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384546" cy="4707890"/>
            </a:xfrm>
            <a:custGeom>
              <a:avLst/>
              <a:gdLst/>
              <a:ahLst/>
              <a:cxnLst/>
              <a:rect l="l" t="t" r="r" b="b"/>
              <a:pathLst>
                <a:path w="5384546" h="4707890">
                  <a:moveTo>
                    <a:pt x="0" y="0"/>
                  </a:moveTo>
                  <a:lnTo>
                    <a:pt x="5384546" y="0"/>
                  </a:lnTo>
                  <a:lnTo>
                    <a:pt x="5384546" y="4707890"/>
                  </a:lnTo>
                  <a:lnTo>
                    <a:pt x="0" y="470789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CF1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932688" y="2674620"/>
            <a:ext cx="685800" cy="685800"/>
            <a:chOff x="0" y="0"/>
            <a:chExt cx="914400" cy="914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32688" y="2660333"/>
            <a:ext cx="685800" cy="700088"/>
            <a:chOff x="0" y="0"/>
            <a:chExt cx="914400" cy="9334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" cy="933450"/>
            </a:xfrm>
            <a:custGeom>
              <a:avLst/>
              <a:gdLst/>
              <a:ahLst/>
              <a:cxnLst/>
              <a:rect l="l" t="t" r="r" b="b"/>
              <a:pathLst>
                <a:path w="914400" h="933450">
                  <a:moveTo>
                    <a:pt x="0" y="0"/>
                  </a:moveTo>
                  <a:lnTo>
                    <a:pt x="914400" y="0"/>
                  </a:lnTo>
                  <a:lnTo>
                    <a:pt x="9144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976" r="-80976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32688" y="3469005"/>
            <a:ext cx="3511296" cy="577215"/>
            <a:chOff x="0" y="0"/>
            <a:chExt cx="4681728" cy="7696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681728" cy="769620"/>
            </a:xfrm>
            <a:custGeom>
              <a:avLst/>
              <a:gdLst/>
              <a:ahLst/>
              <a:cxnLst/>
              <a:rect l="l" t="t" r="r" b="b"/>
              <a:pathLst>
                <a:path w="4681728" h="769620">
                  <a:moveTo>
                    <a:pt x="0" y="0"/>
                  </a:moveTo>
                  <a:lnTo>
                    <a:pt x="4681728" y="0"/>
                  </a:lnTo>
                  <a:lnTo>
                    <a:pt x="468172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530" b="-6853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681728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Source Data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2688" y="4046220"/>
            <a:ext cx="3511296" cy="1714500"/>
            <a:chOff x="0" y="0"/>
            <a:chExt cx="4681728" cy="2286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681728" cy="2286000"/>
            </a:xfrm>
            <a:custGeom>
              <a:avLst/>
              <a:gdLst/>
              <a:ahLst/>
              <a:cxnLst/>
              <a:rect l="l" t="t" r="r" b="b"/>
              <a:pathLst>
                <a:path w="4681728" h="2286000">
                  <a:moveTo>
                    <a:pt x="0" y="0"/>
                  </a:moveTo>
                  <a:lnTo>
                    <a:pt x="4681728" y="0"/>
                  </a:lnTo>
                  <a:lnTo>
                    <a:pt x="4681728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691" r="-12691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771992" y="4031932"/>
            <a:ext cx="3511296" cy="1728788"/>
            <a:chOff x="0" y="0"/>
            <a:chExt cx="4681728" cy="23050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681728" cy="2305050"/>
            </a:xfrm>
            <a:custGeom>
              <a:avLst/>
              <a:gdLst/>
              <a:ahLst/>
              <a:cxnLst/>
              <a:rect l="l" t="t" r="r" b="b"/>
              <a:pathLst>
                <a:path w="4681728" h="2305050">
                  <a:moveTo>
                    <a:pt x="0" y="0"/>
                  </a:moveTo>
                  <a:lnTo>
                    <a:pt x="4681728" y="0"/>
                  </a:lnTo>
                  <a:lnTo>
                    <a:pt x="4681728" y="2305050"/>
                  </a:lnTo>
                  <a:lnTo>
                    <a:pt x="0" y="2305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70" r="-1317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4681728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48"/>
                </a:lnSpc>
              </a:pPr>
              <a:r>
                <a:rPr lang="en-US" sz="1874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analysis started with three source workbooks: Dataset1, Dataset2, and Dataset3.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697730" y="3977640"/>
            <a:ext cx="205740" cy="548640"/>
            <a:chOff x="0" y="0"/>
            <a:chExt cx="274320" cy="7315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74320" cy="731520"/>
            </a:xfrm>
            <a:custGeom>
              <a:avLst/>
              <a:gdLst/>
              <a:ahLst/>
              <a:cxnLst/>
              <a:rect l="l" t="t" r="r" b="b"/>
              <a:pathLst>
                <a:path w="274320" h="731520">
                  <a:moveTo>
                    <a:pt x="0" y="0"/>
                  </a:moveTo>
                  <a:lnTo>
                    <a:pt x="274320" y="0"/>
                  </a:lnTo>
                  <a:lnTo>
                    <a:pt x="27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2379" r="-292384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4697730" y="3949065"/>
            <a:ext cx="205740" cy="577215"/>
            <a:chOff x="0" y="0"/>
            <a:chExt cx="274320" cy="7696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74320" cy="769620"/>
            </a:xfrm>
            <a:custGeom>
              <a:avLst/>
              <a:gdLst/>
              <a:ahLst/>
              <a:cxnLst/>
              <a:rect l="l" t="t" r="r" b="b"/>
              <a:pathLst>
                <a:path w="274320" h="769620">
                  <a:moveTo>
                    <a:pt x="0" y="0"/>
                  </a:moveTo>
                  <a:lnTo>
                    <a:pt x="274320" y="0"/>
                  </a:lnTo>
                  <a:lnTo>
                    <a:pt x="27432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962" r="-309962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7432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8"/>
                </a:lnSpc>
              </a:pPr>
              <a:r>
                <a:rPr lang="en-US" sz="2400" b="1">
                  <a:solidFill>
                    <a:srgbClr val="E9A2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879943" y="2383631"/>
            <a:ext cx="4038410" cy="3530917"/>
            <a:chOff x="0" y="0"/>
            <a:chExt cx="5384546" cy="470789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384546" cy="4707890"/>
            </a:xfrm>
            <a:custGeom>
              <a:avLst/>
              <a:gdLst/>
              <a:ahLst/>
              <a:cxnLst/>
              <a:rect l="l" t="t" r="r" b="b"/>
              <a:pathLst>
                <a:path w="5384546" h="4707890">
                  <a:moveTo>
                    <a:pt x="0" y="0"/>
                  </a:moveTo>
                  <a:lnTo>
                    <a:pt x="5384546" y="0"/>
                  </a:lnTo>
                  <a:lnTo>
                    <a:pt x="5384546" y="4707890"/>
                  </a:lnTo>
                  <a:lnTo>
                    <a:pt x="0" y="470789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CF1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5143500" y="2674620"/>
            <a:ext cx="685800" cy="685800"/>
            <a:chOff x="0" y="0"/>
            <a:chExt cx="914400" cy="914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5143500" y="2674620"/>
            <a:ext cx="685800" cy="685800"/>
            <a:chOff x="0" y="0"/>
            <a:chExt cx="914400" cy="914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93" r="-78393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5143500" y="2660333"/>
            <a:ext cx="685800" cy="700088"/>
            <a:chOff x="0" y="0"/>
            <a:chExt cx="914400" cy="93345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14400" cy="933450"/>
            </a:xfrm>
            <a:custGeom>
              <a:avLst/>
              <a:gdLst/>
              <a:ahLst/>
              <a:cxnLst/>
              <a:rect l="l" t="t" r="r" b="b"/>
              <a:pathLst>
                <a:path w="914400" h="933450">
                  <a:moveTo>
                    <a:pt x="0" y="0"/>
                  </a:moveTo>
                  <a:lnTo>
                    <a:pt x="914400" y="0"/>
                  </a:lnTo>
                  <a:lnTo>
                    <a:pt x="9144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976" r="-80976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143500" y="3497580"/>
            <a:ext cx="3511296" cy="548640"/>
            <a:chOff x="0" y="0"/>
            <a:chExt cx="4681728" cy="731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681728" cy="731520"/>
            </a:xfrm>
            <a:custGeom>
              <a:avLst/>
              <a:gdLst/>
              <a:ahLst/>
              <a:cxnLst/>
              <a:rect l="l" t="t" r="r" b="b"/>
              <a:pathLst>
                <a:path w="4681728" h="731520">
                  <a:moveTo>
                    <a:pt x="0" y="0"/>
                  </a:moveTo>
                  <a:lnTo>
                    <a:pt x="4681728" y="0"/>
                  </a:lnTo>
                  <a:lnTo>
                    <a:pt x="4681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4618" b="-74616"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5143500" y="3469005"/>
            <a:ext cx="3511296" cy="577215"/>
            <a:chOff x="0" y="0"/>
            <a:chExt cx="4681728" cy="7696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681728" cy="769620"/>
            </a:xfrm>
            <a:custGeom>
              <a:avLst/>
              <a:gdLst/>
              <a:ahLst/>
              <a:cxnLst/>
              <a:rect l="l" t="t" r="r" b="b"/>
              <a:pathLst>
                <a:path w="4681728" h="769620">
                  <a:moveTo>
                    <a:pt x="0" y="0"/>
                  </a:moveTo>
                  <a:lnTo>
                    <a:pt x="4681728" y="0"/>
                  </a:lnTo>
                  <a:lnTo>
                    <a:pt x="468172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530" b="-68530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681728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Cleaning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143500" y="4046220"/>
            <a:ext cx="3511296" cy="1714500"/>
            <a:chOff x="0" y="0"/>
            <a:chExt cx="4681728" cy="22860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681728" cy="2286000"/>
            </a:xfrm>
            <a:custGeom>
              <a:avLst/>
              <a:gdLst/>
              <a:ahLst/>
              <a:cxnLst/>
              <a:rect l="l" t="t" r="r" b="b"/>
              <a:pathLst>
                <a:path w="4681728" h="2286000">
                  <a:moveTo>
                    <a:pt x="0" y="0"/>
                  </a:moveTo>
                  <a:lnTo>
                    <a:pt x="4681728" y="0"/>
                  </a:lnTo>
                  <a:lnTo>
                    <a:pt x="4681728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691" r="-12691"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5052393" y="4031932"/>
            <a:ext cx="3684699" cy="1728787"/>
            <a:chOff x="0" y="0"/>
            <a:chExt cx="4912932" cy="230505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912932" cy="2305050"/>
            </a:xfrm>
            <a:custGeom>
              <a:avLst/>
              <a:gdLst/>
              <a:ahLst/>
              <a:cxnLst/>
              <a:rect l="l" t="t" r="r" b="b"/>
              <a:pathLst>
                <a:path w="4912932" h="2305050">
                  <a:moveTo>
                    <a:pt x="0" y="0"/>
                  </a:moveTo>
                  <a:lnTo>
                    <a:pt x="4912932" y="0"/>
                  </a:lnTo>
                  <a:lnTo>
                    <a:pt x="4912932" y="2305050"/>
                  </a:lnTo>
                  <a:lnTo>
                    <a:pt x="0" y="2305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550" r="-7844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4912932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48"/>
                </a:lnSpc>
              </a:pPr>
              <a:r>
                <a:rPr lang="en-US" sz="1874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 Query was used to fix data types, remove duplicates, and fill 11 missing values with the mean.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908542" y="3977640"/>
            <a:ext cx="205740" cy="548640"/>
            <a:chOff x="0" y="0"/>
            <a:chExt cx="274320" cy="7315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74320" cy="731520"/>
            </a:xfrm>
            <a:custGeom>
              <a:avLst/>
              <a:gdLst/>
              <a:ahLst/>
              <a:cxnLst/>
              <a:rect l="l" t="t" r="r" b="b"/>
              <a:pathLst>
                <a:path w="274320" h="731520">
                  <a:moveTo>
                    <a:pt x="0" y="0"/>
                  </a:moveTo>
                  <a:lnTo>
                    <a:pt x="274320" y="0"/>
                  </a:lnTo>
                  <a:lnTo>
                    <a:pt x="27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2379" r="-292384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8908542" y="3949065"/>
            <a:ext cx="205740" cy="577215"/>
            <a:chOff x="0" y="0"/>
            <a:chExt cx="274320" cy="7696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74320" cy="769620"/>
            </a:xfrm>
            <a:custGeom>
              <a:avLst/>
              <a:gdLst/>
              <a:ahLst/>
              <a:cxnLst/>
              <a:rect l="l" t="t" r="r" b="b"/>
              <a:pathLst>
                <a:path w="274320" h="769620">
                  <a:moveTo>
                    <a:pt x="0" y="0"/>
                  </a:moveTo>
                  <a:lnTo>
                    <a:pt x="274320" y="0"/>
                  </a:lnTo>
                  <a:lnTo>
                    <a:pt x="27432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962" r="-309962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27432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8"/>
                </a:lnSpc>
              </a:pPr>
              <a:r>
                <a:rPr lang="en-US" sz="2400" b="1">
                  <a:solidFill>
                    <a:srgbClr val="E9A2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090755" y="2383631"/>
            <a:ext cx="4038410" cy="3530917"/>
            <a:chOff x="0" y="0"/>
            <a:chExt cx="5384546" cy="470789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384546" cy="4707890"/>
            </a:xfrm>
            <a:custGeom>
              <a:avLst/>
              <a:gdLst/>
              <a:ahLst/>
              <a:cxnLst/>
              <a:rect l="l" t="t" r="r" b="b"/>
              <a:pathLst>
                <a:path w="5384546" h="4707890">
                  <a:moveTo>
                    <a:pt x="0" y="0"/>
                  </a:moveTo>
                  <a:lnTo>
                    <a:pt x="5384546" y="0"/>
                  </a:lnTo>
                  <a:lnTo>
                    <a:pt x="5384546" y="4707890"/>
                  </a:lnTo>
                  <a:lnTo>
                    <a:pt x="0" y="470789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CF1"/>
              </a:solidFill>
              <a:prstDash val="solid"/>
              <a:miter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9354312" y="2674620"/>
            <a:ext cx="685800" cy="685800"/>
            <a:chOff x="0" y="0"/>
            <a:chExt cx="914400" cy="9144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9354312" y="2674620"/>
            <a:ext cx="685800" cy="685800"/>
            <a:chOff x="0" y="0"/>
            <a:chExt cx="914400" cy="9144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93" r="-78393"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9354312" y="2660333"/>
            <a:ext cx="685800" cy="700088"/>
            <a:chOff x="0" y="0"/>
            <a:chExt cx="914400" cy="93345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14400" cy="933450"/>
            </a:xfrm>
            <a:custGeom>
              <a:avLst/>
              <a:gdLst/>
              <a:ahLst/>
              <a:cxnLst/>
              <a:rect l="l" t="t" r="r" b="b"/>
              <a:pathLst>
                <a:path w="914400" h="933450">
                  <a:moveTo>
                    <a:pt x="0" y="0"/>
                  </a:moveTo>
                  <a:lnTo>
                    <a:pt x="914400" y="0"/>
                  </a:lnTo>
                  <a:lnTo>
                    <a:pt x="9144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976" r="-80976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354312" y="3497580"/>
            <a:ext cx="3511296" cy="548640"/>
            <a:chOff x="0" y="0"/>
            <a:chExt cx="4681728" cy="73152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681728" cy="731520"/>
            </a:xfrm>
            <a:custGeom>
              <a:avLst/>
              <a:gdLst/>
              <a:ahLst/>
              <a:cxnLst/>
              <a:rect l="l" t="t" r="r" b="b"/>
              <a:pathLst>
                <a:path w="4681728" h="731520">
                  <a:moveTo>
                    <a:pt x="0" y="0"/>
                  </a:moveTo>
                  <a:lnTo>
                    <a:pt x="4681728" y="0"/>
                  </a:lnTo>
                  <a:lnTo>
                    <a:pt x="4681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4618" b="-74616"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9354312" y="3469005"/>
            <a:ext cx="3511296" cy="577215"/>
            <a:chOff x="0" y="0"/>
            <a:chExt cx="4681728" cy="76962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681728" cy="769620"/>
            </a:xfrm>
            <a:custGeom>
              <a:avLst/>
              <a:gdLst/>
              <a:ahLst/>
              <a:cxnLst/>
              <a:rect l="l" t="t" r="r" b="b"/>
              <a:pathLst>
                <a:path w="4681728" h="769620">
                  <a:moveTo>
                    <a:pt x="0" y="0"/>
                  </a:moveTo>
                  <a:lnTo>
                    <a:pt x="4681728" y="0"/>
                  </a:lnTo>
                  <a:lnTo>
                    <a:pt x="468172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530" b="-68530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4681728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Merge &amp; Append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354312" y="4046220"/>
            <a:ext cx="3511296" cy="1714500"/>
            <a:chOff x="0" y="0"/>
            <a:chExt cx="4681728" cy="228600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681728" cy="2286000"/>
            </a:xfrm>
            <a:custGeom>
              <a:avLst/>
              <a:gdLst/>
              <a:ahLst/>
              <a:cxnLst/>
              <a:rect l="l" t="t" r="r" b="b"/>
              <a:pathLst>
                <a:path w="4681728" h="2286000">
                  <a:moveTo>
                    <a:pt x="0" y="0"/>
                  </a:moveTo>
                  <a:lnTo>
                    <a:pt x="4681728" y="0"/>
                  </a:lnTo>
                  <a:lnTo>
                    <a:pt x="4681728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691" r="-12691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9266682" y="4046220"/>
            <a:ext cx="3511296" cy="1728787"/>
            <a:chOff x="0" y="0"/>
            <a:chExt cx="4681728" cy="230505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4681728" cy="2305050"/>
            </a:xfrm>
            <a:custGeom>
              <a:avLst/>
              <a:gdLst/>
              <a:ahLst/>
              <a:cxnLst/>
              <a:rect l="l" t="t" r="r" b="b"/>
              <a:pathLst>
                <a:path w="4681728" h="2305050">
                  <a:moveTo>
                    <a:pt x="0" y="0"/>
                  </a:moveTo>
                  <a:lnTo>
                    <a:pt x="4681728" y="0"/>
                  </a:lnTo>
                  <a:lnTo>
                    <a:pt x="4681728" y="2305050"/>
                  </a:lnTo>
                  <a:lnTo>
                    <a:pt x="0" y="2305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70" r="-13170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4681728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48"/>
                </a:lnSpc>
              </a:pPr>
              <a:r>
                <a:rPr lang="en-US" sz="1874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datasets were merged using the common 'instant' key and then appended to create one dataset with 1,000 hourly rows.</a:t>
              </a:r>
            </a:p>
            <a:p>
              <a:pPr algn="l">
                <a:lnSpc>
                  <a:spcPts val="2248"/>
                </a:lnSpc>
              </a:pPr>
              <a:endParaRPr lang="en-US" sz="1874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3119354" y="3977640"/>
            <a:ext cx="205740" cy="548640"/>
            <a:chOff x="0" y="0"/>
            <a:chExt cx="274320" cy="73152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74320" cy="731520"/>
            </a:xfrm>
            <a:custGeom>
              <a:avLst/>
              <a:gdLst/>
              <a:ahLst/>
              <a:cxnLst/>
              <a:rect l="l" t="t" r="r" b="b"/>
              <a:pathLst>
                <a:path w="274320" h="731520">
                  <a:moveTo>
                    <a:pt x="0" y="0"/>
                  </a:moveTo>
                  <a:lnTo>
                    <a:pt x="274320" y="0"/>
                  </a:lnTo>
                  <a:lnTo>
                    <a:pt x="274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2379" r="-292384"/>
              </a:stretch>
            </a:blipFill>
          </p:spPr>
        </p:sp>
      </p:grpSp>
      <p:grpSp>
        <p:nvGrpSpPr>
          <p:cNvPr id="78" name="Group 78"/>
          <p:cNvGrpSpPr/>
          <p:nvPr/>
        </p:nvGrpSpPr>
        <p:grpSpPr>
          <a:xfrm>
            <a:off x="13119354" y="3949065"/>
            <a:ext cx="205740" cy="577215"/>
            <a:chOff x="0" y="0"/>
            <a:chExt cx="274320" cy="76962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74320" cy="769620"/>
            </a:xfrm>
            <a:custGeom>
              <a:avLst/>
              <a:gdLst/>
              <a:ahLst/>
              <a:cxnLst/>
              <a:rect l="l" t="t" r="r" b="b"/>
              <a:pathLst>
                <a:path w="274320" h="769620">
                  <a:moveTo>
                    <a:pt x="0" y="0"/>
                  </a:moveTo>
                  <a:lnTo>
                    <a:pt x="274320" y="0"/>
                  </a:lnTo>
                  <a:lnTo>
                    <a:pt x="27432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962" r="-309962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38100"/>
              <a:ext cx="274320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8"/>
                </a:lnSpc>
              </a:pPr>
              <a:r>
                <a:rPr lang="en-US" sz="2400" b="1">
                  <a:solidFill>
                    <a:srgbClr val="E9A2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3301567" y="2383631"/>
            <a:ext cx="4038410" cy="3530917"/>
            <a:chOff x="0" y="0"/>
            <a:chExt cx="5384546" cy="470789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5384546" cy="4707890"/>
            </a:xfrm>
            <a:custGeom>
              <a:avLst/>
              <a:gdLst/>
              <a:ahLst/>
              <a:cxnLst/>
              <a:rect l="l" t="t" r="r" b="b"/>
              <a:pathLst>
                <a:path w="5384546" h="4707890">
                  <a:moveTo>
                    <a:pt x="0" y="0"/>
                  </a:moveTo>
                  <a:lnTo>
                    <a:pt x="5384546" y="0"/>
                  </a:lnTo>
                  <a:lnTo>
                    <a:pt x="5384546" y="4707890"/>
                  </a:lnTo>
                  <a:lnTo>
                    <a:pt x="0" y="470789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CF1"/>
              </a:solidFill>
              <a:prstDash val="solid"/>
              <a:miter/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13565124" y="2674620"/>
            <a:ext cx="685800" cy="685800"/>
            <a:chOff x="0" y="0"/>
            <a:chExt cx="914400" cy="9144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85" name="Group 85"/>
          <p:cNvGrpSpPr/>
          <p:nvPr/>
        </p:nvGrpSpPr>
        <p:grpSpPr>
          <a:xfrm>
            <a:off x="13565124" y="2674620"/>
            <a:ext cx="685800" cy="685800"/>
            <a:chOff x="0" y="0"/>
            <a:chExt cx="914400" cy="9144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93" r="-78393"/>
              </a:stretch>
            </a:blipFill>
          </p:spPr>
        </p:sp>
      </p:grpSp>
      <p:grpSp>
        <p:nvGrpSpPr>
          <p:cNvPr id="87" name="Group 87"/>
          <p:cNvGrpSpPr/>
          <p:nvPr/>
        </p:nvGrpSpPr>
        <p:grpSpPr>
          <a:xfrm>
            <a:off x="13565124" y="2660333"/>
            <a:ext cx="685800" cy="700088"/>
            <a:chOff x="0" y="0"/>
            <a:chExt cx="914400" cy="93345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914400" cy="933450"/>
            </a:xfrm>
            <a:custGeom>
              <a:avLst/>
              <a:gdLst/>
              <a:ahLst/>
              <a:cxnLst/>
              <a:rect l="l" t="t" r="r" b="b"/>
              <a:pathLst>
                <a:path w="914400" h="933450">
                  <a:moveTo>
                    <a:pt x="0" y="0"/>
                  </a:moveTo>
                  <a:lnTo>
                    <a:pt x="914400" y="0"/>
                  </a:lnTo>
                  <a:lnTo>
                    <a:pt x="9144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976" r="-80976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19050"/>
              <a:ext cx="91440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3565124" y="3497580"/>
            <a:ext cx="3511296" cy="548640"/>
            <a:chOff x="0" y="0"/>
            <a:chExt cx="4681728" cy="73152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4681728" cy="731520"/>
            </a:xfrm>
            <a:custGeom>
              <a:avLst/>
              <a:gdLst/>
              <a:ahLst/>
              <a:cxnLst/>
              <a:rect l="l" t="t" r="r" b="b"/>
              <a:pathLst>
                <a:path w="4681728" h="731520">
                  <a:moveTo>
                    <a:pt x="0" y="0"/>
                  </a:moveTo>
                  <a:lnTo>
                    <a:pt x="4681728" y="0"/>
                  </a:lnTo>
                  <a:lnTo>
                    <a:pt x="4681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4618" b="-74616"/>
              </a:stretch>
            </a:blipFill>
          </p:spPr>
        </p:sp>
      </p:grpSp>
      <p:grpSp>
        <p:nvGrpSpPr>
          <p:cNvPr id="92" name="Group 92"/>
          <p:cNvGrpSpPr/>
          <p:nvPr/>
        </p:nvGrpSpPr>
        <p:grpSpPr>
          <a:xfrm>
            <a:off x="13565124" y="3469005"/>
            <a:ext cx="3511296" cy="577215"/>
            <a:chOff x="0" y="0"/>
            <a:chExt cx="4681728" cy="76962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681728" cy="769620"/>
            </a:xfrm>
            <a:custGeom>
              <a:avLst/>
              <a:gdLst/>
              <a:ahLst/>
              <a:cxnLst/>
              <a:rect l="l" t="t" r="r" b="b"/>
              <a:pathLst>
                <a:path w="4681728" h="769620">
                  <a:moveTo>
                    <a:pt x="0" y="0"/>
                  </a:moveTo>
                  <a:lnTo>
                    <a:pt x="4681728" y="0"/>
                  </a:lnTo>
                  <a:lnTo>
                    <a:pt x="4681728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530" b="-68530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4681728" cy="80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Preparation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3565124" y="4046220"/>
            <a:ext cx="3511296" cy="1714500"/>
            <a:chOff x="0" y="0"/>
            <a:chExt cx="4681728" cy="228600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4681728" cy="2286000"/>
            </a:xfrm>
            <a:custGeom>
              <a:avLst/>
              <a:gdLst/>
              <a:ahLst/>
              <a:cxnLst/>
              <a:rect l="l" t="t" r="r" b="b"/>
              <a:pathLst>
                <a:path w="4681728" h="2286000">
                  <a:moveTo>
                    <a:pt x="0" y="0"/>
                  </a:moveTo>
                  <a:lnTo>
                    <a:pt x="4681728" y="0"/>
                  </a:lnTo>
                  <a:lnTo>
                    <a:pt x="4681728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691" r="-12691"/>
              </a:stretch>
            </a:blipFill>
          </p:spPr>
        </p:sp>
      </p:grpSp>
      <p:grpSp>
        <p:nvGrpSpPr>
          <p:cNvPr id="97" name="Group 97"/>
          <p:cNvGrpSpPr/>
          <p:nvPr/>
        </p:nvGrpSpPr>
        <p:grpSpPr>
          <a:xfrm>
            <a:off x="13353669" y="4031932"/>
            <a:ext cx="3905631" cy="1728787"/>
            <a:chOff x="0" y="0"/>
            <a:chExt cx="5207508" cy="230505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5207508" cy="2305050"/>
            </a:xfrm>
            <a:custGeom>
              <a:avLst/>
              <a:gdLst/>
              <a:ahLst/>
              <a:cxnLst/>
              <a:rect l="l" t="t" r="r" b="b"/>
              <a:pathLst>
                <a:path w="5207508" h="2305050">
                  <a:moveTo>
                    <a:pt x="0" y="0"/>
                  </a:moveTo>
                  <a:lnTo>
                    <a:pt x="5207508" y="0"/>
                  </a:lnTo>
                  <a:lnTo>
                    <a:pt x="5207508" y="2305050"/>
                  </a:lnTo>
                  <a:lnTo>
                    <a:pt x="0" y="2305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40" r="-1743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38100"/>
              <a:ext cx="5207508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48"/>
                </a:lnSpc>
              </a:pPr>
              <a:r>
                <a:rPr lang="en-US" sz="1874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Lookup tables using VLOOKUP / INDEX-MATCH and IF formulas were used to add clear labels for weather, day type, and working day.</a:t>
              </a:r>
            </a:p>
            <a:p>
              <a:pPr algn="l">
                <a:lnSpc>
                  <a:spcPts val="2248"/>
                </a:lnSpc>
              </a:pPr>
              <a:endParaRPr lang="en-US" sz="1874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685800" y="6377940"/>
            <a:ext cx="16870680" cy="411480"/>
            <a:chOff x="0" y="0"/>
            <a:chExt cx="22494240" cy="54864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22494239" cy="548640"/>
            </a:xfrm>
            <a:custGeom>
              <a:avLst/>
              <a:gdLst/>
              <a:ahLst/>
              <a:cxnLst/>
              <a:rect l="l" t="t" r="r" b="b"/>
              <a:pathLst>
                <a:path w="22494239" h="548640">
                  <a:moveTo>
                    <a:pt x="0" y="0"/>
                  </a:moveTo>
                  <a:lnTo>
                    <a:pt x="22494239" y="0"/>
                  </a:lnTo>
                  <a:lnTo>
                    <a:pt x="22494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48331" b="-748331"/>
              </a:stretch>
            </a:blipFill>
          </p:spPr>
        </p:sp>
      </p:grpSp>
      <p:grpSp>
        <p:nvGrpSpPr>
          <p:cNvPr id="102" name="Group 102"/>
          <p:cNvGrpSpPr/>
          <p:nvPr/>
        </p:nvGrpSpPr>
        <p:grpSpPr>
          <a:xfrm>
            <a:off x="685800" y="6356509"/>
            <a:ext cx="16870680" cy="432911"/>
            <a:chOff x="0" y="0"/>
            <a:chExt cx="22494240" cy="577215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22494239" cy="577215"/>
            </a:xfrm>
            <a:custGeom>
              <a:avLst/>
              <a:gdLst/>
              <a:ahLst/>
              <a:cxnLst/>
              <a:rect l="l" t="t" r="r" b="b"/>
              <a:pathLst>
                <a:path w="22494239" h="577215">
                  <a:moveTo>
                    <a:pt x="0" y="0"/>
                  </a:moveTo>
                  <a:lnTo>
                    <a:pt x="22494239" y="0"/>
                  </a:lnTo>
                  <a:lnTo>
                    <a:pt x="22494239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9337" b="-709337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-28575"/>
              <a:ext cx="2249424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74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ANALYTICAL DATASET</a:t>
              </a:r>
            </a:p>
          </p:txBody>
        </p:sp>
      </p:grpSp>
      <p:sp>
        <p:nvSpPr>
          <p:cNvPr id="105" name="AutoShape 105"/>
          <p:cNvSpPr/>
          <p:nvPr/>
        </p:nvSpPr>
        <p:spPr>
          <a:xfrm rot="1920">
            <a:off x="671503" y="6807327"/>
            <a:ext cx="16899265" cy="0"/>
          </a:xfrm>
          <a:prstGeom prst="line">
            <a:avLst/>
          </a:prstGeom>
          <a:ln w="9525" cap="rnd">
            <a:solidFill>
              <a:srgbClr val="E7ECF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6" name="Group 106"/>
          <p:cNvGrpSpPr/>
          <p:nvPr/>
        </p:nvGrpSpPr>
        <p:grpSpPr>
          <a:xfrm>
            <a:off x="685800" y="6926580"/>
            <a:ext cx="3264408" cy="548640"/>
            <a:chOff x="0" y="0"/>
            <a:chExt cx="4352544" cy="73152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4352544" cy="731520"/>
            </a:xfrm>
            <a:custGeom>
              <a:avLst/>
              <a:gdLst/>
              <a:ahLst/>
              <a:cxnLst/>
              <a:rect l="l" t="t" r="r" b="b"/>
              <a:pathLst>
                <a:path w="4352544" h="731520">
                  <a:moveTo>
                    <a:pt x="0" y="0"/>
                  </a:moveTo>
                  <a:lnTo>
                    <a:pt x="4352544" y="0"/>
                  </a:lnTo>
                  <a:lnTo>
                    <a:pt x="4352544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108" name="Group 108"/>
          <p:cNvGrpSpPr/>
          <p:nvPr/>
        </p:nvGrpSpPr>
        <p:grpSpPr>
          <a:xfrm>
            <a:off x="685800" y="6926580"/>
            <a:ext cx="3264408" cy="548640"/>
            <a:chOff x="0" y="0"/>
            <a:chExt cx="4352544" cy="73152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4352544" cy="731520"/>
            </a:xfrm>
            <a:custGeom>
              <a:avLst/>
              <a:gdLst/>
              <a:ahLst/>
              <a:cxnLst/>
              <a:rect l="l" t="t" r="r" b="b"/>
              <a:pathLst>
                <a:path w="4352544" h="731520">
                  <a:moveTo>
                    <a:pt x="0" y="0"/>
                  </a:moveTo>
                  <a:lnTo>
                    <a:pt x="4352544" y="0"/>
                  </a:lnTo>
                  <a:lnTo>
                    <a:pt x="4352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855" b="-65854"/>
              </a:stretch>
            </a:blipFill>
          </p:spPr>
        </p:sp>
      </p:grpSp>
      <p:grpSp>
        <p:nvGrpSpPr>
          <p:cNvPr id="110" name="Group 110"/>
          <p:cNvGrpSpPr/>
          <p:nvPr/>
        </p:nvGrpSpPr>
        <p:grpSpPr>
          <a:xfrm>
            <a:off x="685800" y="6912293"/>
            <a:ext cx="3264408" cy="562928"/>
            <a:chOff x="0" y="0"/>
            <a:chExt cx="4352544" cy="75057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4352544" cy="750570"/>
            </a:xfrm>
            <a:custGeom>
              <a:avLst/>
              <a:gdLst/>
              <a:ahLst/>
              <a:cxnLst/>
              <a:rect l="l" t="t" r="r" b="b"/>
              <a:pathLst>
                <a:path w="4352544" h="750570">
                  <a:moveTo>
                    <a:pt x="0" y="0"/>
                  </a:moveTo>
                  <a:lnTo>
                    <a:pt x="4352544" y="0"/>
                  </a:lnTo>
                  <a:lnTo>
                    <a:pt x="4352544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993" b="-62993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47625"/>
              <a:ext cx="4352544" cy="798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8"/>
                </a:lnSpc>
              </a:pPr>
              <a:r>
                <a:rPr lang="en-US" sz="1974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Date / Time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669131" y="7458551"/>
            <a:ext cx="3297746" cy="1404938"/>
            <a:chOff x="0" y="0"/>
            <a:chExt cx="4396994" cy="187325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4396994" cy="1873250"/>
            </a:xfrm>
            <a:custGeom>
              <a:avLst/>
              <a:gdLst/>
              <a:ahLst/>
              <a:cxnLst/>
              <a:rect l="l" t="t" r="r" b="b"/>
              <a:pathLst>
                <a:path w="4396994" h="1873250">
                  <a:moveTo>
                    <a:pt x="0" y="0"/>
                  </a:moveTo>
                  <a:lnTo>
                    <a:pt x="4396994" y="0"/>
                  </a:lnTo>
                  <a:lnTo>
                    <a:pt x="4396994" y="1873250"/>
                  </a:lnTo>
                  <a:lnTo>
                    <a:pt x="0" y="1873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CF1"/>
              </a:solidFill>
              <a:prstDash val="solid"/>
              <a:miter/>
            </a:ln>
          </p:spPr>
        </p:sp>
      </p:grpSp>
      <p:sp>
        <p:nvSpPr>
          <p:cNvPr id="115" name="TextBox 115"/>
          <p:cNvSpPr txBox="1"/>
          <p:nvPr/>
        </p:nvSpPr>
        <p:spPr>
          <a:xfrm>
            <a:off x="709627" y="7494000"/>
            <a:ext cx="3044952" cy="34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8"/>
              </a:lnSpc>
            </a:pPr>
            <a:r>
              <a:rPr lang="en-US" sz="2024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Date, hour, weekday, month</a:t>
            </a:r>
          </a:p>
        </p:txBody>
      </p:sp>
      <p:grpSp>
        <p:nvGrpSpPr>
          <p:cNvPr id="116" name="Group 116"/>
          <p:cNvGrpSpPr/>
          <p:nvPr/>
        </p:nvGrpSpPr>
        <p:grpSpPr>
          <a:xfrm>
            <a:off x="4005072" y="6926580"/>
            <a:ext cx="3264408" cy="548640"/>
            <a:chOff x="0" y="0"/>
            <a:chExt cx="4352544" cy="73152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4352544" cy="731520"/>
            </a:xfrm>
            <a:custGeom>
              <a:avLst/>
              <a:gdLst/>
              <a:ahLst/>
              <a:cxnLst/>
              <a:rect l="l" t="t" r="r" b="b"/>
              <a:pathLst>
                <a:path w="4352544" h="731520">
                  <a:moveTo>
                    <a:pt x="0" y="0"/>
                  </a:moveTo>
                  <a:lnTo>
                    <a:pt x="4352544" y="0"/>
                  </a:lnTo>
                  <a:lnTo>
                    <a:pt x="4352544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118" name="Group 118"/>
          <p:cNvGrpSpPr/>
          <p:nvPr/>
        </p:nvGrpSpPr>
        <p:grpSpPr>
          <a:xfrm>
            <a:off x="4005072" y="6926580"/>
            <a:ext cx="3264408" cy="548640"/>
            <a:chOff x="0" y="0"/>
            <a:chExt cx="4352544" cy="731520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4352544" cy="731520"/>
            </a:xfrm>
            <a:custGeom>
              <a:avLst/>
              <a:gdLst/>
              <a:ahLst/>
              <a:cxnLst/>
              <a:rect l="l" t="t" r="r" b="b"/>
              <a:pathLst>
                <a:path w="4352544" h="731520">
                  <a:moveTo>
                    <a:pt x="0" y="0"/>
                  </a:moveTo>
                  <a:lnTo>
                    <a:pt x="4352544" y="0"/>
                  </a:lnTo>
                  <a:lnTo>
                    <a:pt x="4352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855" b="-65854"/>
              </a:stretch>
            </a:blipFill>
          </p:spPr>
        </p:sp>
      </p:grpSp>
      <p:grpSp>
        <p:nvGrpSpPr>
          <p:cNvPr id="120" name="Group 120"/>
          <p:cNvGrpSpPr/>
          <p:nvPr/>
        </p:nvGrpSpPr>
        <p:grpSpPr>
          <a:xfrm>
            <a:off x="4005072" y="6912293"/>
            <a:ext cx="3264408" cy="562928"/>
            <a:chOff x="0" y="0"/>
            <a:chExt cx="4352544" cy="750570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4352544" cy="750570"/>
            </a:xfrm>
            <a:custGeom>
              <a:avLst/>
              <a:gdLst/>
              <a:ahLst/>
              <a:cxnLst/>
              <a:rect l="l" t="t" r="r" b="b"/>
              <a:pathLst>
                <a:path w="4352544" h="750570">
                  <a:moveTo>
                    <a:pt x="0" y="0"/>
                  </a:moveTo>
                  <a:lnTo>
                    <a:pt x="4352544" y="0"/>
                  </a:lnTo>
                  <a:lnTo>
                    <a:pt x="4352544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993" b="-62993"/>
              </a:stretch>
            </a:blipFill>
          </p:spPr>
        </p:sp>
        <p:sp>
          <p:nvSpPr>
            <p:cNvPr id="122" name="TextBox 122"/>
            <p:cNvSpPr txBox="1"/>
            <p:nvPr/>
          </p:nvSpPr>
          <p:spPr>
            <a:xfrm>
              <a:off x="0" y="-47625"/>
              <a:ext cx="4352544" cy="798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8"/>
                </a:lnSpc>
              </a:pPr>
              <a:r>
                <a:rPr lang="en-US" sz="1974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Rider Type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3988403" y="7458551"/>
            <a:ext cx="3297746" cy="1404938"/>
            <a:chOff x="0" y="0"/>
            <a:chExt cx="4396994" cy="1873250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4396994" cy="1873250"/>
            </a:xfrm>
            <a:custGeom>
              <a:avLst/>
              <a:gdLst/>
              <a:ahLst/>
              <a:cxnLst/>
              <a:rect l="l" t="t" r="r" b="b"/>
              <a:pathLst>
                <a:path w="4396994" h="1873250">
                  <a:moveTo>
                    <a:pt x="0" y="0"/>
                  </a:moveTo>
                  <a:lnTo>
                    <a:pt x="4396994" y="0"/>
                  </a:lnTo>
                  <a:lnTo>
                    <a:pt x="4396994" y="1873250"/>
                  </a:lnTo>
                  <a:lnTo>
                    <a:pt x="0" y="1873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CF1"/>
              </a:solidFill>
              <a:prstDash val="solid"/>
              <a:miter/>
            </a:ln>
          </p:spPr>
        </p:sp>
      </p:grpSp>
      <p:sp>
        <p:nvSpPr>
          <p:cNvPr id="125" name="TextBox 125"/>
          <p:cNvSpPr txBox="1"/>
          <p:nvPr/>
        </p:nvSpPr>
        <p:spPr>
          <a:xfrm>
            <a:off x="4110323" y="7494090"/>
            <a:ext cx="3044952" cy="64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2"/>
              </a:lnSpc>
            </a:pPr>
            <a:r>
              <a:rPr lang="en-US" sz="2019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Casual, registered, total rentals</a:t>
            </a:r>
          </a:p>
        </p:txBody>
      </p:sp>
      <p:grpSp>
        <p:nvGrpSpPr>
          <p:cNvPr id="126" name="Group 126"/>
          <p:cNvGrpSpPr/>
          <p:nvPr/>
        </p:nvGrpSpPr>
        <p:grpSpPr>
          <a:xfrm>
            <a:off x="7324344" y="6926580"/>
            <a:ext cx="3264408" cy="548640"/>
            <a:chOff x="0" y="0"/>
            <a:chExt cx="4352544" cy="731520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4352544" cy="731520"/>
            </a:xfrm>
            <a:custGeom>
              <a:avLst/>
              <a:gdLst/>
              <a:ahLst/>
              <a:cxnLst/>
              <a:rect l="l" t="t" r="r" b="b"/>
              <a:pathLst>
                <a:path w="4352544" h="731520">
                  <a:moveTo>
                    <a:pt x="0" y="0"/>
                  </a:moveTo>
                  <a:lnTo>
                    <a:pt x="4352544" y="0"/>
                  </a:lnTo>
                  <a:lnTo>
                    <a:pt x="4352544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128" name="Group 128"/>
          <p:cNvGrpSpPr/>
          <p:nvPr/>
        </p:nvGrpSpPr>
        <p:grpSpPr>
          <a:xfrm>
            <a:off x="7324344" y="6926580"/>
            <a:ext cx="3264408" cy="548640"/>
            <a:chOff x="0" y="0"/>
            <a:chExt cx="4352544" cy="731520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4352544" cy="731520"/>
            </a:xfrm>
            <a:custGeom>
              <a:avLst/>
              <a:gdLst/>
              <a:ahLst/>
              <a:cxnLst/>
              <a:rect l="l" t="t" r="r" b="b"/>
              <a:pathLst>
                <a:path w="4352544" h="731520">
                  <a:moveTo>
                    <a:pt x="0" y="0"/>
                  </a:moveTo>
                  <a:lnTo>
                    <a:pt x="4352544" y="0"/>
                  </a:lnTo>
                  <a:lnTo>
                    <a:pt x="4352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855" b="-65854"/>
              </a:stretch>
            </a:blipFill>
          </p:spPr>
        </p:sp>
      </p:grpSp>
      <p:grpSp>
        <p:nvGrpSpPr>
          <p:cNvPr id="130" name="Group 130"/>
          <p:cNvGrpSpPr/>
          <p:nvPr/>
        </p:nvGrpSpPr>
        <p:grpSpPr>
          <a:xfrm>
            <a:off x="7324344" y="6912293"/>
            <a:ext cx="3264408" cy="562928"/>
            <a:chOff x="0" y="0"/>
            <a:chExt cx="4352544" cy="750570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4352544" cy="750570"/>
            </a:xfrm>
            <a:custGeom>
              <a:avLst/>
              <a:gdLst/>
              <a:ahLst/>
              <a:cxnLst/>
              <a:rect l="l" t="t" r="r" b="b"/>
              <a:pathLst>
                <a:path w="4352544" h="750570">
                  <a:moveTo>
                    <a:pt x="0" y="0"/>
                  </a:moveTo>
                  <a:lnTo>
                    <a:pt x="4352544" y="0"/>
                  </a:lnTo>
                  <a:lnTo>
                    <a:pt x="4352544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993" b="-62993"/>
              </a:stretch>
            </a:blipFill>
          </p:spPr>
        </p:sp>
        <p:sp>
          <p:nvSpPr>
            <p:cNvPr id="132" name="TextBox 132"/>
            <p:cNvSpPr txBox="1"/>
            <p:nvPr/>
          </p:nvSpPr>
          <p:spPr>
            <a:xfrm>
              <a:off x="0" y="-47625"/>
              <a:ext cx="4352544" cy="798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8"/>
                </a:lnSpc>
              </a:pPr>
              <a:r>
                <a:rPr lang="en-US" sz="1974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Weather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7307675" y="7458551"/>
            <a:ext cx="3297746" cy="1404938"/>
            <a:chOff x="0" y="0"/>
            <a:chExt cx="4396994" cy="1873250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4396994" cy="1873250"/>
            </a:xfrm>
            <a:custGeom>
              <a:avLst/>
              <a:gdLst/>
              <a:ahLst/>
              <a:cxnLst/>
              <a:rect l="l" t="t" r="r" b="b"/>
              <a:pathLst>
                <a:path w="4396994" h="1873250">
                  <a:moveTo>
                    <a:pt x="0" y="0"/>
                  </a:moveTo>
                  <a:lnTo>
                    <a:pt x="4396994" y="0"/>
                  </a:lnTo>
                  <a:lnTo>
                    <a:pt x="4396994" y="1873250"/>
                  </a:lnTo>
                  <a:lnTo>
                    <a:pt x="0" y="1873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CF1"/>
              </a:solidFill>
              <a:prstDash val="solid"/>
              <a:miter/>
            </a:ln>
          </p:spPr>
        </p:sp>
      </p:grpSp>
      <p:sp>
        <p:nvSpPr>
          <p:cNvPr id="135" name="TextBox 135"/>
          <p:cNvSpPr txBox="1"/>
          <p:nvPr/>
        </p:nvSpPr>
        <p:spPr>
          <a:xfrm>
            <a:off x="7434072" y="7467600"/>
            <a:ext cx="3044952" cy="95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2"/>
              </a:lnSpc>
            </a:pPr>
            <a:r>
              <a:rPr lang="en-US" sz="2019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Weather condition, temperature, humidity, windspeed</a:t>
            </a:r>
          </a:p>
        </p:txBody>
      </p:sp>
      <p:grpSp>
        <p:nvGrpSpPr>
          <p:cNvPr id="136" name="Group 136"/>
          <p:cNvGrpSpPr/>
          <p:nvPr/>
        </p:nvGrpSpPr>
        <p:grpSpPr>
          <a:xfrm>
            <a:off x="10643616" y="6926580"/>
            <a:ext cx="3264408" cy="548640"/>
            <a:chOff x="0" y="0"/>
            <a:chExt cx="4352544" cy="731520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4352544" cy="731520"/>
            </a:xfrm>
            <a:custGeom>
              <a:avLst/>
              <a:gdLst/>
              <a:ahLst/>
              <a:cxnLst/>
              <a:rect l="l" t="t" r="r" b="b"/>
              <a:pathLst>
                <a:path w="4352544" h="731520">
                  <a:moveTo>
                    <a:pt x="0" y="0"/>
                  </a:moveTo>
                  <a:lnTo>
                    <a:pt x="4352544" y="0"/>
                  </a:lnTo>
                  <a:lnTo>
                    <a:pt x="4352544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138" name="Group 138"/>
          <p:cNvGrpSpPr/>
          <p:nvPr/>
        </p:nvGrpSpPr>
        <p:grpSpPr>
          <a:xfrm>
            <a:off x="10643616" y="6926580"/>
            <a:ext cx="3264408" cy="548640"/>
            <a:chOff x="0" y="0"/>
            <a:chExt cx="4352544" cy="731520"/>
          </a:xfrm>
        </p:grpSpPr>
        <p:sp>
          <p:nvSpPr>
            <p:cNvPr id="139" name="Freeform 139"/>
            <p:cNvSpPr/>
            <p:nvPr/>
          </p:nvSpPr>
          <p:spPr>
            <a:xfrm>
              <a:off x="0" y="0"/>
              <a:ext cx="4352544" cy="731520"/>
            </a:xfrm>
            <a:custGeom>
              <a:avLst/>
              <a:gdLst/>
              <a:ahLst/>
              <a:cxnLst/>
              <a:rect l="l" t="t" r="r" b="b"/>
              <a:pathLst>
                <a:path w="4352544" h="731520">
                  <a:moveTo>
                    <a:pt x="0" y="0"/>
                  </a:moveTo>
                  <a:lnTo>
                    <a:pt x="4352544" y="0"/>
                  </a:lnTo>
                  <a:lnTo>
                    <a:pt x="4352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855" b="-65854"/>
              </a:stretch>
            </a:blipFill>
          </p:spPr>
        </p:sp>
      </p:grpSp>
      <p:grpSp>
        <p:nvGrpSpPr>
          <p:cNvPr id="140" name="Group 140"/>
          <p:cNvGrpSpPr/>
          <p:nvPr/>
        </p:nvGrpSpPr>
        <p:grpSpPr>
          <a:xfrm>
            <a:off x="10643616" y="6912293"/>
            <a:ext cx="3264408" cy="562928"/>
            <a:chOff x="0" y="0"/>
            <a:chExt cx="4352544" cy="750570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4352544" cy="750570"/>
            </a:xfrm>
            <a:custGeom>
              <a:avLst/>
              <a:gdLst/>
              <a:ahLst/>
              <a:cxnLst/>
              <a:rect l="l" t="t" r="r" b="b"/>
              <a:pathLst>
                <a:path w="4352544" h="750570">
                  <a:moveTo>
                    <a:pt x="0" y="0"/>
                  </a:moveTo>
                  <a:lnTo>
                    <a:pt x="4352544" y="0"/>
                  </a:lnTo>
                  <a:lnTo>
                    <a:pt x="4352544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993" b="-62993"/>
              </a:stretch>
            </a:blipFill>
          </p:spPr>
        </p:sp>
        <p:sp>
          <p:nvSpPr>
            <p:cNvPr id="142" name="TextBox 142"/>
            <p:cNvSpPr txBox="1"/>
            <p:nvPr/>
          </p:nvSpPr>
          <p:spPr>
            <a:xfrm>
              <a:off x="0" y="-47625"/>
              <a:ext cx="4352544" cy="798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8"/>
                </a:lnSpc>
              </a:pPr>
              <a:r>
                <a:rPr lang="en-US" sz="1974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Environment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0626947" y="7458551"/>
            <a:ext cx="3297746" cy="1404938"/>
            <a:chOff x="0" y="0"/>
            <a:chExt cx="4396994" cy="1873250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4396994" cy="1873250"/>
            </a:xfrm>
            <a:custGeom>
              <a:avLst/>
              <a:gdLst/>
              <a:ahLst/>
              <a:cxnLst/>
              <a:rect l="l" t="t" r="r" b="b"/>
              <a:pathLst>
                <a:path w="4396994" h="1873250">
                  <a:moveTo>
                    <a:pt x="0" y="0"/>
                  </a:moveTo>
                  <a:lnTo>
                    <a:pt x="4396994" y="0"/>
                  </a:lnTo>
                  <a:lnTo>
                    <a:pt x="4396994" y="1873250"/>
                  </a:lnTo>
                  <a:lnTo>
                    <a:pt x="0" y="1873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CF1"/>
              </a:solidFill>
              <a:prstDash val="solid"/>
              <a:miter/>
            </a:ln>
          </p:spPr>
        </p:sp>
      </p:grpSp>
      <p:sp>
        <p:nvSpPr>
          <p:cNvPr id="145" name="TextBox 145"/>
          <p:cNvSpPr txBox="1"/>
          <p:nvPr/>
        </p:nvSpPr>
        <p:spPr>
          <a:xfrm>
            <a:off x="10753344" y="7467600"/>
            <a:ext cx="3044952" cy="64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2"/>
              </a:lnSpc>
            </a:pPr>
            <a:r>
              <a:rPr lang="en-US" sz="2019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Holiday, season code (constant)</a:t>
            </a:r>
          </a:p>
        </p:txBody>
      </p:sp>
      <p:grpSp>
        <p:nvGrpSpPr>
          <p:cNvPr id="146" name="Group 146"/>
          <p:cNvGrpSpPr/>
          <p:nvPr/>
        </p:nvGrpSpPr>
        <p:grpSpPr>
          <a:xfrm>
            <a:off x="13962888" y="6926580"/>
            <a:ext cx="3264408" cy="548640"/>
            <a:chOff x="0" y="0"/>
            <a:chExt cx="4352544" cy="731520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4352544" cy="731520"/>
            </a:xfrm>
            <a:custGeom>
              <a:avLst/>
              <a:gdLst/>
              <a:ahLst/>
              <a:cxnLst/>
              <a:rect l="l" t="t" r="r" b="b"/>
              <a:pathLst>
                <a:path w="4352544" h="731520">
                  <a:moveTo>
                    <a:pt x="0" y="0"/>
                  </a:moveTo>
                  <a:lnTo>
                    <a:pt x="4352544" y="0"/>
                  </a:lnTo>
                  <a:lnTo>
                    <a:pt x="4352544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148" name="Group 148"/>
          <p:cNvGrpSpPr/>
          <p:nvPr/>
        </p:nvGrpSpPr>
        <p:grpSpPr>
          <a:xfrm>
            <a:off x="13962888" y="6926580"/>
            <a:ext cx="3264408" cy="548640"/>
            <a:chOff x="0" y="0"/>
            <a:chExt cx="4352544" cy="731520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4352544" cy="731520"/>
            </a:xfrm>
            <a:custGeom>
              <a:avLst/>
              <a:gdLst/>
              <a:ahLst/>
              <a:cxnLst/>
              <a:rect l="l" t="t" r="r" b="b"/>
              <a:pathLst>
                <a:path w="4352544" h="731520">
                  <a:moveTo>
                    <a:pt x="0" y="0"/>
                  </a:moveTo>
                  <a:lnTo>
                    <a:pt x="4352544" y="0"/>
                  </a:lnTo>
                  <a:lnTo>
                    <a:pt x="4352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855" b="-65854"/>
              </a:stretch>
            </a:blipFill>
          </p:spPr>
        </p:sp>
      </p:grpSp>
      <p:grpSp>
        <p:nvGrpSpPr>
          <p:cNvPr id="150" name="Group 150"/>
          <p:cNvGrpSpPr/>
          <p:nvPr/>
        </p:nvGrpSpPr>
        <p:grpSpPr>
          <a:xfrm>
            <a:off x="13962888" y="6912293"/>
            <a:ext cx="3264408" cy="562928"/>
            <a:chOff x="0" y="0"/>
            <a:chExt cx="4352544" cy="750570"/>
          </a:xfrm>
        </p:grpSpPr>
        <p:sp>
          <p:nvSpPr>
            <p:cNvPr id="151" name="Freeform 151"/>
            <p:cNvSpPr/>
            <p:nvPr/>
          </p:nvSpPr>
          <p:spPr>
            <a:xfrm>
              <a:off x="0" y="0"/>
              <a:ext cx="4352544" cy="750570"/>
            </a:xfrm>
            <a:custGeom>
              <a:avLst/>
              <a:gdLst/>
              <a:ahLst/>
              <a:cxnLst/>
              <a:rect l="l" t="t" r="r" b="b"/>
              <a:pathLst>
                <a:path w="4352544" h="750570">
                  <a:moveTo>
                    <a:pt x="0" y="0"/>
                  </a:moveTo>
                  <a:lnTo>
                    <a:pt x="4352544" y="0"/>
                  </a:lnTo>
                  <a:lnTo>
                    <a:pt x="4352544" y="750570"/>
                  </a:lnTo>
                  <a:lnTo>
                    <a:pt x="0" y="7505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993" b="-62993"/>
              </a:stretch>
            </a:blipFill>
          </p:spPr>
        </p:sp>
        <p:sp>
          <p:nvSpPr>
            <p:cNvPr id="152" name="TextBox 152"/>
            <p:cNvSpPr txBox="1"/>
            <p:nvPr/>
          </p:nvSpPr>
          <p:spPr>
            <a:xfrm>
              <a:off x="0" y="-47625"/>
              <a:ext cx="4352544" cy="7981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8"/>
                </a:lnSpc>
              </a:pPr>
              <a:r>
                <a:rPr lang="en-US" sz="1974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Derived Fields</a:t>
              </a:r>
            </a:p>
          </p:txBody>
        </p:sp>
      </p:grpSp>
      <p:grpSp>
        <p:nvGrpSpPr>
          <p:cNvPr id="153" name="Group 153"/>
          <p:cNvGrpSpPr/>
          <p:nvPr/>
        </p:nvGrpSpPr>
        <p:grpSpPr>
          <a:xfrm>
            <a:off x="13946219" y="7458551"/>
            <a:ext cx="3297746" cy="1404938"/>
            <a:chOff x="0" y="0"/>
            <a:chExt cx="4396994" cy="1873250"/>
          </a:xfrm>
        </p:grpSpPr>
        <p:sp>
          <p:nvSpPr>
            <p:cNvPr id="154" name="Freeform 154"/>
            <p:cNvSpPr/>
            <p:nvPr/>
          </p:nvSpPr>
          <p:spPr>
            <a:xfrm>
              <a:off x="0" y="0"/>
              <a:ext cx="4396994" cy="1873250"/>
            </a:xfrm>
            <a:custGeom>
              <a:avLst/>
              <a:gdLst/>
              <a:ahLst/>
              <a:cxnLst/>
              <a:rect l="l" t="t" r="r" b="b"/>
              <a:pathLst>
                <a:path w="4396994" h="1873250">
                  <a:moveTo>
                    <a:pt x="0" y="0"/>
                  </a:moveTo>
                  <a:lnTo>
                    <a:pt x="4396994" y="0"/>
                  </a:lnTo>
                  <a:lnTo>
                    <a:pt x="4396994" y="1873250"/>
                  </a:lnTo>
                  <a:lnTo>
                    <a:pt x="0" y="187325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CF1"/>
              </a:solidFill>
              <a:prstDash val="solid"/>
              <a:miter/>
            </a:ln>
          </p:spPr>
        </p:sp>
      </p:grpSp>
      <p:sp>
        <p:nvSpPr>
          <p:cNvPr id="155" name="TextBox 155"/>
          <p:cNvSpPr txBox="1"/>
          <p:nvPr/>
        </p:nvSpPr>
        <p:spPr>
          <a:xfrm>
            <a:off x="14072616" y="7467600"/>
            <a:ext cx="3044952" cy="95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2"/>
              </a:lnSpc>
            </a:pPr>
            <a:r>
              <a:rPr lang="en-US" sz="2019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rPr>
              <a:t>Day type, working day, weather label (lookup-based)</a:t>
            </a:r>
          </a:p>
        </p:txBody>
      </p:sp>
      <p:sp>
        <p:nvSpPr>
          <p:cNvPr id="156" name="AutoShape 156"/>
          <p:cNvSpPr/>
          <p:nvPr/>
        </p:nvSpPr>
        <p:spPr>
          <a:xfrm>
            <a:off x="795528" y="1755648"/>
            <a:ext cx="1416776" cy="0"/>
          </a:xfrm>
          <a:prstGeom prst="line">
            <a:avLst/>
          </a:prstGeom>
          <a:ln w="19050" cap="rnd">
            <a:solidFill>
              <a:srgbClr val="E9A2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7" name="Group 157"/>
          <p:cNvGrpSpPr/>
          <p:nvPr/>
        </p:nvGrpSpPr>
        <p:grpSpPr>
          <a:xfrm>
            <a:off x="676275" y="9767983"/>
            <a:ext cx="10972800" cy="432911"/>
            <a:chOff x="0" y="0"/>
            <a:chExt cx="14630400" cy="577215"/>
          </a:xfrm>
        </p:grpSpPr>
        <p:sp>
          <p:nvSpPr>
            <p:cNvPr id="158" name="Freeform 158"/>
            <p:cNvSpPr/>
            <p:nvPr/>
          </p:nvSpPr>
          <p:spPr>
            <a:xfrm>
              <a:off x="0" y="0"/>
              <a:ext cx="14630400" cy="577215"/>
            </a:xfrm>
            <a:custGeom>
              <a:avLst/>
              <a:gdLst/>
              <a:ahLst/>
              <a:cxnLst/>
              <a:rect l="l" t="t" r="r" b="b"/>
              <a:pathLst>
                <a:path w="14630400" h="577215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3878" b="-443878"/>
              </a:stretch>
            </a:blipFill>
          </p:spPr>
        </p:sp>
        <p:sp>
          <p:nvSpPr>
            <p:cNvPr id="159" name="TextBox 159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Bike Sharing Demand Analysis 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23444"/>
            <a:chOff x="0" y="0"/>
            <a:chExt cx="24377904" cy="164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164592"/>
            </a:xfrm>
            <a:custGeom>
              <a:avLst/>
              <a:gdLst/>
              <a:ahLst/>
              <a:cxnLst/>
              <a:rect l="l" t="t" r="r" b="b"/>
              <a:pathLst>
                <a:path w="24377904" h="164592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438912"/>
            <a:ext cx="12344400" cy="411480"/>
            <a:chOff x="0" y="0"/>
            <a:chExt cx="1645920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" y="410337"/>
            <a:ext cx="12344400" cy="440055"/>
            <a:chOff x="0" y="0"/>
            <a:chExt cx="16459200" cy="5867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00" cy="586740"/>
            </a:xfrm>
            <a:custGeom>
              <a:avLst/>
              <a:gdLst/>
              <a:ahLst/>
              <a:cxnLst/>
              <a:rect l="l" t="t" r="r" b="b"/>
              <a:pathLst>
                <a:path w="16459200" h="586740">
                  <a:moveTo>
                    <a:pt x="0" y="0"/>
                  </a:moveTo>
                  <a:lnTo>
                    <a:pt x="16459200" y="0"/>
                  </a:lnTo>
                  <a:lnTo>
                    <a:pt x="164592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6593" b="-49659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592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·  OVERALL RENTAL DEMAND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37794" y="-388944"/>
            <a:ext cx="16870680" cy="3303594"/>
            <a:chOff x="0" y="0"/>
            <a:chExt cx="22494240" cy="440479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94239" cy="4404741"/>
            </a:xfrm>
            <a:custGeom>
              <a:avLst/>
              <a:gdLst/>
              <a:ahLst/>
              <a:cxnLst/>
              <a:rect l="l" t="t" r="r" b="b"/>
              <a:pathLst>
                <a:path w="22494239" h="4404741">
                  <a:moveTo>
                    <a:pt x="0" y="0"/>
                  </a:moveTo>
                  <a:lnTo>
                    <a:pt x="22494239" y="0"/>
                  </a:lnTo>
                  <a:lnTo>
                    <a:pt x="22494239" y="4404741"/>
                  </a:lnTo>
                  <a:lnTo>
                    <a:pt x="0" y="44047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436" b="-4943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37794" y="-403231"/>
            <a:ext cx="16870680" cy="3317881"/>
            <a:chOff x="0" y="0"/>
            <a:chExt cx="22494240" cy="44238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94239" cy="4423842"/>
            </a:xfrm>
            <a:custGeom>
              <a:avLst/>
              <a:gdLst/>
              <a:ahLst/>
              <a:cxnLst/>
              <a:rect l="l" t="t" r="r" b="b"/>
              <a:pathLst>
                <a:path w="22494239" h="4423842">
                  <a:moveTo>
                    <a:pt x="0" y="0"/>
                  </a:moveTo>
                  <a:lnTo>
                    <a:pt x="22494239" y="0"/>
                  </a:lnTo>
                  <a:lnTo>
                    <a:pt x="22494239" y="4423842"/>
                  </a:lnTo>
                  <a:lnTo>
                    <a:pt x="0" y="44238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077" b="-4907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2494240" cy="4442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Distribution of Rental Demand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37794" y="4118610"/>
            <a:ext cx="16592903" cy="6190516"/>
            <a:chOff x="0" y="0"/>
            <a:chExt cx="26569835" cy="99127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569798" cy="9912731"/>
            </a:xfrm>
            <a:custGeom>
              <a:avLst/>
              <a:gdLst/>
              <a:ahLst/>
              <a:cxnLst/>
              <a:rect l="l" t="t" r="r" b="b"/>
              <a:pathLst>
                <a:path w="26569798" h="9912731">
                  <a:moveTo>
                    <a:pt x="0" y="0"/>
                  </a:moveTo>
                  <a:lnTo>
                    <a:pt x="26569798" y="0"/>
                  </a:lnTo>
                  <a:lnTo>
                    <a:pt x="26569798" y="9912731"/>
                  </a:lnTo>
                  <a:lnTo>
                    <a:pt x="0" y="9912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2" b="-32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7048988" y="9738360"/>
            <a:ext cx="685800" cy="411480"/>
            <a:chOff x="0" y="0"/>
            <a:chExt cx="914400" cy="5486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36" r="-27034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7048988" y="9716929"/>
            <a:ext cx="685800" cy="432911"/>
            <a:chOff x="0" y="0"/>
            <a:chExt cx="914400" cy="57721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14400" cy="577215"/>
            </a:xfrm>
            <a:custGeom>
              <a:avLst/>
              <a:gdLst/>
              <a:ahLst/>
              <a:cxnLst/>
              <a:rect l="l" t="t" r="r" b="b"/>
              <a:pathLst>
                <a:path w="914400" h="577215">
                  <a:moveTo>
                    <a:pt x="0" y="0"/>
                  </a:moveTo>
                  <a:lnTo>
                    <a:pt x="914400" y="0"/>
                  </a:lnTo>
                  <a:lnTo>
                    <a:pt x="914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991" r="-30991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914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 / 17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5800" y="2194560"/>
            <a:ext cx="3223260" cy="720090"/>
            <a:chOff x="0" y="0"/>
            <a:chExt cx="4297680" cy="9601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97680" cy="960120"/>
            </a:xfrm>
            <a:custGeom>
              <a:avLst/>
              <a:gdLst/>
              <a:ahLst/>
              <a:cxnLst/>
              <a:rect l="l" t="t" r="r" b="b"/>
              <a:pathLst>
                <a:path w="4297680" h="960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187952" y="0"/>
                  </a:lnTo>
                  <a:cubicBezTo>
                    <a:pt x="4248531" y="0"/>
                    <a:pt x="4297680" y="49149"/>
                    <a:pt x="4297680" y="109728"/>
                  </a:cubicBezTo>
                  <a:lnTo>
                    <a:pt x="4297680" y="850392"/>
                  </a:lnTo>
                  <a:cubicBezTo>
                    <a:pt x="4297680" y="910971"/>
                    <a:pt x="4248531" y="960120"/>
                    <a:pt x="4187952" y="960120"/>
                  </a:cubicBezTo>
                  <a:lnTo>
                    <a:pt x="109728" y="960120"/>
                  </a:lnTo>
                  <a:cubicBezTo>
                    <a:pt x="49149" y="960120"/>
                    <a:pt x="0" y="910971"/>
                    <a:pt x="0" y="850392"/>
                  </a:cubicBezTo>
                  <a:close/>
                </a:path>
              </a:pathLst>
            </a:custGeom>
            <a:solidFill>
              <a:srgbClr val="E4F3F1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877824" y="2235708"/>
            <a:ext cx="2839212" cy="637794"/>
            <a:chOff x="0" y="0"/>
            <a:chExt cx="3785616" cy="8503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785616" cy="850392"/>
            </a:xfrm>
            <a:custGeom>
              <a:avLst/>
              <a:gdLst/>
              <a:ahLst/>
              <a:cxnLst/>
              <a:rect l="l" t="t" r="r" b="b"/>
              <a:pathLst>
                <a:path w="3785616" h="850392">
                  <a:moveTo>
                    <a:pt x="0" y="0"/>
                  </a:moveTo>
                  <a:lnTo>
                    <a:pt x="3785616" y="0"/>
                  </a:lnTo>
                  <a:lnTo>
                    <a:pt x="3785616" y="850392"/>
                  </a:lnTo>
                  <a:lnTo>
                    <a:pt x="0" y="8503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80" b="-36678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877824" y="2214277"/>
            <a:ext cx="2839212" cy="659225"/>
            <a:chOff x="0" y="0"/>
            <a:chExt cx="3785616" cy="87896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785616" cy="878967"/>
            </a:xfrm>
            <a:custGeom>
              <a:avLst/>
              <a:gdLst/>
              <a:ahLst/>
              <a:cxnLst/>
              <a:rect l="l" t="t" r="r" b="b"/>
              <a:pathLst>
                <a:path w="3785616" h="878967">
                  <a:moveTo>
                    <a:pt x="0" y="0"/>
                  </a:moveTo>
                  <a:lnTo>
                    <a:pt x="3785616" y="0"/>
                  </a:lnTo>
                  <a:lnTo>
                    <a:pt x="3785616" y="878967"/>
                  </a:lnTo>
                  <a:lnTo>
                    <a:pt x="0" y="8789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19" b="-33919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3785616" cy="9075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Total rentals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 rot="-10800000">
            <a:off x="2105406" y="2900934"/>
            <a:ext cx="384048" cy="233172"/>
            <a:chOff x="0" y="0"/>
            <a:chExt cx="512064" cy="31089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12064" cy="310896"/>
            </a:xfrm>
            <a:custGeom>
              <a:avLst/>
              <a:gdLst/>
              <a:ahLst/>
              <a:cxnLst/>
              <a:rect l="l" t="t" r="r" b="b"/>
              <a:pathLst>
                <a:path w="512064" h="310896">
                  <a:moveTo>
                    <a:pt x="0" y="310896"/>
                  </a:moveTo>
                  <a:lnTo>
                    <a:pt x="256032" y="0"/>
                  </a:lnTo>
                  <a:lnTo>
                    <a:pt x="512064" y="310896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685800" y="3120390"/>
            <a:ext cx="3223260" cy="788670"/>
            <a:chOff x="0" y="0"/>
            <a:chExt cx="4297680" cy="10515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297680" cy="1051560"/>
            </a:xfrm>
            <a:custGeom>
              <a:avLst/>
              <a:gdLst/>
              <a:ahLst/>
              <a:cxnLst/>
              <a:rect l="l" t="t" r="r" b="b"/>
              <a:pathLst>
                <a:path w="4297680" h="10515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187952" y="0"/>
                  </a:lnTo>
                  <a:cubicBezTo>
                    <a:pt x="4248531" y="0"/>
                    <a:pt x="4297680" y="49149"/>
                    <a:pt x="4297680" y="109728"/>
                  </a:cubicBezTo>
                  <a:lnTo>
                    <a:pt x="4297680" y="941832"/>
                  </a:lnTo>
                  <a:cubicBezTo>
                    <a:pt x="4297680" y="1002411"/>
                    <a:pt x="4248531" y="1051560"/>
                    <a:pt x="4187952" y="1051560"/>
                  </a:cubicBezTo>
                  <a:lnTo>
                    <a:pt x="109728" y="1051560"/>
                  </a:lnTo>
                  <a:cubicBezTo>
                    <a:pt x="49149" y="1051560"/>
                    <a:pt x="0" y="1002411"/>
                    <a:pt x="0" y="941832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822960" y="3120390"/>
            <a:ext cx="2948940" cy="788670"/>
            <a:chOff x="0" y="0"/>
            <a:chExt cx="3931920" cy="10515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931920" cy="1051560"/>
            </a:xfrm>
            <a:custGeom>
              <a:avLst/>
              <a:gdLst/>
              <a:ahLst/>
              <a:cxnLst/>
              <a:rect l="l" t="t" r="r" b="b"/>
              <a:pathLst>
                <a:path w="3931920" h="1051560">
                  <a:moveTo>
                    <a:pt x="0" y="0"/>
                  </a:moveTo>
                  <a:lnTo>
                    <a:pt x="3931920" y="0"/>
                  </a:lnTo>
                  <a:lnTo>
                    <a:pt x="3931920" y="1051560"/>
                  </a:lnTo>
                  <a:lnTo>
                    <a:pt x="0" y="1051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06" b="-22805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822960" y="3106102"/>
            <a:ext cx="2948940" cy="802957"/>
            <a:chOff x="0" y="0"/>
            <a:chExt cx="3931920" cy="107061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931920" cy="1070610"/>
            </a:xfrm>
            <a:custGeom>
              <a:avLst/>
              <a:gdLst/>
              <a:ahLst/>
              <a:cxnLst/>
              <a:rect l="l" t="t" r="r" b="b"/>
              <a:pathLst>
                <a:path w="3931920" h="1070610">
                  <a:moveTo>
                    <a:pt x="0" y="0"/>
                  </a:moveTo>
                  <a:lnTo>
                    <a:pt x="3931920" y="0"/>
                  </a:lnTo>
                  <a:lnTo>
                    <a:pt x="3931920" y="1070610"/>
                  </a:lnTo>
                  <a:lnTo>
                    <a:pt x="0" y="10706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560" b="-2156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3931920" cy="108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58,304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073652" y="2194560"/>
            <a:ext cx="3223260" cy="720090"/>
            <a:chOff x="0" y="0"/>
            <a:chExt cx="4297680" cy="96012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297680" cy="960120"/>
            </a:xfrm>
            <a:custGeom>
              <a:avLst/>
              <a:gdLst/>
              <a:ahLst/>
              <a:cxnLst/>
              <a:rect l="l" t="t" r="r" b="b"/>
              <a:pathLst>
                <a:path w="4297680" h="960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187952" y="0"/>
                  </a:lnTo>
                  <a:cubicBezTo>
                    <a:pt x="4248531" y="0"/>
                    <a:pt x="4297680" y="49149"/>
                    <a:pt x="4297680" y="109728"/>
                  </a:cubicBezTo>
                  <a:lnTo>
                    <a:pt x="4297680" y="850392"/>
                  </a:lnTo>
                  <a:cubicBezTo>
                    <a:pt x="4297680" y="910971"/>
                    <a:pt x="4248531" y="960120"/>
                    <a:pt x="4187952" y="960120"/>
                  </a:cubicBezTo>
                  <a:lnTo>
                    <a:pt x="109728" y="960120"/>
                  </a:lnTo>
                  <a:cubicBezTo>
                    <a:pt x="49149" y="960120"/>
                    <a:pt x="0" y="910971"/>
                    <a:pt x="0" y="850392"/>
                  </a:cubicBezTo>
                  <a:close/>
                </a:path>
              </a:pathLst>
            </a:custGeom>
            <a:solidFill>
              <a:srgbClr val="E7ECF1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4265676" y="2235708"/>
            <a:ext cx="2839212" cy="637794"/>
            <a:chOff x="0" y="0"/>
            <a:chExt cx="3785616" cy="85039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785616" cy="850392"/>
            </a:xfrm>
            <a:custGeom>
              <a:avLst/>
              <a:gdLst/>
              <a:ahLst/>
              <a:cxnLst/>
              <a:rect l="l" t="t" r="r" b="b"/>
              <a:pathLst>
                <a:path w="3785616" h="850392">
                  <a:moveTo>
                    <a:pt x="0" y="0"/>
                  </a:moveTo>
                  <a:lnTo>
                    <a:pt x="3785616" y="0"/>
                  </a:lnTo>
                  <a:lnTo>
                    <a:pt x="3785616" y="850392"/>
                  </a:lnTo>
                  <a:lnTo>
                    <a:pt x="0" y="8503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80" b="-36678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4265676" y="2214277"/>
            <a:ext cx="2839212" cy="659225"/>
            <a:chOff x="0" y="0"/>
            <a:chExt cx="3785616" cy="87896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785616" cy="878967"/>
            </a:xfrm>
            <a:custGeom>
              <a:avLst/>
              <a:gdLst/>
              <a:ahLst/>
              <a:cxnLst/>
              <a:rect l="l" t="t" r="r" b="b"/>
              <a:pathLst>
                <a:path w="3785616" h="878967">
                  <a:moveTo>
                    <a:pt x="0" y="0"/>
                  </a:moveTo>
                  <a:lnTo>
                    <a:pt x="3785616" y="0"/>
                  </a:lnTo>
                  <a:lnTo>
                    <a:pt x="3785616" y="878967"/>
                  </a:lnTo>
                  <a:lnTo>
                    <a:pt x="0" y="8789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19" b="-33919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3785616" cy="9075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Average hourly rentals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 rot="-10800000">
            <a:off x="5493258" y="2900934"/>
            <a:ext cx="384048" cy="233172"/>
            <a:chOff x="0" y="0"/>
            <a:chExt cx="512064" cy="31089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12064" cy="310896"/>
            </a:xfrm>
            <a:custGeom>
              <a:avLst/>
              <a:gdLst/>
              <a:ahLst/>
              <a:cxnLst/>
              <a:rect l="l" t="t" r="r" b="b"/>
              <a:pathLst>
                <a:path w="512064" h="310896">
                  <a:moveTo>
                    <a:pt x="0" y="310896"/>
                  </a:moveTo>
                  <a:lnTo>
                    <a:pt x="256032" y="0"/>
                  </a:lnTo>
                  <a:lnTo>
                    <a:pt x="512064" y="310896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4073652" y="3120390"/>
            <a:ext cx="3223260" cy="788670"/>
            <a:chOff x="0" y="0"/>
            <a:chExt cx="4297680" cy="105156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297680" cy="1051560"/>
            </a:xfrm>
            <a:custGeom>
              <a:avLst/>
              <a:gdLst/>
              <a:ahLst/>
              <a:cxnLst/>
              <a:rect l="l" t="t" r="r" b="b"/>
              <a:pathLst>
                <a:path w="4297680" h="10515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187952" y="0"/>
                  </a:lnTo>
                  <a:cubicBezTo>
                    <a:pt x="4248531" y="0"/>
                    <a:pt x="4297680" y="49149"/>
                    <a:pt x="4297680" y="109728"/>
                  </a:cubicBezTo>
                  <a:lnTo>
                    <a:pt x="4297680" y="941832"/>
                  </a:lnTo>
                  <a:cubicBezTo>
                    <a:pt x="4297680" y="1002411"/>
                    <a:pt x="4248531" y="1051560"/>
                    <a:pt x="4187952" y="1051560"/>
                  </a:cubicBezTo>
                  <a:lnTo>
                    <a:pt x="109728" y="1051560"/>
                  </a:lnTo>
                  <a:cubicBezTo>
                    <a:pt x="49149" y="1051560"/>
                    <a:pt x="0" y="1002411"/>
                    <a:pt x="0" y="941832"/>
                  </a:cubicBez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4210812" y="3120390"/>
            <a:ext cx="2948940" cy="788670"/>
            <a:chOff x="0" y="0"/>
            <a:chExt cx="3931920" cy="105156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931920" cy="1051560"/>
            </a:xfrm>
            <a:custGeom>
              <a:avLst/>
              <a:gdLst/>
              <a:ahLst/>
              <a:cxnLst/>
              <a:rect l="l" t="t" r="r" b="b"/>
              <a:pathLst>
                <a:path w="3931920" h="1051560">
                  <a:moveTo>
                    <a:pt x="0" y="0"/>
                  </a:moveTo>
                  <a:lnTo>
                    <a:pt x="3931920" y="0"/>
                  </a:lnTo>
                  <a:lnTo>
                    <a:pt x="3931920" y="1051560"/>
                  </a:lnTo>
                  <a:lnTo>
                    <a:pt x="0" y="1051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06" b="-22805"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4210812" y="3106102"/>
            <a:ext cx="2948940" cy="802957"/>
            <a:chOff x="0" y="0"/>
            <a:chExt cx="3931920" cy="107061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931920" cy="1070610"/>
            </a:xfrm>
            <a:custGeom>
              <a:avLst/>
              <a:gdLst/>
              <a:ahLst/>
              <a:cxnLst/>
              <a:rect l="l" t="t" r="r" b="b"/>
              <a:pathLst>
                <a:path w="3931920" h="1070610">
                  <a:moveTo>
                    <a:pt x="0" y="0"/>
                  </a:moveTo>
                  <a:lnTo>
                    <a:pt x="3931920" y="0"/>
                  </a:lnTo>
                  <a:lnTo>
                    <a:pt x="3931920" y="1070610"/>
                  </a:lnTo>
                  <a:lnTo>
                    <a:pt x="0" y="10706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560" b="-21560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3931920" cy="108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58.3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461504" y="2194560"/>
            <a:ext cx="3223260" cy="720090"/>
            <a:chOff x="0" y="0"/>
            <a:chExt cx="4297680" cy="9601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297680" cy="960120"/>
            </a:xfrm>
            <a:custGeom>
              <a:avLst/>
              <a:gdLst/>
              <a:ahLst/>
              <a:cxnLst/>
              <a:rect l="l" t="t" r="r" b="b"/>
              <a:pathLst>
                <a:path w="4297680" h="960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187952" y="0"/>
                  </a:lnTo>
                  <a:cubicBezTo>
                    <a:pt x="4248531" y="0"/>
                    <a:pt x="4297680" y="49149"/>
                    <a:pt x="4297680" y="109728"/>
                  </a:cubicBezTo>
                  <a:lnTo>
                    <a:pt x="4297680" y="850392"/>
                  </a:lnTo>
                  <a:cubicBezTo>
                    <a:pt x="4297680" y="910971"/>
                    <a:pt x="4248531" y="960120"/>
                    <a:pt x="4187952" y="960120"/>
                  </a:cubicBezTo>
                  <a:lnTo>
                    <a:pt x="109728" y="960120"/>
                  </a:lnTo>
                  <a:cubicBezTo>
                    <a:pt x="49149" y="960120"/>
                    <a:pt x="0" y="910971"/>
                    <a:pt x="0" y="850392"/>
                  </a:cubicBezTo>
                  <a:close/>
                </a:path>
              </a:pathLst>
            </a:custGeom>
            <a:solidFill>
              <a:srgbClr val="E7ECF1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7653528" y="2235708"/>
            <a:ext cx="2839212" cy="637794"/>
            <a:chOff x="0" y="0"/>
            <a:chExt cx="3785616" cy="85039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785616" cy="850392"/>
            </a:xfrm>
            <a:custGeom>
              <a:avLst/>
              <a:gdLst/>
              <a:ahLst/>
              <a:cxnLst/>
              <a:rect l="l" t="t" r="r" b="b"/>
              <a:pathLst>
                <a:path w="3785616" h="850392">
                  <a:moveTo>
                    <a:pt x="0" y="0"/>
                  </a:moveTo>
                  <a:lnTo>
                    <a:pt x="3785616" y="0"/>
                  </a:lnTo>
                  <a:lnTo>
                    <a:pt x="3785616" y="850392"/>
                  </a:lnTo>
                  <a:lnTo>
                    <a:pt x="0" y="8503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80" b="-36678"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7653528" y="2214277"/>
            <a:ext cx="2839212" cy="659225"/>
            <a:chOff x="0" y="0"/>
            <a:chExt cx="3785616" cy="878967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3785616" cy="878967"/>
            </a:xfrm>
            <a:custGeom>
              <a:avLst/>
              <a:gdLst/>
              <a:ahLst/>
              <a:cxnLst/>
              <a:rect l="l" t="t" r="r" b="b"/>
              <a:pathLst>
                <a:path w="3785616" h="878967">
                  <a:moveTo>
                    <a:pt x="0" y="0"/>
                  </a:moveTo>
                  <a:lnTo>
                    <a:pt x="3785616" y="0"/>
                  </a:lnTo>
                  <a:lnTo>
                    <a:pt x="3785616" y="878967"/>
                  </a:lnTo>
                  <a:lnTo>
                    <a:pt x="0" y="8789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19" b="-33919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28575"/>
              <a:ext cx="3785616" cy="9075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Minimum hourly rentals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 rot="-10800000">
            <a:off x="8881110" y="2900934"/>
            <a:ext cx="384048" cy="233172"/>
            <a:chOff x="0" y="0"/>
            <a:chExt cx="512064" cy="31089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512064" cy="310896"/>
            </a:xfrm>
            <a:custGeom>
              <a:avLst/>
              <a:gdLst/>
              <a:ahLst/>
              <a:cxnLst/>
              <a:rect l="l" t="t" r="r" b="b"/>
              <a:pathLst>
                <a:path w="512064" h="310896">
                  <a:moveTo>
                    <a:pt x="0" y="310896"/>
                  </a:moveTo>
                  <a:lnTo>
                    <a:pt x="256032" y="0"/>
                  </a:lnTo>
                  <a:lnTo>
                    <a:pt x="512064" y="310896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7461504" y="3120390"/>
            <a:ext cx="3223260" cy="788670"/>
            <a:chOff x="0" y="0"/>
            <a:chExt cx="4297680" cy="105156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297680" cy="1051560"/>
            </a:xfrm>
            <a:custGeom>
              <a:avLst/>
              <a:gdLst/>
              <a:ahLst/>
              <a:cxnLst/>
              <a:rect l="l" t="t" r="r" b="b"/>
              <a:pathLst>
                <a:path w="4297680" h="10515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187952" y="0"/>
                  </a:lnTo>
                  <a:cubicBezTo>
                    <a:pt x="4248531" y="0"/>
                    <a:pt x="4297680" y="49149"/>
                    <a:pt x="4297680" y="109728"/>
                  </a:cubicBezTo>
                  <a:lnTo>
                    <a:pt x="4297680" y="941832"/>
                  </a:lnTo>
                  <a:cubicBezTo>
                    <a:pt x="4297680" y="1002411"/>
                    <a:pt x="4248531" y="1051560"/>
                    <a:pt x="4187952" y="1051560"/>
                  </a:cubicBezTo>
                  <a:lnTo>
                    <a:pt x="109728" y="1051560"/>
                  </a:lnTo>
                  <a:cubicBezTo>
                    <a:pt x="49149" y="1051560"/>
                    <a:pt x="0" y="1002411"/>
                    <a:pt x="0" y="941832"/>
                  </a:cubicBez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7598664" y="3120390"/>
            <a:ext cx="2948940" cy="788670"/>
            <a:chOff x="0" y="0"/>
            <a:chExt cx="3931920" cy="105156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931920" cy="1051560"/>
            </a:xfrm>
            <a:custGeom>
              <a:avLst/>
              <a:gdLst/>
              <a:ahLst/>
              <a:cxnLst/>
              <a:rect l="l" t="t" r="r" b="b"/>
              <a:pathLst>
                <a:path w="3931920" h="1051560">
                  <a:moveTo>
                    <a:pt x="0" y="0"/>
                  </a:moveTo>
                  <a:lnTo>
                    <a:pt x="3931920" y="0"/>
                  </a:lnTo>
                  <a:lnTo>
                    <a:pt x="3931920" y="1051560"/>
                  </a:lnTo>
                  <a:lnTo>
                    <a:pt x="0" y="1051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06" b="-22805"/>
              </a:stretch>
            </a:blipFill>
          </p:spPr>
        </p:sp>
      </p:grpSp>
      <p:grpSp>
        <p:nvGrpSpPr>
          <p:cNvPr id="66" name="Group 66"/>
          <p:cNvGrpSpPr/>
          <p:nvPr/>
        </p:nvGrpSpPr>
        <p:grpSpPr>
          <a:xfrm>
            <a:off x="7598664" y="3106102"/>
            <a:ext cx="2948940" cy="802957"/>
            <a:chOff x="0" y="0"/>
            <a:chExt cx="3931920" cy="107061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931920" cy="1070610"/>
            </a:xfrm>
            <a:custGeom>
              <a:avLst/>
              <a:gdLst/>
              <a:ahLst/>
              <a:cxnLst/>
              <a:rect l="l" t="t" r="r" b="b"/>
              <a:pathLst>
                <a:path w="3931920" h="1070610">
                  <a:moveTo>
                    <a:pt x="0" y="0"/>
                  </a:moveTo>
                  <a:lnTo>
                    <a:pt x="3931920" y="0"/>
                  </a:lnTo>
                  <a:lnTo>
                    <a:pt x="3931920" y="1070610"/>
                  </a:lnTo>
                  <a:lnTo>
                    <a:pt x="0" y="10706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560" b="-21560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3931920" cy="108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849356" y="2194560"/>
            <a:ext cx="3223260" cy="720090"/>
            <a:chOff x="0" y="0"/>
            <a:chExt cx="4297680" cy="96012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297680" cy="960120"/>
            </a:xfrm>
            <a:custGeom>
              <a:avLst/>
              <a:gdLst/>
              <a:ahLst/>
              <a:cxnLst/>
              <a:rect l="l" t="t" r="r" b="b"/>
              <a:pathLst>
                <a:path w="4297680" h="960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187952" y="0"/>
                  </a:lnTo>
                  <a:cubicBezTo>
                    <a:pt x="4248531" y="0"/>
                    <a:pt x="4297680" y="49149"/>
                    <a:pt x="4297680" y="109728"/>
                  </a:cubicBezTo>
                  <a:lnTo>
                    <a:pt x="4297680" y="850392"/>
                  </a:lnTo>
                  <a:cubicBezTo>
                    <a:pt x="4297680" y="910971"/>
                    <a:pt x="4248531" y="960120"/>
                    <a:pt x="4187952" y="960120"/>
                  </a:cubicBezTo>
                  <a:lnTo>
                    <a:pt x="109728" y="960120"/>
                  </a:lnTo>
                  <a:cubicBezTo>
                    <a:pt x="49149" y="960120"/>
                    <a:pt x="0" y="910971"/>
                    <a:pt x="0" y="850392"/>
                  </a:cubicBezTo>
                  <a:close/>
                </a:path>
              </a:pathLst>
            </a:custGeom>
            <a:solidFill>
              <a:srgbClr val="FCEEDA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11041380" y="2235708"/>
            <a:ext cx="2839212" cy="637794"/>
            <a:chOff x="0" y="0"/>
            <a:chExt cx="3785616" cy="85039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785616" cy="850392"/>
            </a:xfrm>
            <a:custGeom>
              <a:avLst/>
              <a:gdLst/>
              <a:ahLst/>
              <a:cxnLst/>
              <a:rect l="l" t="t" r="r" b="b"/>
              <a:pathLst>
                <a:path w="3785616" h="850392">
                  <a:moveTo>
                    <a:pt x="0" y="0"/>
                  </a:moveTo>
                  <a:lnTo>
                    <a:pt x="3785616" y="0"/>
                  </a:lnTo>
                  <a:lnTo>
                    <a:pt x="3785616" y="850392"/>
                  </a:lnTo>
                  <a:lnTo>
                    <a:pt x="0" y="8503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80" b="-36678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11041380" y="2214277"/>
            <a:ext cx="2839212" cy="659225"/>
            <a:chOff x="0" y="0"/>
            <a:chExt cx="3785616" cy="878967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785616" cy="878967"/>
            </a:xfrm>
            <a:custGeom>
              <a:avLst/>
              <a:gdLst/>
              <a:ahLst/>
              <a:cxnLst/>
              <a:rect l="l" t="t" r="r" b="b"/>
              <a:pathLst>
                <a:path w="3785616" h="878967">
                  <a:moveTo>
                    <a:pt x="0" y="0"/>
                  </a:moveTo>
                  <a:lnTo>
                    <a:pt x="3785616" y="0"/>
                  </a:lnTo>
                  <a:lnTo>
                    <a:pt x="3785616" y="878967"/>
                  </a:lnTo>
                  <a:lnTo>
                    <a:pt x="0" y="8789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19" b="-33919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28575"/>
              <a:ext cx="3785616" cy="9075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Maximum hourly rentals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 rot="-10800000">
            <a:off x="12268962" y="2900934"/>
            <a:ext cx="384048" cy="233172"/>
            <a:chOff x="0" y="0"/>
            <a:chExt cx="512064" cy="31089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512064" cy="310896"/>
            </a:xfrm>
            <a:custGeom>
              <a:avLst/>
              <a:gdLst/>
              <a:ahLst/>
              <a:cxnLst/>
              <a:rect l="l" t="t" r="r" b="b"/>
              <a:pathLst>
                <a:path w="512064" h="310896">
                  <a:moveTo>
                    <a:pt x="0" y="310896"/>
                  </a:moveTo>
                  <a:lnTo>
                    <a:pt x="256032" y="0"/>
                  </a:lnTo>
                  <a:lnTo>
                    <a:pt x="512064" y="310896"/>
                  </a:lnTo>
                  <a:close/>
                </a:path>
              </a:pathLst>
            </a:custGeom>
            <a:solidFill>
              <a:srgbClr val="E9A23B"/>
            </a:solidFill>
          </p:spPr>
        </p:sp>
      </p:grpSp>
      <p:grpSp>
        <p:nvGrpSpPr>
          <p:cNvPr id="78" name="Group 78"/>
          <p:cNvGrpSpPr/>
          <p:nvPr/>
        </p:nvGrpSpPr>
        <p:grpSpPr>
          <a:xfrm>
            <a:off x="10849356" y="3120390"/>
            <a:ext cx="3223260" cy="788670"/>
            <a:chOff x="0" y="0"/>
            <a:chExt cx="4297680" cy="105156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4297680" cy="1051560"/>
            </a:xfrm>
            <a:custGeom>
              <a:avLst/>
              <a:gdLst/>
              <a:ahLst/>
              <a:cxnLst/>
              <a:rect l="l" t="t" r="r" b="b"/>
              <a:pathLst>
                <a:path w="4297680" h="10515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187952" y="0"/>
                  </a:lnTo>
                  <a:cubicBezTo>
                    <a:pt x="4248531" y="0"/>
                    <a:pt x="4297680" y="49149"/>
                    <a:pt x="4297680" y="109728"/>
                  </a:cubicBezTo>
                  <a:lnTo>
                    <a:pt x="4297680" y="941832"/>
                  </a:lnTo>
                  <a:cubicBezTo>
                    <a:pt x="4297680" y="1002411"/>
                    <a:pt x="4248531" y="1051560"/>
                    <a:pt x="4187952" y="1051560"/>
                  </a:cubicBezTo>
                  <a:lnTo>
                    <a:pt x="109728" y="1051560"/>
                  </a:lnTo>
                  <a:cubicBezTo>
                    <a:pt x="49149" y="1051560"/>
                    <a:pt x="0" y="1002411"/>
                    <a:pt x="0" y="941832"/>
                  </a:cubicBezTo>
                  <a:close/>
                </a:path>
              </a:pathLst>
            </a:custGeom>
            <a:solidFill>
              <a:srgbClr val="E9A23B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10986516" y="3120390"/>
            <a:ext cx="2948940" cy="788670"/>
            <a:chOff x="0" y="0"/>
            <a:chExt cx="3931920" cy="105156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3931920" cy="1051560"/>
            </a:xfrm>
            <a:custGeom>
              <a:avLst/>
              <a:gdLst/>
              <a:ahLst/>
              <a:cxnLst/>
              <a:rect l="l" t="t" r="r" b="b"/>
              <a:pathLst>
                <a:path w="3931920" h="1051560">
                  <a:moveTo>
                    <a:pt x="0" y="0"/>
                  </a:moveTo>
                  <a:lnTo>
                    <a:pt x="3931920" y="0"/>
                  </a:lnTo>
                  <a:lnTo>
                    <a:pt x="3931920" y="1051560"/>
                  </a:lnTo>
                  <a:lnTo>
                    <a:pt x="0" y="1051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06" b="-22805"/>
              </a:stretch>
            </a:blipFill>
          </p:spPr>
        </p:sp>
      </p:grpSp>
      <p:grpSp>
        <p:nvGrpSpPr>
          <p:cNvPr id="82" name="Group 82"/>
          <p:cNvGrpSpPr/>
          <p:nvPr/>
        </p:nvGrpSpPr>
        <p:grpSpPr>
          <a:xfrm>
            <a:off x="10986516" y="3106102"/>
            <a:ext cx="2948940" cy="802957"/>
            <a:chOff x="0" y="0"/>
            <a:chExt cx="3931920" cy="107061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3931920" cy="1070610"/>
            </a:xfrm>
            <a:custGeom>
              <a:avLst/>
              <a:gdLst/>
              <a:ahLst/>
              <a:cxnLst/>
              <a:rect l="l" t="t" r="r" b="b"/>
              <a:pathLst>
                <a:path w="3931920" h="1070610">
                  <a:moveTo>
                    <a:pt x="0" y="0"/>
                  </a:moveTo>
                  <a:lnTo>
                    <a:pt x="3931920" y="0"/>
                  </a:lnTo>
                  <a:lnTo>
                    <a:pt x="3931920" y="1070610"/>
                  </a:lnTo>
                  <a:lnTo>
                    <a:pt x="0" y="10706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560" b="-21560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19050"/>
              <a:ext cx="3931920" cy="108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249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4237208" y="2194560"/>
            <a:ext cx="3223260" cy="720090"/>
            <a:chOff x="0" y="0"/>
            <a:chExt cx="4297680" cy="96012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4297680" cy="960120"/>
            </a:xfrm>
            <a:custGeom>
              <a:avLst/>
              <a:gdLst/>
              <a:ahLst/>
              <a:cxnLst/>
              <a:rect l="l" t="t" r="r" b="b"/>
              <a:pathLst>
                <a:path w="4297680" h="9601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187952" y="0"/>
                  </a:lnTo>
                  <a:cubicBezTo>
                    <a:pt x="4248531" y="0"/>
                    <a:pt x="4297680" y="49149"/>
                    <a:pt x="4297680" y="109728"/>
                  </a:cubicBezTo>
                  <a:lnTo>
                    <a:pt x="4297680" y="850392"/>
                  </a:lnTo>
                  <a:cubicBezTo>
                    <a:pt x="4297680" y="910971"/>
                    <a:pt x="4248531" y="960120"/>
                    <a:pt x="4187952" y="960120"/>
                  </a:cubicBezTo>
                  <a:lnTo>
                    <a:pt x="109728" y="960120"/>
                  </a:lnTo>
                  <a:cubicBezTo>
                    <a:pt x="49149" y="960120"/>
                    <a:pt x="0" y="910971"/>
                    <a:pt x="0" y="850392"/>
                  </a:cubicBezTo>
                  <a:close/>
                </a:path>
              </a:pathLst>
            </a:custGeom>
            <a:solidFill>
              <a:srgbClr val="E7ECF1"/>
            </a:solidFill>
          </p:spPr>
        </p:sp>
      </p:grpSp>
      <p:grpSp>
        <p:nvGrpSpPr>
          <p:cNvPr id="87" name="Group 87"/>
          <p:cNvGrpSpPr/>
          <p:nvPr/>
        </p:nvGrpSpPr>
        <p:grpSpPr>
          <a:xfrm>
            <a:off x="14429232" y="2235708"/>
            <a:ext cx="2839212" cy="637794"/>
            <a:chOff x="0" y="0"/>
            <a:chExt cx="3785616" cy="850392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3785616" cy="850392"/>
            </a:xfrm>
            <a:custGeom>
              <a:avLst/>
              <a:gdLst/>
              <a:ahLst/>
              <a:cxnLst/>
              <a:rect l="l" t="t" r="r" b="b"/>
              <a:pathLst>
                <a:path w="3785616" h="850392">
                  <a:moveTo>
                    <a:pt x="0" y="0"/>
                  </a:moveTo>
                  <a:lnTo>
                    <a:pt x="3785616" y="0"/>
                  </a:lnTo>
                  <a:lnTo>
                    <a:pt x="3785616" y="850392"/>
                  </a:lnTo>
                  <a:lnTo>
                    <a:pt x="0" y="8503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80" b="-36678"/>
              </a:stretch>
            </a:blipFill>
          </p:spPr>
        </p:sp>
      </p:grpSp>
      <p:grpSp>
        <p:nvGrpSpPr>
          <p:cNvPr id="89" name="Group 89"/>
          <p:cNvGrpSpPr/>
          <p:nvPr/>
        </p:nvGrpSpPr>
        <p:grpSpPr>
          <a:xfrm>
            <a:off x="14429232" y="2214277"/>
            <a:ext cx="2839212" cy="659225"/>
            <a:chOff x="0" y="0"/>
            <a:chExt cx="3785616" cy="878967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785616" cy="878967"/>
            </a:xfrm>
            <a:custGeom>
              <a:avLst/>
              <a:gdLst/>
              <a:ahLst/>
              <a:cxnLst/>
              <a:rect l="l" t="t" r="r" b="b"/>
              <a:pathLst>
                <a:path w="3785616" h="878967">
                  <a:moveTo>
                    <a:pt x="0" y="0"/>
                  </a:moveTo>
                  <a:lnTo>
                    <a:pt x="3785616" y="0"/>
                  </a:lnTo>
                  <a:lnTo>
                    <a:pt x="3785616" y="878967"/>
                  </a:lnTo>
                  <a:lnTo>
                    <a:pt x="0" y="87896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19" b="-33919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28575"/>
              <a:ext cx="3785616" cy="9075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Standard deviation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 rot="-10800000">
            <a:off x="15656814" y="2900934"/>
            <a:ext cx="384048" cy="233172"/>
            <a:chOff x="0" y="0"/>
            <a:chExt cx="512064" cy="310896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512064" cy="310896"/>
            </a:xfrm>
            <a:custGeom>
              <a:avLst/>
              <a:gdLst/>
              <a:ahLst/>
              <a:cxnLst/>
              <a:rect l="l" t="t" r="r" b="b"/>
              <a:pathLst>
                <a:path w="512064" h="310896">
                  <a:moveTo>
                    <a:pt x="0" y="310896"/>
                  </a:moveTo>
                  <a:lnTo>
                    <a:pt x="256032" y="0"/>
                  </a:lnTo>
                  <a:lnTo>
                    <a:pt x="512064" y="310896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14237208" y="3120390"/>
            <a:ext cx="3223260" cy="788670"/>
            <a:chOff x="0" y="0"/>
            <a:chExt cx="4297680" cy="105156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4297680" cy="1051560"/>
            </a:xfrm>
            <a:custGeom>
              <a:avLst/>
              <a:gdLst/>
              <a:ahLst/>
              <a:cxnLst/>
              <a:rect l="l" t="t" r="r" b="b"/>
              <a:pathLst>
                <a:path w="4297680" h="10515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187952" y="0"/>
                  </a:lnTo>
                  <a:cubicBezTo>
                    <a:pt x="4248531" y="0"/>
                    <a:pt x="4297680" y="49149"/>
                    <a:pt x="4297680" y="109728"/>
                  </a:cubicBezTo>
                  <a:lnTo>
                    <a:pt x="4297680" y="941832"/>
                  </a:lnTo>
                  <a:cubicBezTo>
                    <a:pt x="4297680" y="1002411"/>
                    <a:pt x="4248531" y="1051560"/>
                    <a:pt x="4187952" y="1051560"/>
                  </a:cubicBezTo>
                  <a:lnTo>
                    <a:pt x="109728" y="1051560"/>
                  </a:lnTo>
                  <a:cubicBezTo>
                    <a:pt x="49149" y="1051560"/>
                    <a:pt x="0" y="1002411"/>
                    <a:pt x="0" y="941832"/>
                  </a:cubicBez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14374368" y="3120390"/>
            <a:ext cx="2948940" cy="788670"/>
            <a:chOff x="0" y="0"/>
            <a:chExt cx="3931920" cy="105156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3931920" cy="1051560"/>
            </a:xfrm>
            <a:custGeom>
              <a:avLst/>
              <a:gdLst/>
              <a:ahLst/>
              <a:cxnLst/>
              <a:rect l="l" t="t" r="r" b="b"/>
              <a:pathLst>
                <a:path w="3931920" h="1051560">
                  <a:moveTo>
                    <a:pt x="0" y="0"/>
                  </a:moveTo>
                  <a:lnTo>
                    <a:pt x="3931920" y="0"/>
                  </a:lnTo>
                  <a:lnTo>
                    <a:pt x="3931920" y="1051560"/>
                  </a:lnTo>
                  <a:lnTo>
                    <a:pt x="0" y="1051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806" b="-22805"/>
              </a:stretch>
            </a:blipFill>
          </p:spPr>
        </p:sp>
      </p:grpSp>
      <p:grpSp>
        <p:nvGrpSpPr>
          <p:cNvPr id="98" name="Group 98"/>
          <p:cNvGrpSpPr/>
          <p:nvPr/>
        </p:nvGrpSpPr>
        <p:grpSpPr>
          <a:xfrm>
            <a:off x="14374368" y="3106102"/>
            <a:ext cx="2948940" cy="802957"/>
            <a:chOff x="0" y="0"/>
            <a:chExt cx="3931920" cy="107061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3931920" cy="1070610"/>
            </a:xfrm>
            <a:custGeom>
              <a:avLst/>
              <a:gdLst/>
              <a:ahLst/>
              <a:cxnLst/>
              <a:rect l="l" t="t" r="r" b="b"/>
              <a:pathLst>
                <a:path w="3931920" h="1070610">
                  <a:moveTo>
                    <a:pt x="0" y="0"/>
                  </a:moveTo>
                  <a:lnTo>
                    <a:pt x="3931920" y="0"/>
                  </a:lnTo>
                  <a:lnTo>
                    <a:pt x="3931920" y="1070610"/>
                  </a:lnTo>
                  <a:lnTo>
                    <a:pt x="0" y="10706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560" b="-21560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19050"/>
              <a:ext cx="3931920" cy="1089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50.99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85800" y="4320540"/>
            <a:ext cx="16870680" cy="411480"/>
            <a:chOff x="0" y="0"/>
            <a:chExt cx="22494240" cy="54864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2494239" cy="548640"/>
            </a:xfrm>
            <a:custGeom>
              <a:avLst/>
              <a:gdLst/>
              <a:ahLst/>
              <a:cxnLst/>
              <a:rect l="l" t="t" r="r" b="b"/>
              <a:pathLst>
                <a:path w="22494239" h="548640">
                  <a:moveTo>
                    <a:pt x="0" y="0"/>
                  </a:moveTo>
                  <a:lnTo>
                    <a:pt x="22494239" y="0"/>
                  </a:lnTo>
                  <a:lnTo>
                    <a:pt x="22494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8331" b="-748331"/>
              </a:stretch>
            </a:blipFill>
          </p:spPr>
        </p:sp>
      </p:grpSp>
      <p:grpSp>
        <p:nvGrpSpPr>
          <p:cNvPr id="103" name="Group 103"/>
          <p:cNvGrpSpPr/>
          <p:nvPr/>
        </p:nvGrpSpPr>
        <p:grpSpPr>
          <a:xfrm>
            <a:off x="685800" y="4299109"/>
            <a:ext cx="16870680" cy="432911"/>
            <a:chOff x="0" y="0"/>
            <a:chExt cx="22494240" cy="577215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22494239" cy="577215"/>
            </a:xfrm>
            <a:custGeom>
              <a:avLst/>
              <a:gdLst/>
              <a:ahLst/>
              <a:cxnLst/>
              <a:rect l="l" t="t" r="r" b="b"/>
              <a:pathLst>
                <a:path w="22494239" h="577215">
                  <a:moveTo>
                    <a:pt x="0" y="0"/>
                  </a:moveTo>
                  <a:lnTo>
                    <a:pt x="22494239" y="0"/>
                  </a:lnTo>
                  <a:lnTo>
                    <a:pt x="22494239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09337" b="-709337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28575"/>
              <a:ext cx="2249424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74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DISTRIBUTION OF HOURLY DEMAND</a:t>
              </a:r>
            </a:p>
          </p:txBody>
        </p:sp>
      </p:grpSp>
      <p:sp>
        <p:nvSpPr>
          <p:cNvPr id="106" name="AutoShape 106"/>
          <p:cNvSpPr/>
          <p:nvPr/>
        </p:nvSpPr>
        <p:spPr>
          <a:xfrm rot="1920">
            <a:off x="671503" y="4749927"/>
            <a:ext cx="16899265" cy="0"/>
          </a:xfrm>
          <a:prstGeom prst="line">
            <a:avLst/>
          </a:prstGeom>
          <a:ln w="9525" cap="rnd">
            <a:solidFill>
              <a:srgbClr val="E7ECF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7" name="Group 107"/>
          <p:cNvGrpSpPr/>
          <p:nvPr/>
        </p:nvGrpSpPr>
        <p:grpSpPr>
          <a:xfrm>
            <a:off x="1028700" y="9001506"/>
            <a:ext cx="15265908" cy="768096"/>
            <a:chOff x="0" y="0"/>
            <a:chExt cx="20354544" cy="1024128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20354544" cy="1024128"/>
            </a:xfrm>
            <a:custGeom>
              <a:avLst/>
              <a:gdLst/>
              <a:ahLst/>
              <a:cxnLst/>
              <a:rect l="l" t="t" r="r" b="b"/>
              <a:pathLst>
                <a:path w="20354544" h="1024128">
                  <a:moveTo>
                    <a:pt x="0" y="0"/>
                  </a:moveTo>
                  <a:lnTo>
                    <a:pt x="20354544" y="0"/>
                  </a:lnTo>
                  <a:lnTo>
                    <a:pt x="203545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6995" b="-336996"/>
              </a:stretch>
            </a:blipFill>
          </p:spPr>
        </p:sp>
      </p:grpSp>
      <p:grpSp>
        <p:nvGrpSpPr>
          <p:cNvPr id="109" name="Group 109"/>
          <p:cNvGrpSpPr/>
          <p:nvPr/>
        </p:nvGrpSpPr>
        <p:grpSpPr>
          <a:xfrm>
            <a:off x="676275" y="9769602"/>
            <a:ext cx="10972800" cy="411480"/>
            <a:chOff x="0" y="0"/>
            <a:chExt cx="14630400" cy="54864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240" b="-469238"/>
              </a:stretch>
            </a:blipFill>
          </p:spPr>
        </p:sp>
      </p:grpSp>
      <p:grpSp>
        <p:nvGrpSpPr>
          <p:cNvPr id="111" name="Group 111"/>
          <p:cNvGrpSpPr/>
          <p:nvPr/>
        </p:nvGrpSpPr>
        <p:grpSpPr>
          <a:xfrm>
            <a:off x="676275" y="9748171"/>
            <a:ext cx="10972800" cy="432911"/>
            <a:chOff x="0" y="0"/>
            <a:chExt cx="14630400" cy="577215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14630400" cy="577215"/>
            </a:xfrm>
            <a:custGeom>
              <a:avLst/>
              <a:gdLst/>
              <a:ahLst/>
              <a:cxnLst/>
              <a:rect l="l" t="t" r="r" b="b"/>
              <a:pathLst>
                <a:path w="14630400" h="577215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3878" b="-443878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Bike Sharing Demand Analysis  </a:t>
              </a:r>
            </a:p>
          </p:txBody>
        </p:sp>
      </p:grpSp>
      <p:sp>
        <p:nvSpPr>
          <p:cNvPr id="114" name="AutoShape 114"/>
          <p:cNvSpPr/>
          <p:nvPr/>
        </p:nvSpPr>
        <p:spPr>
          <a:xfrm>
            <a:off x="661991" y="1741361"/>
            <a:ext cx="1635439" cy="0"/>
          </a:xfrm>
          <a:prstGeom prst="line">
            <a:avLst/>
          </a:prstGeom>
          <a:ln w="19050" cap="rnd">
            <a:solidFill>
              <a:srgbClr val="E9A23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23444"/>
            <a:chOff x="0" y="0"/>
            <a:chExt cx="24377904" cy="164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164592"/>
            </a:xfrm>
            <a:custGeom>
              <a:avLst/>
              <a:gdLst/>
              <a:ahLst/>
              <a:cxnLst/>
              <a:rect l="l" t="t" r="r" b="b"/>
              <a:pathLst>
                <a:path w="24377904" h="164592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438912"/>
            <a:ext cx="12344400" cy="411480"/>
            <a:chOff x="0" y="0"/>
            <a:chExt cx="1645920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" y="410337"/>
            <a:ext cx="12344400" cy="440055"/>
            <a:chOff x="0" y="0"/>
            <a:chExt cx="16459200" cy="5867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00" cy="586740"/>
            </a:xfrm>
            <a:custGeom>
              <a:avLst/>
              <a:gdLst/>
              <a:ahLst/>
              <a:cxnLst/>
              <a:rect l="l" t="t" r="r" b="b"/>
              <a:pathLst>
                <a:path w="16459200" h="586740">
                  <a:moveTo>
                    <a:pt x="0" y="0"/>
                  </a:moveTo>
                  <a:lnTo>
                    <a:pt x="16459200" y="0"/>
                  </a:lnTo>
                  <a:lnTo>
                    <a:pt x="164592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6593" b="-49659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592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·  RIDER COMPOSITION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5800" y="795528"/>
            <a:ext cx="16870680" cy="960120"/>
            <a:chOff x="0" y="0"/>
            <a:chExt cx="22494240" cy="1280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94239" cy="1280160"/>
            </a:xfrm>
            <a:custGeom>
              <a:avLst/>
              <a:gdLst/>
              <a:ahLst/>
              <a:cxnLst/>
              <a:rect l="l" t="t" r="r" b="b"/>
              <a:pathLst>
                <a:path w="22494239" h="1280160">
                  <a:moveTo>
                    <a:pt x="0" y="0"/>
                  </a:moveTo>
                  <a:lnTo>
                    <a:pt x="22494239" y="0"/>
                  </a:lnTo>
                  <a:lnTo>
                    <a:pt x="224942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141" b="-29214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85800" y="781240"/>
            <a:ext cx="16870680" cy="974407"/>
            <a:chOff x="0" y="0"/>
            <a:chExt cx="22494240" cy="12992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94239" cy="1299210"/>
            </a:xfrm>
            <a:custGeom>
              <a:avLst/>
              <a:gdLst/>
              <a:ahLst/>
              <a:cxnLst/>
              <a:rect l="l" t="t" r="r" b="b"/>
              <a:pathLst>
                <a:path w="22494239" h="1299210">
                  <a:moveTo>
                    <a:pt x="0" y="0"/>
                  </a:moveTo>
                  <a:lnTo>
                    <a:pt x="22494239" y="0"/>
                  </a:lnTo>
                  <a:lnTo>
                    <a:pt x="22494239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7359" b="-28735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2494240" cy="131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Registered Riders Account for the Majority of Demand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676275" y="1755648"/>
            <a:ext cx="1561160" cy="0"/>
          </a:xfrm>
          <a:prstGeom prst="line">
            <a:avLst/>
          </a:prstGeom>
          <a:ln w="19050" cap="rnd">
            <a:solidFill>
              <a:srgbClr val="E9A2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17048988" y="9738360"/>
            <a:ext cx="685800" cy="411480"/>
            <a:chOff x="0" y="0"/>
            <a:chExt cx="914400" cy="5486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36" r="-27034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7048988" y="9716929"/>
            <a:ext cx="685800" cy="432911"/>
            <a:chOff x="0" y="0"/>
            <a:chExt cx="914400" cy="57721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" cy="577215"/>
            </a:xfrm>
            <a:custGeom>
              <a:avLst/>
              <a:gdLst/>
              <a:ahLst/>
              <a:cxnLst/>
              <a:rect l="l" t="t" r="r" b="b"/>
              <a:pathLst>
                <a:path w="914400" h="577215">
                  <a:moveTo>
                    <a:pt x="0" y="0"/>
                  </a:moveTo>
                  <a:lnTo>
                    <a:pt x="914400" y="0"/>
                  </a:lnTo>
                  <a:lnTo>
                    <a:pt x="914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991" r="-3099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914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 / 17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60602" y="1897990"/>
            <a:ext cx="6954317" cy="7381037"/>
            <a:chOff x="0" y="0"/>
            <a:chExt cx="9272422" cy="984138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72397" cy="9841357"/>
            </a:xfrm>
            <a:custGeom>
              <a:avLst/>
              <a:gdLst/>
              <a:ahLst/>
              <a:cxnLst/>
              <a:rect l="l" t="t" r="r" b="b"/>
              <a:pathLst>
                <a:path w="9272397" h="9841357">
                  <a:moveTo>
                    <a:pt x="0" y="0"/>
                  </a:moveTo>
                  <a:lnTo>
                    <a:pt x="9272397" y="0"/>
                  </a:lnTo>
                  <a:lnTo>
                    <a:pt x="9272397" y="9841357"/>
                  </a:lnTo>
                  <a:lnTo>
                    <a:pt x="0" y="9841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3" b="-13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9738360" y="2331720"/>
            <a:ext cx="7680960" cy="411480"/>
            <a:chOff x="0" y="0"/>
            <a:chExt cx="10241280" cy="5486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241280" cy="548640"/>
            </a:xfrm>
            <a:custGeom>
              <a:avLst/>
              <a:gdLst/>
              <a:ahLst/>
              <a:cxnLst/>
              <a:rect l="l" t="t" r="r" b="b"/>
              <a:pathLst>
                <a:path w="10241280" h="548640">
                  <a:moveTo>
                    <a:pt x="0" y="0"/>
                  </a:moveTo>
                  <a:lnTo>
                    <a:pt x="10241280" y="0"/>
                  </a:lnTo>
                  <a:lnTo>
                    <a:pt x="10241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3467" b="-313467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9738360" y="2310289"/>
            <a:ext cx="7680960" cy="432911"/>
            <a:chOff x="0" y="0"/>
            <a:chExt cx="10241280" cy="57721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241280" cy="577215"/>
            </a:xfrm>
            <a:custGeom>
              <a:avLst/>
              <a:gdLst/>
              <a:ahLst/>
              <a:cxnLst/>
              <a:rect l="l" t="t" r="r" b="b"/>
              <a:pathLst>
                <a:path w="10241280" h="577215">
                  <a:moveTo>
                    <a:pt x="0" y="0"/>
                  </a:moveTo>
                  <a:lnTo>
                    <a:pt x="10241280" y="0"/>
                  </a:lnTo>
                  <a:lnTo>
                    <a:pt x="1024128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5714" b="-295714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1024128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74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RIDER BREAKDOWN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 rot="4260">
            <a:off x="9724063" y="2761107"/>
            <a:ext cx="7709564" cy="0"/>
          </a:xfrm>
          <a:prstGeom prst="line">
            <a:avLst/>
          </a:prstGeom>
          <a:ln w="9525" cap="rnd">
            <a:solidFill>
              <a:srgbClr val="E7ECF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8" name="Group 28"/>
          <p:cNvGrpSpPr/>
          <p:nvPr/>
        </p:nvGrpSpPr>
        <p:grpSpPr>
          <a:xfrm>
            <a:off x="9738360" y="2948940"/>
            <a:ext cx="3703320" cy="748856"/>
            <a:chOff x="0" y="0"/>
            <a:chExt cx="4937760" cy="99847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937760" cy="998474"/>
            </a:xfrm>
            <a:custGeom>
              <a:avLst/>
              <a:gdLst/>
              <a:ahLst/>
              <a:cxnLst/>
              <a:rect l="l" t="t" r="r" b="b"/>
              <a:pathLst>
                <a:path w="4937760" h="998474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828032" y="0"/>
                  </a:lnTo>
                  <a:cubicBezTo>
                    <a:pt x="4888611" y="0"/>
                    <a:pt x="4937760" y="49149"/>
                    <a:pt x="4937760" y="109728"/>
                  </a:cubicBezTo>
                  <a:lnTo>
                    <a:pt x="4937760" y="888746"/>
                  </a:lnTo>
                  <a:cubicBezTo>
                    <a:pt x="4937760" y="949325"/>
                    <a:pt x="4888611" y="998474"/>
                    <a:pt x="4828032" y="998474"/>
                  </a:cubicBezTo>
                  <a:lnTo>
                    <a:pt x="109728" y="998474"/>
                  </a:lnTo>
                  <a:cubicBezTo>
                    <a:pt x="49149" y="998474"/>
                    <a:pt x="0" y="949452"/>
                    <a:pt x="0" y="888746"/>
                  </a:cubicBezTo>
                  <a:close/>
                </a:path>
              </a:pathLst>
            </a:custGeom>
            <a:solidFill>
              <a:srgbClr val="E7ECF1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9930384" y="2990088"/>
            <a:ext cx="3319272" cy="666598"/>
            <a:chOff x="0" y="0"/>
            <a:chExt cx="4425696" cy="88879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425696" cy="888746"/>
            </a:xfrm>
            <a:custGeom>
              <a:avLst/>
              <a:gdLst/>
              <a:ahLst/>
              <a:cxnLst/>
              <a:rect l="l" t="t" r="r" b="b"/>
              <a:pathLst>
                <a:path w="4425696" h="888746">
                  <a:moveTo>
                    <a:pt x="0" y="0"/>
                  </a:moveTo>
                  <a:lnTo>
                    <a:pt x="4425696" y="0"/>
                  </a:lnTo>
                  <a:lnTo>
                    <a:pt x="4425696" y="888746"/>
                  </a:lnTo>
                  <a:lnTo>
                    <a:pt x="0" y="8887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59" b="-46964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9930384" y="2968657"/>
            <a:ext cx="3319272" cy="688029"/>
            <a:chOff x="0" y="0"/>
            <a:chExt cx="4425696" cy="91737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425696" cy="917372"/>
            </a:xfrm>
            <a:custGeom>
              <a:avLst/>
              <a:gdLst/>
              <a:ahLst/>
              <a:cxnLst/>
              <a:rect l="l" t="t" r="r" b="b"/>
              <a:pathLst>
                <a:path w="4425696" h="917372">
                  <a:moveTo>
                    <a:pt x="0" y="0"/>
                  </a:moveTo>
                  <a:lnTo>
                    <a:pt x="4425696" y="0"/>
                  </a:lnTo>
                  <a:lnTo>
                    <a:pt x="4425696" y="917372"/>
                  </a:lnTo>
                  <a:lnTo>
                    <a:pt x="0" y="9173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002" b="-4400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4425696" cy="9459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Registered rentals (91.6%)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 rot="-10800000">
            <a:off x="11397996" y="3684156"/>
            <a:ext cx="384048" cy="241364"/>
            <a:chOff x="0" y="0"/>
            <a:chExt cx="512064" cy="32181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12064" cy="321818"/>
            </a:xfrm>
            <a:custGeom>
              <a:avLst/>
              <a:gdLst/>
              <a:ahLst/>
              <a:cxnLst/>
              <a:rect l="l" t="t" r="r" b="b"/>
              <a:pathLst>
                <a:path w="512064" h="321818">
                  <a:moveTo>
                    <a:pt x="0" y="321818"/>
                  </a:moveTo>
                  <a:lnTo>
                    <a:pt x="256032" y="0"/>
                  </a:lnTo>
                  <a:lnTo>
                    <a:pt x="512064" y="321818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9738360" y="3911803"/>
            <a:ext cx="3703320" cy="820198"/>
            <a:chOff x="0" y="0"/>
            <a:chExt cx="4937760" cy="109359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937760" cy="1093597"/>
            </a:xfrm>
            <a:custGeom>
              <a:avLst/>
              <a:gdLst/>
              <a:ahLst/>
              <a:cxnLst/>
              <a:rect l="l" t="t" r="r" b="b"/>
              <a:pathLst>
                <a:path w="4937760" h="1093597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828032" y="0"/>
                  </a:lnTo>
                  <a:cubicBezTo>
                    <a:pt x="4888611" y="0"/>
                    <a:pt x="4937760" y="49149"/>
                    <a:pt x="4937760" y="109728"/>
                  </a:cubicBezTo>
                  <a:lnTo>
                    <a:pt x="4937760" y="983869"/>
                  </a:lnTo>
                  <a:cubicBezTo>
                    <a:pt x="4937760" y="1044448"/>
                    <a:pt x="4888611" y="1093597"/>
                    <a:pt x="4828032" y="1093597"/>
                  </a:cubicBezTo>
                  <a:lnTo>
                    <a:pt x="109728" y="1093597"/>
                  </a:lnTo>
                  <a:cubicBezTo>
                    <a:pt x="49149" y="1093597"/>
                    <a:pt x="0" y="1044448"/>
                    <a:pt x="0" y="983869"/>
                  </a:cubicBez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9875520" y="3911803"/>
            <a:ext cx="3429000" cy="820217"/>
            <a:chOff x="0" y="0"/>
            <a:chExt cx="4572000" cy="109362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572000" cy="1093597"/>
            </a:xfrm>
            <a:custGeom>
              <a:avLst/>
              <a:gdLst/>
              <a:ahLst/>
              <a:cxnLst/>
              <a:rect l="l" t="t" r="r" b="b"/>
              <a:pathLst>
                <a:path w="4572000" h="1093597">
                  <a:moveTo>
                    <a:pt x="0" y="0"/>
                  </a:moveTo>
                  <a:lnTo>
                    <a:pt x="4572000" y="0"/>
                  </a:lnTo>
                  <a:lnTo>
                    <a:pt x="4572000" y="1093597"/>
                  </a:lnTo>
                  <a:lnTo>
                    <a:pt x="0" y="10935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402" b="-31406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9875520" y="3897516"/>
            <a:ext cx="3429000" cy="834504"/>
            <a:chOff x="0" y="0"/>
            <a:chExt cx="4572000" cy="111267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572000" cy="1112673"/>
            </a:xfrm>
            <a:custGeom>
              <a:avLst/>
              <a:gdLst/>
              <a:ahLst/>
              <a:cxnLst/>
              <a:rect l="l" t="t" r="r" b="b"/>
              <a:pathLst>
                <a:path w="4572000" h="1112673">
                  <a:moveTo>
                    <a:pt x="0" y="0"/>
                  </a:moveTo>
                  <a:lnTo>
                    <a:pt x="4572000" y="0"/>
                  </a:lnTo>
                  <a:lnTo>
                    <a:pt x="4572000" y="1112673"/>
                  </a:lnTo>
                  <a:lnTo>
                    <a:pt x="0" y="1112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064" b="-30064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4572000" cy="1131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53,383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853160" y="2948940"/>
            <a:ext cx="3703320" cy="748856"/>
            <a:chOff x="0" y="0"/>
            <a:chExt cx="4937760" cy="99847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937760" cy="998474"/>
            </a:xfrm>
            <a:custGeom>
              <a:avLst/>
              <a:gdLst/>
              <a:ahLst/>
              <a:cxnLst/>
              <a:rect l="l" t="t" r="r" b="b"/>
              <a:pathLst>
                <a:path w="4937760" h="998474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828032" y="0"/>
                  </a:lnTo>
                  <a:cubicBezTo>
                    <a:pt x="4888611" y="0"/>
                    <a:pt x="4937760" y="49149"/>
                    <a:pt x="4937760" y="109728"/>
                  </a:cubicBezTo>
                  <a:lnTo>
                    <a:pt x="4937760" y="888746"/>
                  </a:lnTo>
                  <a:cubicBezTo>
                    <a:pt x="4937760" y="949325"/>
                    <a:pt x="4888611" y="998474"/>
                    <a:pt x="4828032" y="998474"/>
                  </a:cubicBezTo>
                  <a:lnTo>
                    <a:pt x="109728" y="998474"/>
                  </a:lnTo>
                  <a:cubicBezTo>
                    <a:pt x="49149" y="998474"/>
                    <a:pt x="0" y="949452"/>
                    <a:pt x="0" y="888746"/>
                  </a:cubicBezTo>
                  <a:close/>
                </a:path>
              </a:pathLst>
            </a:custGeom>
            <a:solidFill>
              <a:srgbClr val="E4F3F1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4045184" y="2990088"/>
            <a:ext cx="3319272" cy="666598"/>
            <a:chOff x="0" y="0"/>
            <a:chExt cx="4425696" cy="88879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425696" cy="888746"/>
            </a:xfrm>
            <a:custGeom>
              <a:avLst/>
              <a:gdLst/>
              <a:ahLst/>
              <a:cxnLst/>
              <a:rect l="l" t="t" r="r" b="b"/>
              <a:pathLst>
                <a:path w="4425696" h="888746">
                  <a:moveTo>
                    <a:pt x="0" y="0"/>
                  </a:moveTo>
                  <a:lnTo>
                    <a:pt x="4425696" y="0"/>
                  </a:lnTo>
                  <a:lnTo>
                    <a:pt x="4425696" y="888746"/>
                  </a:lnTo>
                  <a:lnTo>
                    <a:pt x="0" y="8887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59" b="-46964"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14045184" y="2968657"/>
            <a:ext cx="3319272" cy="688029"/>
            <a:chOff x="0" y="0"/>
            <a:chExt cx="4425696" cy="91737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425696" cy="917372"/>
            </a:xfrm>
            <a:custGeom>
              <a:avLst/>
              <a:gdLst/>
              <a:ahLst/>
              <a:cxnLst/>
              <a:rect l="l" t="t" r="r" b="b"/>
              <a:pathLst>
                <a:path w="4425696" h="917372">
                  <a:moveTo>
                    <a:pt x="0" y="0"/>
                  </a:moveTo>
                  <a:lnTo>
                    <a:pt x="4425696" y="0"/>
                  </a:lnTo>
                  <a:lnTo>
                    <a:pt x="4425696" y="917372"/>
                  </a:lnTo>
                  <a:lnTo>
                    <a:pt x="0" y="9173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002" b="-44001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4425696" cy="9459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Casual rentals (8.4%)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 rot="-10800000">
            <a:off x="15512796" y="3684156"/>
            <a:ext cx="384048" cy="241364"/>
            <a:chOff x="0" y="0"/>
            <a:chExt cx="512064" cy="32181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12064" cy="321818"/>
            </a:xfrm>
            <a:custGeom>
              <a:avLst/>
              <a:gdLst/>
              <a:ahLst/>
              <a:cxnLst/>
              <a:rect l="l" t="t" r="r" b="b"/>
              <a:pathLst>
                <a:path w="512064" h="321818">
                  <a:moveTo>
                    <a:pt x="0" y="321818"/>
                  </a:moveTo>
                  <a:lnTo>
                    <a:pt x="256032" y="0"/>
                  </a:lnTo>
                  <a:lnTo>
                    <a:pt x="512064" y="321818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3853160" y="3911803"/>
            <a:ext cx="3703320" cy="820198"/>
            <a:chOff x="0" y="0"/>
            <a:chExt cx="4937760" cy="1093597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937760" cy="1093597"/>
            </a:xfrm>
            <a:custGeom>
              <a:avLst/>
              <a:gdLst/>
              <a:ahLst/>
              <a:cxnLst/>
              <a:rect l="l" t="t" r="r" b="b"/>
              <a:pathLst>
                <a:path w="4937760" h="1093597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828032" y="0"/>
                  </a:lnTo>
                  <a:cubicBezTo>
                    <a:pt x="4888611" y="0"/>
                    <a:pt x="4937760" y="49149"/>
                    <a:pt x="4937760" y="109728"/>
                  </a:cubicBezTo>
                  <a:lnTo>
                    <a:pt x="4937760" y="983869"/>
                  </a:lnTo>
                  <a:cubicBezTo>
                    <a:pt x="4937760" y="1044448"/>
                    <a:pt x="4888611" y="1093597"/>
                    <a:pt x="4828032" y="1093597"/>
                  </a:cubicBezTo>
                  <a:lnTo>
                    <a:pt x="109728" y="1093597"/>
                  </a:lnTo>
                  <a:cubicBezTo>
                    <a:pt x="49149" y="1093597"/>
                    <a:pt x="0" y="1044448"/>
                    <a:pt x="0" y="983869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3990320" y="3911803"/>
            <a:ext cx="3429000" cy="820217"/>
            <a:chOff x="0" y="0"/>
            <a:chExt cx="4572000" cy="109362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572000" cy="1093597"/>
            </a:xfrm>
            <a:custGeom>
              <a:avLst/>
              <a:gdLst/>
              <a:ahLst/>
              <a:cxnLst/>
              <a:rect l="l" t="t" r="r" b="b"/>
              <a:pathLst>
                <a:path w="4572000" h="1093597">
                  <a:moveTo>
                    <a:pt x="0" y="0"/>
                  </a:moveTo>
                  <a:lnTo>
                    <a:pt x="4572000" y="0"/>
                  </a:lnTo>
                  <a:lnTo>
                    <a:pt x="4572000" y="1093597"/>
                  </a:lnTo>
                  <a:lnTo>
                    <a:pt x="0" y="10935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402" b="-31406"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13990320" y="3897516"/>
            <a:ext cx="3429000" cy="834504"/>
            <a:chOff x="0" y="0"/>
            <a:chExt cx="4572000" cy="111267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572000" cy="1112673"/>
            </a:xfrm>
            <a:custGeom>
              <a:avLst/>
              <a:gdLst/>
              <a:ahLst/>
              <a:cxnLst/>
              <a:rect l="l" t="t" r="r" b="b"/>
              <a:pathLst>
                <a:path w="4572000" h="1112673">
                  <a:moveTo>
                    <a:pt x="0" y="0"/>
                  </a:moveTo>
                  <a:lnTo>
                    <a:pt x="4572000" y="0"/>
                  </a:lnTo>
                  <a:lnTo>
                    <a:pt x="4572000" y="1112673"/>
                  </a:lnTo>
                  <a:lnTo>
                    <a:pt x="0" y="11126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064" b="-30064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4572000" cy="1131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4,921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738360" y="5006340"/>
            <a:ext cx="7680960" cy="548640"/>
            <a:chOff x="0" y="0"/>
            <a:chExt cx="10241280" cy="73152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241280" cy="731520"/>
            </a:xfrm>
            <a:custGeom>
              <a:avLst/>
              <a:gdLst/>
              <a:ahLst/>
              <a:cxnLst/>
              <a:rect l="l" t="t" r="r" b="b"/>
              <a:pathLst>
                <a:path w="10241280" h="73152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600" b="-222600"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9738360" y="4970621"/>
            <a:ext cx="7680960" cy="584359"/>
            <a:chOff x="0" y="0"/>
            <a:chExt cx="10241280" cy="779145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0241280" cy="779145"/>
            </a:xfrm>
            <a:custGeom>
              <a:avLst/>
              <a:gdLst/>
              <a:ahLst/>
              <a:cxnLst/>
              <a:rect l="l" t="t" r="r" b="b"/>
              <a:pathLst>
                <a:path w="10241280" h="779145">
                  <a:moveTo>
                    <a:pt x="0" y="0"/>
                  </a:moveTo>
                  <a:lnTo>
                    <a:pt x="10241280" y="0"/>
                  </a:lnTo>
                  <a:lnTo>
                    <a:pt x="1024128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6116" b="-206116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10241280" cy="826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recorded rentals: 58,304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85800" y="8709660"/>
            <a:ext cx="15951708" cy="850392"/>
            <a:chOff x="0" y="0"/>
            <a:chExt cx="21268944" cy="1133856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1268944" cy="1133856"/>
            </a:xfrm>
            <a:custGeom>
              <a:avLst/>
              <a:gdLst/>
              <a:ahLst/>
              <a:cxnLst/>
              <a:rect l="l" t="t" r="r" b="b"/>
              <a:pathLst>
                <a:path w="21268944" h="1133856">
                  <a:moveTo>
                    <a:pt x="0" y="0"/>
                  </a:moveTo>
                  <a:lnTo>
                    <a:pt x="21268944" y="0"/>
                  </a:lnTo>
                  <a:lnTo>
                    <a:pt x="21268944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E4F3F1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685800" y="8709660"/>
            <a:ext cx="82296" cy="850392"/>
            <a:chOff x="0" y="0"/>
            <a:chExt cx="109728" cy="113385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9728" cy="1133856"/>
            </a:xfrm>
            <a:custGeom>
              <a:avLst/>
              <a:gdLst/>
              <a:ahLst/>
              <a:cxnLst/>
              <a:rect l="l" t="t" r="r" b="b"/>
              <a:pathLst>
                <a:path w="109728" h="1133856">
                  <a:moveTo>
                    <a:pt x="0" y="0"/>
                  </a:moveTo>
                  <a:lnTo>
                    <a:pt x="109728" y="0"/>
                  </a:lnTo>
                  <a:lnTo>
                    <a:pt x="109728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1028700" y="8750808"/>
            <a:ext cx="15265908" cy="768096"/>
            <a:chOff x="0" y="0"/>
            <a:chExt cx="20354544" cy="102412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0354544" cy="1024128"/>
            </a:xfrm>
            <a:custGeom>
              <a:avLst/>
              <a:gdLst/>
              <a:ahLst/>
              <a:cxnLst/>
              <a:rect l="l" t="t" r="r" b="b"/>
              <a:pathLst>
                <a:path w="20354544" h="1024128">
                  <a:moveTo>
                    <a:pt x="0" y="0"/>
                  </a:moveTo>
                  <a:lnTo>
                    <a:pt x="20354544" y="0"/>
                  </a:lnTo>
                  <a:lnTo>
                    <a:pt x="203545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6995" b="-336996"/>
              </a:stretch>
            </a:blipFill>
          </p:spPr>
        </p:sp>
      </p:grpSp>
      <p:grpSp>
        <p:nvGrpSpPr>
          <p:cNvPr id="71" name="Group 71"/>
          <p:cNvGrpSpPr/>
          <p:nvPr/>
        </p:nvGrpSpPr>
        <p:grpSpPr>
          <a:xfrm>
            <a:off x="1028700" y="8722233"/>
            <a:ext cx="15265908" cy="796671"/>
            <a:chOff x="0" y="0"/>
            <a:chExt cx="20354544" cy="106222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0354544" cy="1062228"/>
            </a:xfrm>
            <a:custGeom>
              <a:avLst/>
              <a:gdLst/>
              <a:ahLst/>
              <a:cxnLst/>
              <a:rect l="l" t="t" r="r" b="b"/>
              <a:pathLst>
                <a:path w="20354544" h="1062228">
                  <a:moveTo>
                    <a:pt x="0" y="0"/>
                  </a:moveTo>
                  <a:lnTo>
                    <a:pt x="20354544" y="0"/>
                  </a:lnTo>
                  <a:lnTo>
                    <a:pt x="20354544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3374" b="-323374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20354544" cy="1100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26323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Registered rentals represent the large majority of recorded demand (91.6%), while Casual riders made up the other 8.4% of total volume.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76275" y="9789414"/>
            <a:ext cx="10972800" cy="411480"/>
            <a:chOff x="0" y="0"/>
            <a:chExt cx="14630400" cy="54864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240" b="-469238"/>
              </a:stretch>
            </a:blipFill>
          </p:spPr>
        </p:sp>
      </p:grpSp>
      <p:grpSp>
        <p:nvGrpSpPr>
          <p:cNvPr id="76" name="Group 76"/>
          <p:cNvGrpSpPr/>
          <p:nvPr/>
        </p:nvGrpSpPr>
        <p:grpSpPr>
          <a:xfrm>
            <a:off x="676275" y="9767983"/>
            <a:ext cx="10972800" cy="432911"/>
            <a:chOff x="0" y="0"/>
            <a:chExt cx="14630400" cy="577215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4630400" cy="577215"/>
            </a:xfrm>
            <a:custGeom>
              <a:avLst/>
              <a:gdLst/>
              <a:ahLst/>
              <a:cxnLst/>
              <a:rect l="l" t="t" r="r" b="b"/>
              <a:pathLst>
                <a:path w="14630400" h="577215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3878" b="-443878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Bike Sharing Demand Analysis  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23444"/>
            <a:chOff x="0" y="0"/>
            <a:chExt cx="24377904" cy="164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164592"/>
            </a:xfrm>
            <a:custGeom>
              <a:avLst/>
              <a:gdLst/>
              <a:ahLst/>
              <a:cxnLst/>
              <a:rect l="l" t="t" r="r" b="b"/>
              <a:pathLst>
                <a:path w="24377904" h="164592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336032" y="554460"/>
            <a:ext cx="19544043" cy="8962511"/>
            <a:chOff x="0" y="0"/>
            <a:chExt cx="26058724" cy="119500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058750" cy="11950065"/>
            </a:xfrm>
            <a:custGeom>
              <a:avLst/>
              <a:gdLst/>
              <a:ahLst/>
              <a:cxnLst/>
              <a:rect l="l" t="t" r="r" b="b"/>
              <a:pathLst>
                <a:path w="26058750" h="11950065">
                  <a:moveTo>
                    <a:pt x="0" y="0"/>
                  </a:moveTo>
                  <a:lnTo>
                    <a:pt x="26058750" y="0"/>
                  </a:lnTo>
                  <a:lnTo>
                    <a:pt x="26058750" y="11950065"/>
                  </a:lnTo>
                  <a:lnTo>
                    <a:pt x="0" y="119500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" y="438912"/>
            <a:ext cx="12344400" cy="411480"/>
            <a:chOff x="0" y="0"/>
            <a:chExt cx="16459200" cy="5486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85800" y="410337"/>
            <a:ext cx="12344400" cy="440055"/>
            <a:chOff x="0" y="0"/>
            <a:chExt cx="16459200" cy="5867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459200" cy="586740"/>
            </a:xfrm>
            <a:custGeom>
              <a:avLst/>
              <a:gdLst/>
              <a:ahLst/>
              <a:cxnLst/>
              <a:rect l="l" t="t" r="r" b="b"/>
              <a:pathLst>
                <a:path w="16459200" h="586740">
                  <a:moveTo>
                    <a:pt x="0" y="0"/>
                  </a:moveTo>
                  <a:lnTo>
                    <a:pt x="16459200" y="0"/>
                  </a:lnTo>
                  <a:lnTo>
                    <a:pt x="164592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96593" b="-49659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4592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 ·  TIME-OF-DAY ANALYSIS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795528"/>
            <a:ext cx="16870680" cy="960120"/>
            <a:chOff x="0" y="0"/>
            <a:chExt cx="22494240" cy="12801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94239" cy="1280160"/>
            </a:xfrm>
            <a:custGeom>
              <a:avLst/>
              <a:gdLst/>
              <a:ahLst/>
              <a:cxnLst/>
              <a:rect l="l" t="t" r="r" b="b"/>
              <a:pathLst>
                <a:path w="22494239" h="1280160">
                  <a:moveTo>
                    <a:pt x="0" y="0"/>
                  </a:moveTo>
                  <a:lnTo>
                    <a:pt x="22494239" y="0"/>
                  </a:lnTo>
                  <a:lnTo>
                    <a:pt x="224942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2141" b="-29214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85800" y="781240"/>
            <a:ext cx="16870680" cy="974407"/>
            <a:chOff x="0" y="0"/>
            <a:chExt cx="22494240" cy="12992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39" cy="1299210"/>
            </a:xfrm>
            <a:custGeom>
              <a:avLst/>
              <a:gdLst/>
              <a:ahLst/>
              <a:cxnLst/>
              <a:rect l="l" t="t" r="r" b="b"/>
              <a:pathLst>
                <a:path w="22494239" h="1299210">
                  <a:moveTo>
                    <a:pt x="0" y="0"/>
                  </a:moveTo>
                  <a:lnTo>
                    <a:pt x="22494239" y="0"/>
                  </a:lnTo>
                  <a:lnTo>
                    <a:pt x="22494239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87359" b="-28735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2494240" cy="131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Hourly Demand Peaks in the Morning and Evening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676275" y="1755646"/>
            <a:ext cx="1548358" cy="1"/>
          </a:xfrm>
          <a:prstGeom prst="line">
            <a:avLst/>
          </a:prstGeom>
          <a:ln w="19050" cap="rnd">
            <a:solidFill>
              <a:srgbClr val="E9A2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7048988" y="9738360"/>
            <a:ext cx="685800" cy="411480"/>
            <a:chOff x="0" y="0"/>
            <a:chExt cx="914400" cy="5486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036" r="-27034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7048988" y="9716929"/>
            <a:ext cx="685800" cy="432911"/>
            <a:chOff x="0" y="0"/>
            <a:chExt cx="914400" cy="57721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4400" cy="577215"/>
            </a:xfrm>
            <a:custGeom>
              <a:avLst/>
              <a:gdLst/>
              <a:ahLst/>
              <a:cxnLst/>
              <a:rect l="l" t="t" r="r" b="b"/>
              <a:pathLst>
                <a:path w="914400" h="577215">
                  <a:moveTo>
                    <a:pt x="0" y="0"/>
                  </a:moveTo>
                  <a:lnTo>
                    <a:pt x="914400" y="0"/>
                  </a:lnTo>
                  <a:lnTo>
                    <a:pt x="914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991" r="-3099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914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 / 17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167360" y="2880360"/>
            <a:ext cx="2194560" cy="411480"/>
            <a:chOff x="0" y="0"/>
            <a:chExt cx="2926080" cy="5486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926080" cy="548640"/>
            </a:xfrm>
            <a:custGeom>
              <a:avLst/>
              <a:gdLst/>
              <a:ahLst/>
              <a:cxnLst/>
              <a:rect l="l" t="t" r="r" b="b"/>
              <a:pathLst>
                <a:path w="2926080" h="54864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847" b="-53849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3167360" y="2866072"/>
            <a:ext cx="2194560" cy="425768"/>
            <a:chOff x="0" y="0"/>
            <a:chExt cx="2926080" cy="5676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926080" cy="567690"/>
            </a:xfrm>
            <a:custGeom>
              <a:avLst/>
              <a:gdLst/>
              <a:ahLst/>
              <a:cxnLst/>
              <a:rect l="l" t="t" r="r" b="b"/>
              <a:pathLst>
                <a:path w="2926080" h="567690">
                  <a:moveTo>
                    <a:pt x="0" y="0"/>
                  </a:moveTo>
                  <a:lnTo>
                    <a:pt x="2926080" y="0"/>
                  </a:lnTo>
                  <a:lnTo>
                    <a:pt x="292608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0432" b="-50432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29260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E9A2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17:00 → 140.2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486479" y="3549853"/>
            <a:ext cx="2194560" cy="411480"/>
            <a:chOff x="0" y="0"/>
            <a:chExt cx="2926080" cy="5486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926080" cy="548640"/>
            </a:xfrm>
            <a:custGeom>
              <a:avLst/>
              <a:gdLst/>
              <a:ahLst/>
              <a:cxnLst/>
              <a:rect l="l" t="t" r="r" b="b"/>
              <a:pathLst>
                <a:path w="2926080" h="54864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847" b="-53849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7486479" y="3535566"/>
            <a:ext cx="2194560" cy="425768"/>
            <a:chOff x="0" y="0"/>
            <a:chExt cx="2926080" cy="56769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926080" cy="567690"/>
            </a:xfrm>
            <a:custGeom>
              <a:avLst/>
              <a:gdLst/>
              <a:ahLst/>
              <a:cxnLst/>
              <a:rect l="l" t="t" r="r" b="b"/>
              <a:pathLst>
                <a:path w="2926080" h="567690">
                  <a:moveTo>
                    <a:pt x="0" y="0"/>
                  </a:moveTo>
                  <a:lnTo>
                    <a:pt x="2926080" y="0"/>
                  </a:lnTo>
                  <a:lnTo>
                    <a:pt x="292608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0432" b="-50432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29260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08:00 → 128.3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167360" y="3223260"/>
            <a:ext cx="2194560" cy="411480"/>
            <a:chOff x="0" y="0"/>
            <a:chExt cx="2926080" cy="5486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926080" cy="548640"/>
            </a:xfrm>
            <a:custGeom>
              <a:avLst/>
              <a:gdLst/>
              <a:ahLst/>
              <a:cxnLst/>
              <a:rect l="l" t="t" r="r" b="b"/>
              <a:pathLst>
                <a:path w="2926080" h="548640">
                  <a:moveTo>
                    <a:pt x="0" y="0"/>
                  </a:moveTo>
                  <a:lnTo>
                    <a:pt x="2926080" y="0"/>
                  </a:lnTo>
                  <a:lnTo>
                    <a:pt x="2926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847" b="-53849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13167360" y="3208972"/>
            <a:ext cx="2194560" cy="425768"/>
            <a:chOff x="0" y="0"/>
            <a:chExt cx="2926080" cy="56769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926080" cy="567690"/>
            </a:xfrm>
            <a:custGeom>
              <a:avLst/>
              <a:gdLst/>
              <a:ahLst/>
              <a:cxnLst/>
              <a:rect l="l" t="t" r="r" b="b"/>
              <a:pathLst>
                <a:path w="2926080" h="567690">
                  <a:moveTo>
                    <a:pt x="0" y="0"/>
                  </a:moveTo>
                  <a:lnTo>
                    <a:pt x="2926080" y="0"/>
                  </a:lnTo>
                  <a:lnTo>
                    <a:pt x="292608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0432" b="-50432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29260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18:00 → 122.9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5800" y="8709660"/>
            <a:ext cx="15951708" cy="850392"/>
            <a:chOff x="0" y="0"/>
            <a:chExt cx="21268944" cy="113385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268944" cy="1133856"/>
            </a:xfrm>
            <a:custGeom>
              <a:avLst/>
              <a:gdLst/>
              <a:ahLst/>
              <a:cxnLst/>
              <a:rect l="l" t="t" r="r" b="b"/>
              <a:pathLst>
                <a:path w="21268944" h="1133856">
                  <a:moveTo>
                    <a:pt x="0" y="0"/>
                  </a:moveTo>
                  <a:lnTo>
                    <a:pt x="21268944" y="0"/>
                  </a:lnTo>
                  <a:lnTo>
                    <a:pt x="21268944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E4F3F1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685800" y="8709660"/>
            <a:ext cx="82296" cy="850392"/>
            <a:chOff x="0" y="0"/>
            <a:chExt cx="109728" cy="113385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9728" cy="1133856"/>
            </a:xfrm>
            <a:custGeom>
              <a:avLst/>
              <a:gdLst/>
              <a:ahLst/>
              <a:cxnLst/>
              <a:rect l="l" t="t" r="r" b="b"/>
              <a:pathLst>
                <a:path w="109728" h="1133856">
                  <a:moveTo>
                    <a:pt x="0" y="0"/>
                  </a:moveTo>
                  <a:lnTo>
                    <a:pt x="109728" y="0"/>
                  </a:lnTo>
                  <a:lnTo>
                    <a:pt x="109728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028700" y="8750808"/>
            <a:ext cx="15265908" cy="768096"/>
            <a:chOff x="0" y="0"/>
            <a:chExt cx="20354544" cy="102412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0354544" cy="1024128"/>
            </a:xfrm>
            <a:custGeom>
              <a:avLst/>
              <a:gdLst/>
              <a:ahLst/>
              <a:cxnLst/>
              <a:rect l="l" t="t" r="r" b="b"/>
              <a:pathLst>
                <a:path w="20354544" h="1024128">
                  <a:moveTo>
                    <a:pt x="0" y="0"/>
                  </a:moveTo>
                  <a:lnTo>
                    <a:pt x="20354544" y="0"/>
                  </a:lnTo>
                  <a:lnTo>
                    <a:pt x="203545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6995" b="-336996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028700" y="8722233"/>
            <a:ext cx="15265908" cy="796671"/>
            <a:chOff x="0" y="0"/>
            <a:chExt cx="20354544" cy="106222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0354544" cy="1062228"/>
            </a:xfrm>
            <a:custGeom>
              <a:avLst/>
              <a:gdLst/>
              <a:ahLst/>
              <a:cxnLst/>
              <a:rect l="l" t="t" r="r" b="b"/>
              <a:pathLst>
                <a:path w="20354544" h="1062228">
                  <a:moveTo>
                    <a:pt x="0" y="0"/>
                  </a:moveTo>
                  <a:lnTo>
                    <a:pt x="20354544" y="0"/>
                  </a:lnTo>
                  <a:lnTo>
                    <a:pt x="20354544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23374" b="-323374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20354544" cy="1100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26323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average demand peaks at 5 p.m. and 8 a.m. In particular, the demand is very low in the early morning hours, with about 2.16 rentals at 4:00 AM.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76275" y="9789414"/>
            <a:ext cx="10972800" cy="411480"/>
            <a:chOff x="0" y="0"/>
            <a:chExt cx="14630400" cy="5486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9240" b="-469238"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676275" y="9767983"/>
            <a:ext cx="10972800" cy="432911"/>
            <a:chOff x="0" y="0"/>
            <a:chExt cx="14630400" cy="57721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630400" cy="577215"/>
            </a:xfrm>
            <a:custGeom>
              <a:avLst/>
              <a:gdLst/>
              <a:ahLst/>
              <a:cxnLst/>
              <a:rect l="l" t="t" r="r" b="b"/>
              <a:pathLst>
                <a:path w="14630400" h="577215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43878" b="-443878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Bike Sharing Demand Analysis 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23444"/>
            <a:chOff x="0" y="0"/>
            <a:chExt cx="24377904" cy="164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164592"/>
            </a:xfrm>
            <a:custGeom>
              <a:avLst/>
              <a:gdLst/>
              <a:ahLst/>
              <a:cxnLst/>
              <a:rect l="l" t="t" r="r" b="b"/>
              <a:pathLst>
                <a:path w="24377904" h="164592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336032" y="760962"/>
            <a:ext cx="19544043" cy="8882196"/>
            <a:chOff x="0" y="0"/>
            <a:chExt cx="26058724" cy="118429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058750" cy="11842877"/>
            </a:xfrm>
            <a:custGeom>
              <a:avLst/>
              <a:gdLst/>
              <a:ahLst/>
              <a:cxnLst/>
              <a:rect l="l" t="t" r="r" b="b"/>
              <a:pathLst>
                <a:path w="26058750" h="11842877">
                  <a:moveTo>
                    <a:pt x="0" y="0"/>
                  </a:moveTo>
                  <a:lnTo>
                    <a:pt x="26058750" y="0"/>
                  </a:lnTo>
                  <a:lnTo>
                    <a:pt x="26058750" y="11842877"/>
                  </a:lnTo>
                  <a:lnTo>
                    <a:pt x="0" y="11842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2" b="-2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" y="438912"/>
            <a:ext cx="12344400" cy="411480"/>
            <a:chOff x="0" y="0"/>
            <a:chExt cx="16459200" cy="5486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85800" y="410337"/>
            <a:ext cx="12344400" cy="440055"/>
            <a:chOff x="0" y="0"/>
            <a:chExt cx="16459200" cy="5867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459200" cy="586740"/>
            </a:xfrm>
            <a:custGeom>
              <a:avLst/>
              <a:gdLst/>
              <a:ahLst/>
              <a:cxnLst/>
              <a:rect l="l" t="t" r="r" b="b"/>
              <a:pathLst>
                <a:path w="16459200" h="586740">
                  <a:moveTo>
                    <a:pt x="0" y="0"/>
                  </a:moveTo>
                  <a:lnTo>
                    <a:pt x="16459200" y="0"/>
                  </a:lnTo>
                  <a:lnTo>
                    <a:pt x="164592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96593" b="-49659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4592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 ·  RIDER BEHAVIOR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795528"/>
            <a:ext cx="16870680" cy="960120"/>
            <a:chOff x="0" y="0"/>
            <a:chExt cx="22494240" cy="12801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94239" cy="1280160"/>
            </a:xfrm>
            <a:custGeom>
              <a:avLst/>
              <a:gdLst/>
              <a:ahLst/>
              <a:cxnLst/>
              <a:rect l="l" t="t" r="r" b="b"/>
              <a:pathLst>
                <a:path w="22494239" h="1280160">
                  <a:moveTo>
                    <a:pt x="0" y="0"/>
                  </a:moveTo>
                  <a:lnTo>
                    <a:pt x="22494239" y="0"/>
                  </a:lnTo>
                  <a:lnTo>
                    <a:pt x="224942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2141" b="-29214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85800" y="781240"/>
            <a:ext cx="16870680" cy="974407"/>
            <a:chOff x="0" y="0"/>
            <a:chExt cx="22494240" cy="12992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39" cy="1299210"/>
            </a:xfrm>
            <a:custGeom>
              <a:avLst/>
              <a:gdLst/>
              <a:ahLst/>
              <a:cxnLst/>
              <a:rect l="l" t="t" r="r" b="b"/>
              <a:pathLst>
                <a:path w="22494239" h="1299210">
                  <a:moveTo>
                    <a:pt x="0" y="0"/>
                  </a:moveTo>
                  <a:lnTo>
                    <a:pt x="22494239" y="0"/>
                  </a:lnTo>
                  <a:lnTo>
                    <a:pt x="22494239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87359" b="-28735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2494240" cy="131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Casual and Registered Riders Follow Different Daily Patterns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685800" y="1755646"/>
            <a:ext cx="1600200" cy="1"/>
          </a:xfrm>
          <a:prstGeom prst="line">
            <a:avLst/>
          </a:prstGeom>
          <a:ln w="19050" cap="rnd">
            <a:solidFill>
              <a:srgbClr val="E9A2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7048988" y="9738360"/>
            <a:ext cx="685800" cy="411480"/>
            <a:chOff x="0" y="0"/>
            <a:chExt cx="914400" cy="5486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036" r="-27034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7048988" y="9716929"/>
            <a:ext cx="685800" cy="432911"/>
            <a:chOff x="0" y="0"/>
            <a:chExt cx="914400" cy="57721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4400" cy="577215"/>
            </a:xfrm>
            <a:custGeom>
              <a:avLst/>
              <a:gdLst/>
              <a:ahLst/>
              <a:cxnLst/>
              <a:rect l="l" t="t" r="r" b="b"/>
              <a:pathLst>
                <a:path w="914400" h="577215">
                  <a:moveTo>
                    <a:pt x="0" y="0"/>
                  </a:moveTo>
                  <a:lnTo>
                    <a:pt x="914400" y="0"/>
                  </a:lnTo>
                  <a:lnTo>
                    <a:pt x="914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991" r="-3099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914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 / 17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5800" y="8709660"/>
            <a:ext cx="15951708" cy="850392"/>
            <a:chOff x="0" y="0"/>
            <a:chExt cx="21268944" cy="113385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268944" cy="1133856"/>
            </a:xfrm>
            <a:custGeom>
              <a:avLst/>
              <a:gdLst/>
              <a:ahLst/>
              <a:cxnLst/>
              <a:rect l="l" t="t" r="r" b="b"/>
              <a:pathLst>
                <a:path w="21268944" h="1133856">
                  <a:moveTo>
                    <a:pt x="0" y="0"/>
                  </a:moveTo>
                  <a:lnTo>
                    <a:pt x="21268944" y="0"/>
                  </a:lnTo>
                  <a:lnTo>
                    <a:pt x="21268944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E4F3F1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85800" y="8709660"/>
            <a:ext cx="82296" cy="850392"/>
            <a:chOff x="0" y="0"/>
            <a:chExt cx="109728" cy="113385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9728" cy="1133856"/>
            </a:xfrm>
            <a:custGeom>
              <a:avLst/>
              <a:gdLst/>
              <a:ahLst/>
              <a:cxnLst/>
              <a:rect l="l" t="t" r="r" b="b"/>
              <a:pathLst>
                <a:path w="109728" h="1133856">
                  <a:moveTo>
                    <a:pt x="0" y="0"/>
                  </a:moveTo>
                  <a:lnTo>
                    <a:pt x="109728" y="0"/>
                  </a:lnTo>
                  <a:lnTo>
                    <a:pt x="109728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028700" y="8750808"/>
            <a:ext cx="15265908" cy="768096"/>
            <a:chOff x="0" y="0"/>
            <a:chExt cx="20354544" cy="102412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354544" cy="1024128"/>
            </a:xfrm>
            <a:custGeom>
              <a:avLst/>
              <a:gdLst/>
              <a:ahLst/>
              <a:cxnLst/>
              <a:rect l="l" t="t" r="r" b="b"/>
              <a:pathLst>
                <a:path w="20354544" h="1024128">
                  <a:moveTo>
                    <a:pt x="0" y="0"/>
                  </a:moveTo>
                  <a:lnTo>
                    <a:pt x="20354544" y="0"/>
                  </a:lnTo>
                  <a:lnTo>
                    <a:pt x="203545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6995" b="-336996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925701" y="8846487"/>
            <a:ext cx="15265908" cy="796671"/>
            <a:chOff x="0" y="0"/>
            <a:chExt cx="20354544" cy="106222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354544" cy="1062228"/>
            </a:xfrm>
            <a:custGeom>
              <a:avLst/>
              <a:gdLst/>
              <a:ahLst/>
              <a:cxnLst/>
              <a:rect l="l" t="t" r="r" b="b"/>
              <a:pathLst>
                <a:path w="20354544" h="1062228">
                  <a:moveTo>
                    <a:pt x="0" y="0"/>
                  </a:moveTo>
                  <a:lnTo>
                    <a:pt x="20354544" y="0"/>
                  </a:lnTo>
                  <a:lnTo>
                    <a:pt x="20354544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23374" b="-323374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0354544" cy="1100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26323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Registered riders’ usage is primarily in the morning and evening, while casual riders’ usage is more common around midday and in the afternoon.</a:t>
              </a:r>
            </a:p>
            <a:p>
              <a:pPr algn="l">
                <a:lnSpc>
                  <a:spcPts val="2250"/>
                </a:lnSpc>
              </a:pPr>
              <a:endParaRPr lang="en-US" sz="1875" i="1">
                <a:solidFill>
                  <a:srgbClr val="26323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6275" y="9789414"/>
            <a:ext cx="10972800" cy="411480"/>
            <a:chOff x="0" y="0"/>
            <a:chExt cx="14630400" cy="5486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9240" b="-469238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676275" y="9767983"/>
            <a:ext cx="10972800" cy="432911"/>
            <a:chOff x="0" y="0"/>
            <a:chExt cx="14630400" cy="57721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630400" cy="577215"/>
            </a:xfrm>
            <a:custGeom>
              <a:avLst/>
              <a:gdLst/>
              <a:ahLst/>
              <a:cxnLst/>
              <a:rect l="l" t="t" r="r" b="b"/>
              <a:pathLst>
                <a:path w="14630400" h="577215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43878" b="-443878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Bike Sharing Demand Analysis 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23444"/>
            <a:chOff x="0" y="0"/>
            <a:chExt cx="24377904" cy="164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164592"/>
            </a:xfrm>
            <a:custGeom>
              <a:avLst/>
              <a:gdLst/>
              <a:ahLst/>
              <a:cxnLst/>
              <a:rect l="l" t="t" r="r" b="b"/>
              <a:pathLst>
                <a:path w="24377904" h="164592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438912"/>
            <a:ext cx="12344400" cy="411480"/>
            <a:chOff x="0" y="0"/>
            <a:chExt cx="1645920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" y="410337"/>
            <a:ext cx="12344400" cy="440055"/>
            <a:chOff x="0" y="0"/>
            <a:chExt cx="16459200" cy="5867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00" cy="586740"/>
            </a:xfrm>
            <a:custGeom>
              <a:avLst/>
              <a:gdLst/>
              <a:ahLst/>
              <a:cxnLst/>
              <a:rect l="l" t="t" r="r" b="b"/>
              <a:pathLst>
                <a:path w="16459200" h="586740">
                  <a:moveTo>
                    <a:pt x="0" y="0"/>
                  </a:moveTo>
                  <a:lnTo>
                    <a:pt x="16459200" y="0"/>
                  </a:lnTo>
                  <a:lnTo>
                    <a:pt x="164592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6593" b="-49659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592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 ·  TIME-TYPE ANALYSIS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6275" y="966616"/>
            <a:ext cx="16870680" cy="765219"/>
            <a:chOff x="0" y="0"/>
            <a:chExt cx="22494240" cy="10202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94239" cy="1020318"/>
            </a:xfrm>
            <a:custGeom>
              <a:avLst/>
              <a:gdLst/>
              <a:ahLst/>
              <a:cxnLst/>
              <a:rect l="l" t="t" r="r" b="b"/>
              <a:pathLst>
                <a:path w="22494239" h="1020318">
                  <a:moveTo>
                    <a:pt x="0" y="0"/>
                  </a:moveTo>
                  <a:lnTo>
                    <a:pt x="22494239" y="0"/>
                  </a:lnTo>
                  <a:lnTo>
                    <a:pt x="22494239" y="1020318"/>
                  </a:lnTo>
                  <a:lnTo>
                    <a:pt x="0" y="10203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9275" b="-37927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048988" y="9738360"/>
            <a:ext cx="685800" cy="411480"/>
            <a:chOff x="0" y="0"/>
            <a:chExt cx="914400" cy="5486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36" r="-27034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7048988" y="9716929"/>
            <a:ext cx="685800" cy="432911"/>
            <a:chOff x="0" y="0"/>
            <a:chExt cx="914400" cy="57721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14400" cy="577215"/>
            </a:xfrm>
            <a:custGeom>
              <a:avLst/>
              <a:gdLst/>
              <a:ahLst/>
              <a:cxnLst/>
              <a:rect l="l" t="t" r="r" b="b"/>
              <a:pathLst>
                <a:path w="914400" h="577215">
                  <a:moveTo>
                    <a:pt x="0" y="0"/>
                  </a:moveTo>
                  <a:lnTo>
                    <a:pt x="914400" y="0"/>
                  </a:lnTo>
                  <a:lnTo>
                    <a:pt x="914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991" r="-30991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914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 / 17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13766" y="1865808"/>
            <a:ext cx="9112690" cy="5862726"/>
            <a:chOff x="0" y="0"/>
            <a:chExt cx="11867667" cy="76351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867642" cy="7635113"/>
            </a:xfrm>
            <a:custGeom>
              <a:avLst/>
              <a:gdLst/>
              <a:ahLst/>
              <a:cxnLst/>
              <a:rect l="l" t="t" r="r" b="b"/>
              <a:pathLst>
                <a:path w="11867642" h="7635113">
                  <a:moveTo>
                    <a:pt x="0" y="0"/>
                  </a:moveTo>
                  <a:lnTo>
                    <a:pt x="11867642" y="0"/>
                  </a:lnTo>
                  <a:lnTo>
                    <a:pt x="11867642" y="7635113"/>
                  </a:lnTo>
                  <a:lnTo>
                    <a:pt x="0" y="7635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" b="-9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688543" y="2499312"/>
            <a:ext cx="8092440" cy="411480"/>
            <a:chOff x="0" y="0"/>
            <a:chExt cx="10789920" cy="548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89920" cy="548640"/>
            </a:xfrm>
            <a:custGeom>
              <a:avLst/>
              <a:gdLst/>
              <a:ahLst/>
              <a:cxnLst/>
              <a:rect l="l" t="t" r="r" b="b"/>
              <a:pathLst>
                <a:path w="10789920" h="548640">
                  <a:moveTo>
                    <a:pt x="0" y="0"/>
                  </a:moveTo>
                  <a:lnTo>
                    <a:pt x="10789920" y="0"/>
                  </a:lnTo>
                  <a:lnTo>
                    <a:pt x="10789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939" b="-332939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723891" y="2157665"/>
            <a:ext cx="8092440" cy="432911"/>
            <a:chOff x="0" y="0"/>
            <a:chExt cx="10789920" cy="57721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789920" cy="577215"/>
            </a:xfrm>
            <a:custGeom>
              <a:avLst/>
              <a:gdLst/>
              <a:ahLst/>
              <a:cxnLst/>
              <a:rect l="l" t="t" r="r" b="b"/>
              <a:pathLst>
                <a:path w="10789920" h="577215">
                  <a:moveTo>
                    <a:pt x="0" y="0"/>
                  </a:moveTo>
                  <a:lnTo>
                    <a:pt x="10789920" y="0"/>
                  </a:lnTo>
                  <a:lnTo>
                    <a:pt x="1078992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14235" b="-314235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078992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74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DAY TYPE COMPARISON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 flipV="1">
            <a:off x="723899" y="2482316"/>
            <a:ext cx="7536856" cy="12234"/>
          </a:xfrm>
          <a:prstGeom prst="line">
            <a:avLst/>
          </a:prstGeom>
          <a:ln w="9525" cap="rnd">
            <a:solidFill>
              <a:srgbClr val="E7ECF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>
            <a:off x="8839822" y="1855666"/>
            <a:ext cx="9234412" cy="5902513"/>
            <a:chOff x="0" y="0"/>
            <a:chExt cx="12026189" cy="76869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026138" cy="7686929"/>
            </a:xfrm>
            <a:custGeom>
              <a:avLst/>
              <a:gdLst/>
              <a:ahLst/>
              <a:cxnLst/>
              <a:rect l="l" t="t" r="r" b="b"/>
              <a:pathLst>
                <a:path w="12026138" h="7686929">
                  <a:moveTo>
                    <a:pt x="0" y="0"/>
                  </a:moveTo>
                  <a:lnTo>
                    <a:pt x="12026138" y="0"/>
                  </a:lnTo>
                  <a:lnTo>
                    <a:pt x="12026138" y="7686929"/>
                  </a:lnTo>
                  <a:lnTo>
                    <a:pt x="0" y="7686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5" r="-25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9466783" y="2499312"/>
            <a:ext cx="8092440" cy="411480"/>
            <a:chOff x="0" y="0"/>
            <a:chExt cx="10789920" cy="5486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789920" cy="548640"/>
            </a:xfrm>
            <a:custGeom>
              <a:avLst/>
              <a:gdLst/>
              <a:ahLst/>
              <a:cxnLst/>
              <a:rect l="l" t="t" r="r" b="b"/>
              <a:pathLst>
                <a:path w="10789920" h="548640">
                  <a:moveTo>
                    <a:pt x="0" y="0"/>
                  </a:moveTo>
                  <a:lnTo>
                    <a:pt x="10789920" y="0"/>
                  </a:lnTo>
                  <a:lnTo>
                    <a:pt x="10789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939" b="-332939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9466783" y="2157665"/>
            <a:ext cx="8092440" cy="432911"/>
            <a:chOff x="0" y="0"/>
            <a:chExt cx="10789920" cy="57721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789920" cy="577215"/>
            </a:xfrm>
            <a:custGeom>
              <a:avLst/>
              <a:gdLst/>
              <a:ahLst/>
              <a:cxnLst/>
              <a:rect l="l" t="t" r="r" b="b"/>
              <a:pathLst>
                <a:path w="10789920" h="577215">
                  <a:moveTo>
                    <a:pt x="0" y="0"/>
                  </a:moveTo>
                  <a:lnTo>
                    <a:pt x="10789920" y="0"/>
                  </a:lnTo>
                  <a:lnTo>
                    <a:pt x="1078992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14235" b="-314235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1078992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74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WORKING DAY COMPARISON</a:t>
              </a:r>
            </a:p>
          </p:txBody>
        </p:sp>
      </p:grpSp>
      <p:sp>
        <p:nvSpPr>
          <p:cNvPr id="31" name="AutoShape 31"/>
          <p:cNvSpPr/>
          <p:nvPr/>
        </p:nvSpPr>
        <p:spPr>
          <a:xfrm>
            <a:off x="9425911" y="2574798"/>
            <a:ext cx="8121038" cy="9497"/>
          </a:xfrm>
          <a:prstGeom prst="line">
            <a:avLst/>
          </a:prstGeom>
          <a:ln w="9525" cap="rnd">
            <a:solidFill>
              <a:srgbClr val="E7ECF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2" name="Group 32"/>
          <p:cNvGrpSpPr/>
          <p:nvPr/>
        </p:nvGrpSpPr>
        <p:grpSpPr>
          <a:xfrm>
            <a:off x="688543" y="7025592"/>
            <a:ext cx="16870680" cy="411480"/>
            <a:chOff x="0" y="0"/>
            <a:chExt cx="22494240" cy="5486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2494239" cy="548640"/>
            </a:xfrm>
            <a:custGeom>
              <a:avLst/>
              <a:gdLst/>
              <a:ahLst/>
              <a:cxnLst/>
              <a:rect l="l" t="t" r="r" b="b"/>
              <a:pathLst>
                <a:path w="22494239" h="548640">
                  <a:moveTo>
                    <a:pt x="0" y="0"/>
                  </a:moveTo>
                  <a:lnTo>
                    <a:pt x="22494239" y="0"/>
                  </a:lnTo>
                  <a:lnTo>
                    <a:pt x="22494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8331" b="-748331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676275" y="9789414"/>
            <a:ext cx="10972800" cy="411480"/>
            <a:chOff x="0" y="0"/>
            <a:chExt cx="14630400" cy="5486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240" b="-469238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676275" y="9767983"/>
            <a:ext cx="10972800" cy="432911"/>
            <a:chOff x="0" y="0"/>
            <a:chExt cx="14630400" cy="57721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630400" cy="577215"/>
            </a:xfrm>
            <a:custGeom>
              <a:avLst/>
              <a:gdLst/>
              <a:ahLst/>
              <a:cxnLst/>
              <a:rect l="l" t="t" r="r" b="b"/>
              <a:pathLst>
                <a:path w="14630400" h="577215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3878" b="-443878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Bike Sharing Demand Analysis  </a:t>
              </a:r>
            </a:p>
          </p:txBody>
        </p:sp>
      </p:grpSp>
      <p:sp>
        <p:nvSpPr>
          <p:cNvPr id="39" name="AutoShape 39"/>
          <p:cNvSpPr/>
          <p:nvPr/>
        </p:nvSpPr>
        <p:spPr>
          <a:xfrm>
            <a:off x="676275" y="1731836"/>
            <a:ext cx="1548505" cy="0"/>
          </a:xfrm>
          <a:prstGeom prst="line">
            <a:avLst/>
          </a:prstGeom>
          <a:ln w="19050" cap="rnd">
            <a:solidFill>
              <a:srgbClr val="E9A2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0" name="Group 40"/>
          <p:cNvGrpSpPr/>
          <p:nvPr/>
        </p:nvGrpSpPr>
        <p:grpSpPr>
          <a:xfrm>
            <a:off x="840943" y="7177992"/>
            <a:ext cx="16870680" cy="411480"/>
            <a:chOff x="0" y="0"/>
            <a:chExt cx="22494240" cy="5486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2494239" cy="548640"/>
            </a:xfrm>
            <a:custGeom>
              <a:avLst/>
              <a:gdLst/>
              <a:ahLst/>
              <a:cxnLst/>
              <a:rect l="l" t="t" r="r" b="b"/>
              <a:pathLst>
                <a:path w="22494239" h="548640">
                  <a:moveTo>
                    <a:pt x="0" y="0"/>
                  </a:moveTo>
                  <a:lnTo>
                    <a:pt x="22494239" y="0"/>
                  </a:lnTo>
                  <a:lnTo>
                    <a:pt x="224942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8331" b="-748331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032967" y="7767780"/>
            <a:ext cx="3730752" cy="493776"/>
            <a:chOff x="0" y="0"/>
            <a:chExt cx="4974336" cy="65836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974336" cy="658368"/>
            </a:xfrm>
            <a:custGeom>
              <a:avLst/>
              <a:gdLst/>
              <a:ahLst/>
              <a:cxnLst/>
              <a:rect l="l" t="t" r="r" b="b"/>
              <a:pathLst>
                <a:path w="4974336" h="658368">
                  <a:moveTo>
                    <a:pt x="0" y="0"/>
                  </a:moveTo>
                  <a:lnTo>
                    <a:pt x="4974336" y="0"/>
                  </a:lnTo>
                  <a:lnTo>
                    <a:pt x="497433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18" b="-97118"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978103" y="8467296"/>
            <a:ext cx="3840480" cy="630936"/>
            <a:chOff x="0" y="0"/>
            <a:chExt cx="5120640" cy="84124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120640" cy="841248"/>
            </a:xfrm>
            <a:custGeom>
              <a:avLst/>
              <a:gdLst/>
              <a:ahLst/>
              <a:cxnLst/>
              <a:rect l="l" t="t" r="r" b="b"/>
              <a:pathLst>
                <a:path w="5120640" h="841248">
                  <a:moveTo>
                    <a:pt x="0" y="0"/>
                  </a:moveTo>
                  <a:lnTo>
                    <a:pt x="5120640" y="0"/>
                  </a:lnTo>
                  <a:lnTo>
                    <a:pt x="51206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522" b="-68522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5353507" y="7767780"/>
            <a:ext cx="3730752" cy="493776"/>
            <a:chOff x="0" y="0"/>
            <a:chExt cx="4974336" cy="65836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974336" cy="658368"/>
            </a:xfrm>
            <a:custGeom>
              <a:avLst/>
              <a:gdLst/>
              <a:ahLst/>
              <a:cxnLst/>
              <a:rect l="l" t="t" r="r" b="b"/>
              <a:pathLst>
                <a:path w="4974336" h="658368">
                  <a:moveTo>
                    <a:pt x="0" y="0"/>
                  </a:moveTo>
                  <a:lnTo>
                    <a:pt x="4974336" y="0"/>
                  </a:lnTo>
                  <a:lnTo>
                    <a:pt x="497433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18" b="-97118"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5298643" y="8467296"/>
            <a:ext cx="3840480" cy="630936"/>
            <a:chOff x="0" y="0"/>
            <a:chExt cx="5120640" cy="84124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120640" cy="841248"/>
            </a:xfrm>
            <a:custGeom>
              <a:avLst/>
              <a:gdLst/>
              <a:ahLst/>
              <a:cxnLst/>
              <a:rect l="l" t="t" r="r" b="b"/>
              <a:pathLst>
                <a:path w="5120640" h="841248">
                  <a:moveTo>
                    <a:pt x="0" y="0"/>
                  </a:moveTo>
                  <a:lnTo>
                    <a:pt x="5120640" y="0"/>
                  </a:lnTo>
                  <a:lnTo>
                    <a:pt x="51206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522" b="-68522"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9797405" y="7767780"/>
            <a:ext cx="3511972" cy="493776"/>
            <a:chOff x="0" y="0"/>
            <a:chExt cx="4682630" cy="65836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682617" cy="658368"/>
            </a:xfrm>
            <a:custGeom>
              <a:avLst/>
              <a:gdLst/>
              <a:ahLst/>
              <a:cxnLst/>
              <a:rect l="l" t="t" r="r" b="b"/>
              <a:pathLst>
                <a:path w="4682617" h="658368">
                  <a:moveTo>
                    <a:pt x="0" y="0"/>
                  </a:moveTo>
                  <a:lnTo>
                    <a:pt x="4682617" y="0"/>
                  </a:lnTo>
                  <a:lnTo>
                    <a:pt x="4682617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491" b="-88489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9745761" y="8467296"/>
            <a:ext cx="3615271" cy="630936"/>
            <a:chOff x="0" y="0"/>
            <a:chExt cx="4820361" cy="84124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820412" cy="841248"/>
            </a:xfrm>
            <a:custGeom>
              <a:avLst/>
              <a:gdLst/>
              <a:ahLst/>
              <a:cxnLst/>
              <a:rect l="l" t="t" r="r" b="b"/>
              <a:pathLst>
                <a:path w="4820412" h="841248">
                  <a:moveTo>
                    <a:pt x="0" y="0"/>
                  </a:moveTo>
                  <a:lnTo>
                    <a:pt x="4820412" y="0"/>
                  </a:lnTo>
                  <a:lnTo>
                    <a:pt x="482041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571" r="1" b="-61571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13924902" y="7767780"/>
            <a:ext cx="3511972" cy="493776"/>
            <a:chOff x="0" y="0"/>
            <a:chExt cx="4682630" cy="65836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682617" cy="658368"/>
            </a:xfrm>
            <a:custGeom>
              <a:avLst/>
              <a:gdLst/>
              <a:ahLst/>
              <a:cxnLst/>
              <a:rect l="l" t="t" r="r" b="b"/>
              <a:pathLst>
                <a:path w="4682617" h="658368">
                  <a:moveTo>
                    <a:pt x="0" y="0"/>
                  </a:moveTo>
                  <a:lnTo>
                    <a:pt x="4682617" y="0"/>
                  </a:lnTo>
                  <a:lnTo>
                    <a:pt x="4682617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8491" b="-88489"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13873258" y="8467296"/>
            <a:ext cx="3615271" cy="630936"/>
            <a:chOff x="0" y="0"/>
            <a:chExt cx="4820361" cy="84124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820412" cy="841248"/>
            </a:xfrm>
            <a:custGeom>
              <a:avLst/>
              <a:gdLst/>
              <a:ahLst/>
              <a:cxnLst/>
              <a:rect l="l" t="t" r="r" b="b"/>
              <a:pathLst>
                <a:path w="4820412" h="841248">
                  <a:moveTo>
                    <a:pt x="0" y="0"/>
                  </a:moveTo>
                  <a:lnTo>
                    <a:pt x="4820412" y="0"/>
                  </a:lnTo>
                  <a:lnTo>
                    <a:pt x="482041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571" r="1" b="-61571"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688543" y="7213711"/>
            <a:ext cx="16899267" cy="1941671"/>
            <a:chOff x="0" y="0"/>
            <a:chExt cx="22532356" cy="2588895"/>
          </a:xfrm>
        </p:grpSpPr>
        <p:grpSp>
          <p:nvGrpSpPr>
            <p:cNvPr id="59" name="Group 59"/>
            <p:cNvGrpSpPr/>
            <p:nvPr/>
          </p:nvGrpSpPr>
          <p:grpSpPr>
            <a:xfrm>
              <a:off x="19064" y="0"/>
              <a:ext cx="22494240" cy="577215"/>
              <a:chOff x="0" y="0"/>
              <a:chExt cx="22494240" cy="57721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22494239" cy="577215"/>
              </a:xfrm>
              <a:custGeom>
                <a:avLst/>
                <a:gdLst/>
                <a:ahLst/>
                <a:cxnLst/>
                <a:rect l="l" t="t" r="r" b="b"/>
                <a:pathLst>
                  <a:path w="22494239" h="577215">
                    <a:moveTo>
                      <a:pt x="0" y="0"/>
                    </a:moveTo>
                    <a:lnTo>
                      <a:pt x="22494239" y="0"/>
                    </a:lnTo>
                    <a:lnTo>
                      <a:pt x="22494239" y="577215"/>
                    </a:lnTo>
                    <a:lnTo>
                      <a:pt x="0" y="577215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709337" b="-709337"/>
                </a:stretch>
              </a:blipFill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0" y="-28575"/>
                <a:ext cx="22494240" cy="60579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980"/>
                  </a:lnSpc>
                </a:pPr>
                <a:r>
                  <a:rPr lang="en-US" sz="1650" b="1" spc="74">
                    <a:solidFill>
                      <a:srgbClr val="173F5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DAY OF WEEK &amp; HOLIDAY SNAPSHOT</a:t>
                </a:r>
              </a:p>
            </p:txBody>
          </p:sp>
        </p:grpSp>
        <p:sp>
          <p:nvSpPr>
            <p:cNvPr id="62" name="AutoShape 62"/>
            <p:cNvSpPr/>
            <p:nvPr/>
          </p:nvSpPr>
          <p:spPr>
            <a:xfrm rot="1919">
              <a:off x="2" y="601091"/>
              <a:ext cx="22532353" cy="0"/>
            </a:xfrm>
            <a:prstGeom prst="line">
              <a:avLst/>
            </a:prstGeom>
            <a:ln w="12700" cap="rnd">
              <a:solidFill>
                <a:srgbClr val="E7ECF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19064" y="760095"/>
              <a:ext cx="5486400" cy="768096"/>
              <a:chOff x="0" y="0"/>
              <a:chExt cx="5486400" cy="76809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5486400" cy="768096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68096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5376672" y="0"/>
                    </a:lnTo>
                    <a:cubicBezTo>
                      <a:pt x="5437251" y="0"/>
                      <a:pt x="5486400" y="49149"/>
                      <a:pt x="5486400" y="109728"/>
                    </a:cubicBezTo>
                    <a:lnTo>
                      <a:pt x="5486400" y="658368"/>
                    </a:lnTo>
                    <a:cubicBezTo>
                      <a:pt x="5486400" y="718947"/>
                      <a:pt x="5437251" y="768096"/>
                      <a:pt x="5376672" y="768096"/>
                    </a:cubicBezTo>
                    <a:lnTo>
                      <a:pt x="109728" y="768096"/>
                    </a:lnTo>
                    <a:cubicBezTo>
                      <a:pt x="49149" y="768096"/>
                      <a:pt x="0" y="718947"/>
                      <a:pt x="0" y="658368"/>
                    </a:cubicBezTo>
                    <a:close/>
                  </a:path>
                </a:pathLst>
              </a:custGeom>
              <a:solidFill>
                <a:srgbClr val="E4F3F1"/>
              </a:solidFill>
            </p:spPr>
          </p:sp>
        </p:grpSp>
        <p:grpSp>
          <p:nvGrpSpPr>
            <p:cNvPr id="65" name="Group 65"/>
            <p:cNvGrpSpPr/>
            <p:nvPr/>
          </p:nvGrpSpPr>
          <p:grpSpPr>
            <a:xfrm>
              <a:off x="275096" y="786384"/>
              <a:ext cx="4974336" cy="686943"/>
              <a:chOff x="0" y="0"/>
              <a:chExt cx="4974336" cy="68694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4974336" cy="686943"/>
              </a:xfrm>
              <a:custGeom>
                <a:avLst/>
                <a:gdLst/>
                <a:ahLst/>
                <a:cxnLst/>
                <a:rect l="l" t="t" r="r" b="b"/>
                <a:pathLst>
                  <a:path w="4974336" h="686943">
                    <a:moveTo>
                      <a:pt x="0" y="0"/>
                    </a:moveTo>
                    <a:lnTo>
                      <a:pt x="4974336" y="0"/>
                    </a:lnTo>
                    <a:lnTo>
                      <a:pt x="4974336" y="686943"/>
                    </a:lnTo>
                    <a:lnTo>
                      <a:pt x="0" y="686943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91096" b="-91096"/>
                </a:stretch>
              </a:blip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0" y="-28575"/>
                <a:ext cx="4974336" cy="71551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980"/>
                  </a:lnSpc>
                </a:pPr>
                <a:r>
                  <a:rPr lang="en-US" sz="1650" b="1">
                    <a:solidFill>
                      <a:srgbClr val="173F5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Thursday — highest day of week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 rot="-10800000">
              <a:off x="2506232" y="1509903"/>
              <a:ext cx="512064" cy="256032"/>
              <a:chOff x="0" y="0"/>
              <a:chExt cx="512064" cy="256032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512064" cy="256032"/>
              </a:xfrm>
              <a:custGeom>
                <a:avLst/>
                <a:gdLst/>
                <a:ahLst/>
                <a:cxnLst/>
                <a:rect l="l" t="t" r="r" b="b"/>
                <a:pathLst>
                  <a:path w="512064" h="256032">
                    <a:moveTo>
                      <a:pt x="0" y="256032"/>
                    </a:moveTo>
                    <a:lnTo>
                      <a:pt x="256032" y="0"/>
                    </a:lnTo>
                    <a:lnTo>
                      <a:pt x="512064" y="256032"/>
                    </a:lnTo>
                    <a:close/>
                  </a:path>
                </a:pathLst>
              </a:custGeom>
              <a:solidFill>
                <a:srgbClr val="2A9D8F"/>
              </a:solidFill>
            </p:spPr>
          </p:sp>
        </p:grpSp>
        <p:grpSp>
          <p:nvGrpSpPr>
            <p:cNvPr id="70" name="Group 70"/>
            <p:cNvGrpSpPr/>
            <p:nvPr/>
          </p:nvGrpSpPr>
          <p:grpSpPr>
            <a:xfrm>
              <a:off x="19064" y="1747647"/>
              <a:ext cx="5486400" cy="841248"/>
              <a:chOff x="0" y="0"/>
              <a:chExt cx="5486400" cy="841248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5486400" cy="841248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841248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5376672" y="0"/>
                    </a:lnTo>
                    <a:cubicBezTo>
                      <a:pt x="5437251" y="0"/>
                      <a:pt x="5486400" y="49149"/>
                      <a:pt x="5486400" y="109728"/>
                    </a:cubicBezTo>
                    <a:lnTo>
                      <a:pt x="5486400" y="731520"/>
                    </a:lnTo>
                    <a:cubicBezTo>
                      <a:pt x="5486400" y="792099"/>
                      <a:pt x="5437251" y="841248"/>
                      <a:pt x="5376672" y="841248"/>
                    </a:cubicBezTo>
                    <a:lnTo>
                      <a:pt x="109728" y="841248"/>
                    </a:lnTo>
                    <a:cubicBezTo>
                      <a:pt x="49149" y="841248"/>
                      <a:pt x="0" y="792099"/>
                      <a:pt x="0" y="731520"/>
                    </a:cubicBezTo>
                    <a:close/>
                  </a:path>
                </a:pathLst>
              </a:custGeom>
              <a:solidFill>
                <a:srgbClr val="2A9D8F"/>
              </a:solidFill>
            </p:spPr>
          </p:sp>
        </p:grpSp>
        <p:grpSp>
          <p:nvGrpSpPr>
            <p:cNvPr id="72" name="Group 72"/>
            <p:cNvGrpSpPr/>
            <p:nvPr/>
          </p:nvGrpSpPr>
          <p:grpSpPr>
            <a:xfrm>
              <a:off x="201944" y="1728597"/>
              <a:ext cx="5120640" cy="860298"/>
              <a:chOff x="0" y="0"/>
              <a:chExt cx="5120640" cy="860298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5120640" cy="860298"/>
              </a:xfrm>
              <a:custGeom>
                <a:avLst/>
                <a:gdLst/>
                <a:ahLst/>
                <a:cxnLst/>
                <a:rect l="l" t="t" r="r" b="b"/>
                <a:pathLst>
                  <a:path w="5120640" h="860298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860298"/>
                    </a:lnTo>
                    <a:lnTo>
                      <a:pt x="0" y="86029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65978" b="-65978"/>
                </a:stretch>
              </a:blip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0" y="-19050"/>
                <a:ext cx="5120640" cy="87934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 b="1">
                    <a:solidFill>
                      <a:srgbClr val="FFFFFF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67.66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5779784" y="760095"/>
              <a:ext cx="5486400" cy="768096"/>
              <a:chOff x="0" y="0"/>
              <a:chExt cx="5486400" cy="768096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5486400" cy="768096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768096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5376672" y="0"/>
                    </a:lnTo>
                    <a:cubicBezTo>
                      <a:pt x="5437251" y="0"/>
                      <a:pt x="5486400" y="49149"/>
                      <a:pt x="5486400" y="109728"/>
                    </a:cubicBezTo>
                    <a:lnTo>
                      <a:pt x="5486400" y="658368"/>
                    </a:lnTo>
                    <a:cubicBezTo>
                      <a:pt x="5486400" y="718947"/>
                      <a:pt x="5437251" y="768096"/>
                      <a:pt x="5376672" y="768096"/>
                    </a:cubicBezTo>
                    <a:lnTo>
                      <a:pt x="109728" y="768096"/>
                    </a:lnTo>
                    <a:cubicBezTo>
                      <a:pt x="49149" y="768096"/>
                      <a:pt x="0" y="718947"/>
                      <a:pt x="0" y="658368"/>
                    </a:cubicBezTo>
                    <a:close/>
                  </a:path>
                </a:pathLst>
              </a:custGeom>
              <a:solidFill>
                <a:srgbClr val="ECEDEF"/>
              </a:solidFill>
            </p:spPr>
          </p:sp>
        </p:grpSp>
        <p:grpSp>
          <p:nvGrpSpPr>
            <p:cNvPr id="77" name="Group 77"/>
            <p:cNvGrpSpPr/>
            <p:nvPr/>
          </p:nvGrpSpPr>
          <p:grpSpPr>
            <a:xfrm>
              <a:off x="6035816" y="786384"/>
              <a:ext cx="4974336" cy="686943"/>
              <a:chOff x="0" y="0"/>
              <a:chExt cx="4974336" cy="686943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4974336" cy="686943"/>
              </a:xfrm>
              <a:custGeom>
                <a:avLst/>
                <a:gdLst/>
                <a:ahLst/>
                <a:cxnLst/>
                <a:rect l="l" t="t" r="r" b="b"/>
                <a:pathLst>
                  <a:path w="4974336" h="686943">
                    <a:moveTo>
                      <a:pt x="0" y="0"/>
                    </a:moveTo>
                    <a:lnTo>
                      <a:pt x="4974336" y="0"/>
                    </a:lnTo>
                    <a:lnTo>
                      <a:pt x="4974336" y="686943"/>
                    </a:lnTo>
                    <a:lnTo>
                      <a:pt x="0" y="686943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91096" b="-91096"/>
                </a:stretch>
              </a:blipFill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0" y="-28575"/>
                <a:ext cx="4974336" cy="71551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980"/>
                  </a:lnSpc>
                </a:pPr>
                <a:r>
                  <a:rPr lang="en-US" sz="1650" b="1">
                    <a:solidFill>
                      <a:srgbClr val="173F5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Saturday — lowest day of week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 rot="-10800000">
              <a:off x="8266952" y="1509903"/>
              <a:ext cx="512064" cy="256032"/>
              <a:chOff x="0" y="0"/>
              <a:chExt cx="512064" cy="256032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512064" cy="256032"/>
              </a:xfrm>
              <a:custGeom>
                <a:avLst/>
                <a:gdLst/>
                <a:ahLst/>
                <a:cxnLst/>
                <a:rect l="l" t="t" r="r" b="b"/>
                <a:pathLst>
                  <a:path w="512064" h="256032">
                    <a:moveTo>
                      <a:pt x="0" y="256032"/>
                    </a:moveTo>
                    <a:lnTo>
                      <a:pt x="256032" y="0"/>
                    </a:lnTo>
                    <a:lnTo>
                      <a:pt x="512064" y="256032"/>
                    </a:lnTo>
                    <a:close/>
                  </a:path>
                </a:pathLst>
              </a:custGeom>
              <a:solidFill>
                <a:srgbClr val="6B7280"/>
              </a:solidFill>
            </p:spPr>
          </p:sp>
        </p:grpSp>
        <p:grpSp>
          <p:nvGrpSpPr>
            <p:cNvPr id="82" name="Group 82"/>
            <p:cNvGrpSpPr/>
            <p:nvPr/>
          </p:nvGrpSpPr>
          <p:grpSpPr>
            <a:xfrm>
              <a:off x="5779784" y="1747647"/>
              <a:ext cx="5486400" cy="841248"/>
              <a:chOff x="0" y="0"/>
              <a:chExt cx="5486400" cy="841248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5486400" cy="841248"/>
              </a:xfrm>
              <a:custGeom>
                <a:avLst/>
                <a:gdLst/>
                <a:ahLst/>
                <a:cxnLst/>
                <a:rect l="l" t="t" r="r" b="b"/>
                <a:pathLst>
                  <a:path w="5486400" h="841248">
                    <a:moveTo>
                      <a:pt x="0" y="109728"/>
                    </a:moveTo>
                    <a:cubicBezTo>
                      <a:pt x="0" y="49149"/>
                      <a:pt x="49149" y="0"/>
                      <a:pt x="109728" y="0"/>
                    </a:cubicBezTo>
                    <a:lnTo>
                      <a:pt x="5376672" y="0"/>
                    </a:lnTo>
                    <a:cubicBezTo>
                      <a:pt x="5437251" y="0"/>
                      <a:pt x="5486400" y="49149"/>
                      <a:pt x="5486400" y="109728"/>
                    </a:cubicBezTo>
                    <a:lnTo>
                      <a:pt x="5486400" y="731520"/>
                    </a:lnTo>
                    <a:cubicBezTo>
                      <a:pt x="5486400" y="792099"/>
                      <a:pt x="5437251" y="841248"/>
                      <a:pt x="5376672" y="841248"/>
                    </a:cubicBezTo>
                    <a:lnTo>
                      <a:pt x="109728" y="841248"/>
                    </a:lnTo>
                    <a:cubicBezTo>
                      <a:pt x="49149" y="841248"/>
                      <a:pt x="0" y="792099"/>
                      <a:pt x="0" y="731520"/>
                    </a:cubicBezTo>
                    <a:close/>
                  </a:path>
                </a:pathLst>
              </a:custGeom>
              <a:solidFill>
                <a:srgbClr val="6B7280"/>
              </a:solidFill>
            </p:spPr>
          </p:sp>
        </p:grpSp>
        <p:grpSp>
          <p:nvGrpSpPr>
            <p:cNvPr id="84" name="Group 84"/>
            <p:cNvGrpSpPr/>
            <p:nvPr/>
          </p:nvGrpSpPr>
          <p:grpSpPr>
            <a:xfrm>
              <a:off x="5962664" y="1728597"/>
              <a:ext cx="5120640" cy="860298"/>
              <a:chOff x="0" y="0"/>
              <a:chExt cx="5120640" cy="860298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5120640" cy="860298"/>
              </a:xfrm>
              <a:custGeom>
                <a:avLst/>
                <a:gdLst/>
                <a:ahLst/>
                <a:cxnLst/>
                <a:rect l="l" t="t" r="r" b="b"/>
                <a:pathLst>
                  <a:path w="5120640" h="860298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860298"/>
                    </a:lnTo>
                    <a:lnTo>
                      <a:pt x="0" y="86029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65978" b="-65978"/>
                </a:stretch>
              </a:blipFill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0" y="-19050"/>
                <a:ext cx="5120640" cy="87934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 b="1">
                    <a:solidFill>
                      <a:srgbClr val="FFFFFF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46.67</a:t>
                </a: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11719994" y="760095"/>
              <a:ext cx="5164671" cy="768096"/>
              <a:chOff x="0" y="0"/>
              <a:chExt cx="5164671" cy="768096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5164582" cy="768096"/>
              </a:xfrm>
              <a:custGeom>
                <a:avLst/>
                <a:gdLst/>
                <a:ahLst/>
                <a:cxnLst/>
                <a:rect l="l" t="t" r="r" b="b"/>
                <a:pathLst>
                  <a:path w="5164582" h="768096">
                    <a:moveTo>
                      <a:pt x="0" y="109728"/>
                    </a:moveTo>
                    <a:cubicBezTo>
                      <a:pt x="0" y="49149"/>
                      <a:pt x="46228" y="0"/>
                      <a:pt x="103251" y="0"/>
                    </a:cubicBezTo>
                    <a:lnTo>
                      <a:pt x="5061331" y="0"/>
                    </a:lnTo>
                    <a:cubicBezTo>
                      <a:pt x="5118354" y="0"/>
                      <a:pt x="5164582" y="49149"/>
                      <a:pt x="5164582" y="109728"/>
                    </a:cubicBezTo>
                    <a:lnTo>
                      <a:pt x="5164582" y="658368"/>
                    </a:lnTo>
                    <a:cubicBezTo>
                      <a:pt x="5164582" y="718947"/>
                      <a:pt x="5118354" y="768096"/>
                      <a:pt x="5061331" y="768096"/>
                    </a:cubicBezTo>
                    <a:lnTo>
                      <a:pt x="103251" y="768096"/>
                    </a:lnTo>
                    <a:cubicBezTo>
                      <a:pt x="46228" y="768096"/>
                      <a:pt x="0" y="718947"/>
                      <a:pt x="0" y="658368"/>
                    </a:cubicBezTo>
                    <a:close/>
                  </a:path>
                </a:pathLst>
              </a:custGeom>
              <a:solidFill>
                <a:srgbClr val="E4F3F1"/>
              </a:solidFill>
            </p:spPr>
          </p:sp>
        </p:grpSp>
        <p:grpSp>
          <p:nvGrpSpPr>
            <p:cNvPr id="89" name="Group 89"/>
            <p:cNvGrpSpPr/>
            <p:nvPr/>
          </p:nvGrpSpPr>
          <p:grpSpPr>
            <a:xfrm>
              <a:off x="11961014" y="786384"/>
              <a:ext cx="4682630" cy="686943"/>
              <a:chOff x="0" y="0"/>
              <a:chExt cx="4682630" cy="686943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4682631" cy="686943"/>
              </a:xfrm>
              <a:custGeom>
                <a:avLst/>
                <a:gdLst/>
                <a:ahLst/>
                <a:cxnLst/>
                <a:rect l="l" t="t" r="r" b="b"/>
                <a:pathLst>
                  <a:path w="4682631" h="686943">
                    <a:moveTo>
                      <a:pt x="0" y="0"/>
                    </a:moveTo>
                    <a:lnTo>
                      <a:pt x="4682631" y="0"/>
                    </a:lnTo>
                    <a:lnTo>
                      <a:pt x="4682631" y="686943"/>
                    </a:lnTo>
                    <a:lnTo>
                      <a:pt x="0" y="686943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82822" b="-82822"/>
                </a:stretch>
              </a:blipFill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0" y="-28575"/>
                <a:ext cx="4682630" cy="71551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980"/>
                  </a:lnSpc>
                </a:pPr>
                <a:r>
                  <a:rPr lang="en-US" sz="1650" b="1">
                    <a:solidFill>
                      <a:srgbClr val="173F5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Holiday avg (n = 24)</a:t>
                </a:r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 rot="-10800000">
              <a:off x="14061315" y="1509903"/>
              <a:ext cx="482041" cy="256032"/>
              <a:chOff x="0" y="0"/>
              <a:chExt cx="482041" cy="256032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482092" cy="256032"/>
              </a:xfrm>
              <a:custGeom>
                <a:avLst/>
                <a:gdLst/>
                <a:ahLst/>
                <a:cxnLst/>
                <a:rect l="l" t="t" r="r" b="b"/>
                <a:pathLst>
                  <a:path w="482092" h="256032">
                    <a:moveTo>
                      <a:pt x="0" y="256032"/>
                    </a:moveTo>
                    <a:lnTo>
                      <a:pt x="241046" y="0"/>
                    </a:lnTo>
                    <a:lnTo>
                      <a:pt x="482092" y="256032"/>
                    </a:lnTo>
                    <a:close/>
                  </a:path>
                </a:pathLst>
              </a:custGeom>
              <a:solidFill>
                <a:srgbClr val="2A9D8F"/>
              </a:solidFill>
            </p:spPr>
          </p:sp>
        </p:grpSp>
        <p:grpSp>
          <p:nvGrpSpPr>
            <p:cNvPr id="94" name="Group 94"/>
            <p:cNvGrpSpPr/>
            <p:nvPr/>
          </p:nvGrpSpPr>
          <p:grpSpPr>
            <a:xfrm>
              <a:off x="11719994" y="1747647"/>
              <a:ext cx="5164671" cy="841248"/>
              <a:chOff x="0" y="0"/>
              <a:chExt cx="5164671" cy="841248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5164582" cy="841248"/>
              </a:xfrm>
              <a:custGeom>
                <a:avLst/>
                <a:gdLst/>
                <a:ahLst/>
                <a:cxnLst/>
                <a:rect l="l" t="t" r="r" b="b"/>
                <a:pathLst>
                  <a:path w="5164582" h="841248">
                    <a:moveTo>
                      <a:pt x="0" y="109728"/>
                    </a:moveTo>
                    <a:cubicBezTo>
                      <a:pt x="0" y="49149"/>
                      <a:pt x="46228" y="0"/>
                      <a:pt x="103251" y="0"/>
                    </a:cubicBezTo>
                    <a:lnTo>
                      <a:pt x="5061331" y="0"/>
                    </a:lnTo>
                    <a:cubicBezTo>
                      <a:pt x="5118354" y="0"/>
                      <a:pt x="5164582" y="49149"/>
                      <a:pt x="5164582" y="109728"/>
                    </a:cubicBezTo>
                    <a:lnTo>
                      <a:pt x="5164582" y="731520"/>
                    </a:lnTo>
                    <a:cubicBezTo>
                      <a:pt x="5164582" y="792099"/>
                      <a:pt x="5118354" y="841248"/>
                      <a:pt x="5061331" y="841248"/>
                    </a:cubicBezTo>
                    <a:lnTo>
                      <a:pt x="103251" y="841248"/>
                    </a:lnTo>
                    <a:cubicBezTo>
                      <a:pt x="46228" y="841248"/>
                      <a:pt x="0" y="792099"/>
                      <a:pt x="0" y="731520"/>
                    </a:cubicBezTo>
                    <a:close/>
                  </a:path>
                </a:pathLst>
              </a:custGeom>
              <a:solidFill>
                <a:srgbClr val="2A9D8F"/>
              </a:solidFill>
            </p:spPr>
          </p:sp>
        </p:grpSp>
        <p:grpSp>
          <p:nvGrpSpPr>
            <p:cNvPr id="96" name="Group 96"/>
            <p:cNvGrpSpPr/>
            <p:nvPr/>
          </p:nvGrpSpPr>
          <p:grpSpPr>
            <a:xfrm>
              <a:off x="11892155" y="1728597"/>
              <a:ext cx="4820361" cy="860298"/>
              <a:chOff x="0" y="0"/>
              <a:chExt cx="4820361" cy="860298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4820355" cy="860298"/>
              </a:xfrm>
              <a:custGeom>
                <a:avLst/>
                <a:gdLst/>
                <a:ahLst/>
                <a:cxnLst/>
                <a:rect l="l" t="t" r="r" b="b"/>
                <a:pathLst>
                  <a:path w="4820355" h="860298">
                    <a:moveTo>
                      <a:pt x="0" y="0"/>
                    </a:moveTo>
                    <a:lnTo>
                      <a:pt x="4820355" y="0"/>
                    </a:lnTo>
                    <a:lnTo>
                      <a:pt x="4820355" y="860298"/>
                    </a:lnTo>
                    <a:lnTo>
                      <a:pt x="0" y="86029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59177" b="-59177"/>
                </a:stretch>
              </a:blipFill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0" y="-19050"/>
                <a:ext cx="4820361" cy="87934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 b="1">
                    <a:solidFill>
                      <a:srgbClr val="FFFFFF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41.67</a:t>
                </a: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17223335" y="760095"/>
              <a:ext cx="5164671" cy="768096"/>
              <a:chOff x="0" y="0"/>
              <a:chExt cx="5164671" cy="768096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5164582" cy="768096"/>
              </a:xfrm>
              <a:custGeom>
                <a:avLst/>
                <a:gdLst/>
                <a:ahLst/>
                <a:cxnLst/>
                <a:rect l="l" t="t" r="r" b="b"/>
                <a:pathLst>
                  <a:path w="5164582" h="768096">
                    <a:moveTo>
                      <a:pt x="0" y="109728"/>
                    </a:moveTo>
                    <a:cubicBezTo>
                      <a:pt x="0" y="49149"/>
                      <a:pt x="46228" y="0"/>
                      <a:pt x="103251" y="0"/>
                    </a:cubicBezTo>
                    <a:lnTo>
                      <a:pt x="5061331" y="0"/>
                    </a:lnTo>
                    <a:cubicBezTo>
                      <a:pt x="5118354" y="0"/>
                      <a:pt x="5164582" y="49149"/>
                      <a:pt x="5164582" y="109728"/>
                    </a:cubicBezTo>
                    <a:lnTo>
                      <a:pt x="5164582" y="658368"/>
                    </a:lnTo>
                    <a:cubicBezTo>
                      <a:pt x="5164582" y="718947"/>
                      <a:pt x="5118354" y="768096"/>
                      <a:pt x="5061331" y="768096"/>
                    </a:cubicBezTo>
                    <a:lnTo>
                      <a:pt x="103251" y="768096"/>
                    </a:lnTo>
                    <a:cubicBezTo>
                      <a:pt x="46228" y="768096"/>
                      <a:pt x="0" y="718947"/>
                      <a:pt x="0" y="658368"/>
                    </a:cubicBezTo>
                    <a:close/>
                  </a:path>
                </a:pathLst>
              </a:custGeom>
              <a:solidFill>
                <a:srgbClr val="ECEDEF"/>
              </a:solidFill>
            </p:spPr>
          </p:sp>
        </p:grpSp>
        <p:grpSp>
          <p:nvGrpSpPr>
            <p:cNvPr id="101" name="Group 101"/>
            <p:cNvGrpSpPr/>
            <p:nvPr/>
          </p:nvGrpSpPr>
          <p:grpSpPr>
            <a:xfrm>
              <a:off x="17464343" y="786384"/>
              <a:ext cx="4682630" cy="686943"/>
              <a:chOff x="0" y="0"/>
              <a:chExt cx="4682630" cy="686943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4682631" cy="686943"/>
              </a:xfrm>
              <a:custGeom>
                <a:avLst/>
                <a:gdLst/>
                <a:ahLst/>
                <a:cxnLst/>
                <a:rect l="l" t="t" r="r" b="b"/>
                <a:pathLst>
                  <a:path w="4682631" h="686943">
                    <a:moveTo>
                      <a:pt x="0" y="0"/>
                    </a:moveTo>
                    <a:lnTo>
                      <a:pt x="4682631" y="0"/>
                    </a:lnTo>
                    <a:lnTo>
                      <a:pt x="4682631" y="686943"/>
                    </a:lnTo>
                    <a:lnTo>
                      <a:pt x="0" y="686943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82822" b="-82822"/>
                </a:stretch>
              </a:blipFill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0" y="-28575"/>
                <a:ext cx="4682630" cy="71551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980"/>
                  </a:lnSpc>
                </a:pPr>
                <a:r>
                  <a:rPr lang="en-US" sz="1650" b="1">
                    <a:solidFill>
                      <a:srgbClr val="173F5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Non-holiday avg (n = 976)</a:t>
                </a:r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 rot="-10800000">
              <a:off x="19564644" y="1509903"/>
              <a:ext cx="482041" cy="256032"/>
              <a:chOff x="0" y="0"/>
              <a:chExt cx="482041" cy="256032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0" y="0"/>
                <a:ext cx="482092" cy="256032"/>
              </a:xfrm>
              <a:custGeom>
                <a:avLst/>
                <a:gdLst/>
                <a:ahLst/>
                <a:cxnLst/>
                <a:rect l="l" t="t" r="r" b="b"/>
                <a:pathLst>
                  <a:path w="482092" h="256032">
                    <a:moveTo>
                      <a:pt x="0" y="256032"/>
                    </a:moveTo>
                    <a:lnTo>
                      <a:pt x="241046" y="0"/>
                    </a:lnTo>
                    <a:lnTo>
                      <a:pt x="482092" y="256032"/>
                    </a:lnTo>
                    <a:close/>
                  </a:path>
                </a:pathLst>
              </a:custGeom>
              <a:solidFill>
                <a:srgbClr val="6B7280"/>
              </a:solidFill>
            </p:spPr>
          </p:sp>
        </p:grpSp>
        <p:grpSp>
          <p:nvGrpSpPr>
            <p:cNvPr id="106" name="Group 106"/>
            <p:cNvGrpSpPr/>
            <p:nvPr/>
          </p:nvGrpSpPr>
          <p:grpSpPr>
            <a:xfrm>
              <a:off x="17223335" y="1747647"/>
              <a:ext cx="5164671" cy="841248"/>
              <a:chOff x="0" y="0"/>
              <a:chExt cx="5164671" cy="841248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5164582" cy="841248"/>
              </a:xfrm>
              <a:custGeom>
                <a:avLst/>
                <a:gdLst/>
                <a:ahLst/>
                <a:cxnLst/>
                <a:rect l="l" t="t" r="r" b="b"/>
                <a:pathLst>
                  <a:path w="5164582" h="841248">
                    <a:moveTo>
                      <a:pt x="0" y="109728"/>
                    </a:moveTo>
                    <a:cubicBezTo>
                      <a:pt x="0" y="49149"/>
                      <a:pt x="46228" y="0"/>
                      <a:pt x="103251" y="0"/>
                    </a:cubicBezTo>
                    <a:lnTo>
                      <a:pt x="5061331" y="0"/>
                    </a:lnTo>
                    <a:cubicBezTo>
                      <a:pt x="5118354" y="0"/>
                      <a:pt x="5164582" y="49149"/>
                      <a:pt x="5164582" y="109728"/>
                    </a:cubicBezTo>
                    <a:lnTo>
                      <a:pt x="5164582" y="731520"/>
                    </a:lnTo>
                    <a:cubicBezTo>
                      <a:pt x="5164582" y="792099"/>
                      <a:pt x="5118354" y="841248"/>
                      <a:pt x="5061331" y="841248"/>
                    </a:cubicBezTo>
                    <a:lnTo>
                      <a:pt x="103251" y="841248"/>
                    </a:lnTo>
                    <a:cubicBezTo>
                      <a:pt x="46228" y="841248"/>
                      <a:pt x="0" y="792099"/>
                      <a:pt x="0" y="731520"/>
                    </a:cubicBezTo>
                    <a:close/>
                  </a:path>
                </a:pathLst>
              </a:custGeom>
              <a:solidFill>
                <a:srgbClr val="6B7280"/>
              </a:solidFill>
            </p:spPr>
          </p:sp>
        </p:grpSp>
        <p:grpSp>
          <p:nvGrpSpPr>
            <p:cNvPr id="108" name="Group 108"/>
            <p:cNvGrpSpPr/>
            <p:nvPr/>
          </p:nvGrpSpPr>
          <p:grpSpPr>
            <a:xfrm>
              <a:off x="17395484" y="1728597"/>
              <a:ext cx="4820361" cy="860298"/>
              <a:chOff x="0" y="0"/>
              <a:chExt cx="4820361" cy="860298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4820355" cy="860298"/>
              </a:xfrm>
              <a:custGeom>
                <a:avLst/>
                <a:gdLst/>
                <a:ahLst/>
                <a:cxnLst/>
                <a:rect l="l" t="t" r="r" b="b"/>
                <a:pathLst>
                  <a:path w="4820355" h="860298">
                    <a:moveTo>
                      <a:pt x="0" y="0"/>
                    </a:moveTo>
                    <a:lnTo>
                      <a:pt x="4820355" y="0"/>
                    </a:lnTo>
                    <a:lnTo>
                      <a:pt x="4820355" y="860298"/>
                    </a:lnTo>
                    <a:lnTo>
                      <a:pt x="0" y="860298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59177" b="-59177"/>
                </a:stretch>
              </a:blipFill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0" y="-19050"/>
                <a:ext cx="4820361" cy="87934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600"/>
                  </a:lnSpc>
                </a:pPr>
                <a:r>
                  <a:rPr lang="en-US" sz="3000" b="1">
                    <a:solidFill>
                      <a:srgbClr val="FFFFFF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58.71</a:t>
                </a:r>
              </a:p>
            </p:txBody>
          </p:sp>
        </p:grpSp>
      </p:grpSp>
      <p:grpSp>
        <p:nvGrpSpPr>
          <p:cNvPr id="111" name="Group 111"/>
          <p:cNvGrpSpPr/>
          <p:nvPr/>
        </p:nvGrpSpPr>
        <p:grpSpPr>
          <a:xfrm>
            <a:off x="676275" y="959472"/>
            <a:ext cx="16870680" cy="772363"/>
            <a:chOff x="0" y="0"/>
            <a:chExt cx="22494240" cy="1029818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22494239" cy="1029818"/>
            </a:xfrm>
            <a:custGeom>
              <a:avLst/>
              <a:gdLst/>
              <a:ahLst/>
              <a:cxnLst/>
              <a:rect l="l" t="t" r="r" b="b"/>
              <a:pathLst>
                <a:path w="22494239" h="1029818">
                  <a:moveTo>
                    <a:pt x="0" y="0"/>
                  </a:moveTo>
                  <a:lnTo>
                    <a:pt x="22494239" y="0"/>
                  </a:lnTo>
                  <a:lnTo>
                    <a:pt x="22494239" y="1029818"/>
                  </a:lnTo>
                  <a:lnTo>
                    <a:pt x="0" y="102981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75610" b="-375610"/>
              </a:stretch>
            </a:blipFill>
          </p:spPr>
        </p:sp>
        <p:sp>
          <p:nvSpPr>
            <p:cNvPr id="113" name="TextBox 113"/>
            <p:cNvSpPr txBox="1"/>
            <p:nvPr/>
          </p:nvSpPr>
          <p:spPr>
            <a:xfrm>
              <a:off x="0" y="-9525"/>
              <a:ext cx="22494240" cy="10393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Calendar Effects on Rental Demand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23444"/>
            <a:chOff x="0" y="0"/>
            <a:chExt cx="24377904" cy="164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164592"/>
            </a:xfrm>
            <a:custGeom>
              <a:avLst/>
              <a:gdLst/>
              <a:ahLst/>
              <a:cxnLst/>
              <a:rect l="l" t="t" r="r" b="b"/>
              <a:pathLst>
                <a:path w="24377904" h="164592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-433283"/>
            <a:ext cx="17307382" cy="3375365"/>
            <a:chOff x="0" y="0"/>
            <a:chExt cx="23076510" cy="450048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76536" cy="4500499"/>
            </a:xfrm>
            <a:custGeom>
              <a:avLst/>
              <a:gdLst/>
              <a:ahLst/>
              <a:cxnLst/>
              <a:rect l="l" t="t" r="r" b="b"/>
              <a:pathLst>
                <a:path w="23076536" h="4500499">
                  <a:moveTo>
                    <a:pt x="0" y="0"/>
                  </a:moveTo>
                  <a:lnTo>
                    <a:pt x="23076536" y="0"/>
                  </a:lnTo>
                  <a:lnTo>
                    <a:pt x="23076536" y="4500499"/>
                  </a:lnTo>
                  <a:lnTo>
                    <a:pt x="0" y="45004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41" b="-4984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" y="-447799"/>
            <a:ext cx="17307382" cy="3389885"/>
            <a:chOff x="0" y="0"/>
            <a:chExt cx="23076510" cy="45198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076508" cy="4519854"/>
            </a:xfrm>
            <a:custGeom>
              <a:avLst/>
              <a:gdLst/>
              <a:ahLst/>
              <a:cxnLst/>
              <a:rect l="l" t="t" r="r" b="b"/>
              <a:pathLst>
                <a:path w="23076508" h="4519854">
                  <a:moveTo>
                    <a:pt x="0" y="0"/>
                  </a:moveTo>
                  <a:lnTo>
                    <a:pt x="23076508" y="0"/>
                  </a:lnTo>
                  <a:lnTo>
                    <a:pt x="23076508" y="4519854"/>
                  </a:lnTo>
                  <a:lnTo>
                    <a:pt x="0" y="45198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482" b="-4948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3076510" cy="45388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Weather Conditions and Rental Demands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5800" y="438912"/>
            <a:ext cx="12344400" cy="411480"/>
            <a:chOff x="0" y="0"/>
            <a:chExt cx="16459200" cy="5486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85800" y="410337"/>
            <a:ext cx="12344400" cy="440055"/>
            <a:chOff x="0" y="0"/>
            <a:chExt cx="16459200" cy="5867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459200" cy="586740"/>
            </a:xfrm>
            <a:custGeom>
              <a:avLst/>
              <a:gdLst/>
              <a:ahLst/>
              <a:cxnLst/>
              <a:rect l="l" t="t" r="r" b="b"/>
              <a:pathLst>
                <a:path w="16459200" h="586740">
                  <a:moveTo>
                    <a:pt x="0" y="0"/>
                  </a:moveTo>
                  <a:lnTo>
                    <a:pt x="16459200" y="0"/>
                  </a:lnTo>
                  <a:lnTo>
                    <a:pt x="164592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6593" b="-49659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64592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  ·  WEATHER ANALYSIS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048988" y="9738360"/>
            <a:ext cx="685800" cy="411480"/>
            <a:chOff x="0" y="0"/>
            <a:chExt cx="914400" cy="5486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36" r="-27034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7048988" y="9716929"/>
            <a:ext cx="685800" cy="432911"/>
            <a:chOff x="0" y="0"/>
            <a:chExt cx="914400" cy="5772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4400" cy="577215"/>
            </a:xfrm>
            <a:custGeom>
              <a:avLst/>
              <a:gdLst/>
              <a:ahLst/>
              <a:cxnLst/>
              <a:rect l="l" t="t" r="r" b="b"/>
              <a:pathLst>
                <a:path w="914400" h="577215">
                  <a:moveTo>
                    <a:pt x="0" y="0"/>
                  </a:moveTo>
                  <a:lnTo>
                    <a:pt x="914400" y="0"/>
                  </a:lnTo>
                  <a:lnTo>
                    <a:pt x="914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991" r="-3099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914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 / 17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138660" y="2263140"/>
            <a:ext cx="5417820" cy="411480"/>
            <a:chOff x="0" y="0"/>
            <a:chExt cx="722376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23760" cy="548640"/>
            </a:xfrm>
            <a:custGeom>
              <a:avLst/>
              <a:gdLst/>
              <a:ahLst/>
              <a:cxnLst/>
              <a:rect l="l" t="t" r="r" b="b"/>
              <a:pathLst>
                <a:path w="7223760" h="548640">
                  <a:moveTo>
                    <a:pt x="0" y="0"/>
                  </a:moveTo>
                  <a:lnTo>
                    <a:pt x="7223760" y="0"/>
                  </a:lnTo>
                  <a:lnTo>
                    <a:pt x="7223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6374" b="-206374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576088" y="7109693"/>
            <a:ext cx="5417820" cy="432911"/>
            <a:chOff x="0" y="0"/>
            <a:chExt cx="7223760" cy="57721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223760" cy="577215"/>
            </a:xfrm>
            <a:custGeom>
              <a:avLst/>
              <a:gdLst/>
              <a:ahLst/>
              <a:cxnLst/>
              <a:rect l="l" t="t" r="r" b="b"/>
              <a:pathLst>
                <a:path w="7223760" h="577215">
                  <a:moveTo>
                    <a:pt x="0" y="0"/>
                  </a:moveTo>
                  <a:lnTo>
                    <a:pt x="7223760" y="0"/>
                  </a:lnTo>
                  <a:lnTo>
                    <a:pt x="722376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3852" b="-19385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722376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74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RECORD COUNTS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 flipV="1">
            <a:off x="561785" y="7542605"/>
            <a:ext cx="3648662" cy="17917"/>
          </a:xfrm>
          <a:prstGeom prst="line">
            <a:avLst/>
          </a:prstGeom>
          <a:ln w="9525" cap="rnd">
            <a:solidFill>
              <a:srgbClr val="E7ECF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1028700" y="8873681"/>
            <a:ext cx="15951708" cy="850392"/>
            <a:chOff x="0" y="0"/>
            <a:chExt cx="21268944" cy="113385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268944" cy="1133856"/>
            </a:xfrm>
            <a:custGeom>
              <a:avLst/>
              <a:gdLst/>
              <a:ahLst/>
              <a:cxnLst/>
              <a:rect l="l" t="t" r="r" b="b"/>
              <a:pathLst>
                <a:path w="21268944" h="1133856">
                  <a:moveTo>
                    <a:pt x="0" y="0"/>
                  </a:moveTo>
                  <a:lnTo>
                    <a:pt x="21268944" y="0"/>
                  </a:lnTo>
                  <a:lnTo>
                    <a:pt x="21268944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E4F3F1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028700" y="8873681"/>
            <a:ext cx="82296" cy="850392"/>
            <a:chOff x="0" y="0"/>
            <a:chExt cx="109728" cy="113385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9728" cy="1133856"/>
            </a:xfrm>
            <a:custGeom>
              <a:avLst/>
              <a:gdLst/>
              <a:ahLst/>
              <a:cxnLst/>
              <a:rect l="l" t="t" r="r" b="b"/>
              <a:pathLst>
                <a:path w="109728" h="1133856">
                  <a:moveTo>
                    <a:pt x="0" y="0"/>
                  </a:moveTo>
                  <a:lnTo>
                    <a:pt x="109728" y="0"/>
                  </a:lnTo>
                  <a:lnTo>
                    <a:pt x="109728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371600" y="8914829"/>
            <a:ext cx="15265908" cy="768096"/>
            <a:chOff x="0" y="0"/>
            <a:chExt cx="20354544" cy="102412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354544" cy="1024128"/>
            </a:xfrm>
            <a:custGeom>
              <a:avLst/>
              <a:gdLst/>
              <a:ahLst/>
              <a:cxnLst/>
              <a:rect l="l" t="t" r="r" b="b"/>
              <a:pathLst>
                <a:path w="20354544" h="1024128">
                  <a:moveTo>
                    <a:pt x="0" y="0"/>
                  </a:moveTo>
                  <a:lnTo>
                    <a:pt x="20354544" y="0"/>
                  </a:lnTo>
                  <a:lnTo>
                    <a:pt x="203545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6995" b="-336996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371600" y="8886254"/>
            <a:ext cx="15265908" cy="796671"/>
            <a:chOff x="0" y="0"/>
            <a:chExt cx="20354544" cy="106222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354544" cy="1062228"/>
            </a:xfrm>
            <a:custGeom>
              <a:avLst/>
              <a:gdLst/>
              <a:ahLst/>
              <a:cxnLst/>
              <a:rect l="l" t="t" r="r" b="b"/>
              <a:pathLst>
                <a:path w="20354544" h="1062228">
                  <a:moveTo>
                    <a:pt x="0" y="0"/>
                  </a:moveTo>
                  <a:lnTo>
                    <a:pt x="20354544" y="0"/>
                  </a:lnTo>
                  <a:lnTo>
                    <a:pt x="20354544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3374" b="-323374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20354544" cy="1100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26323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average rentals increased with increase in the temperature range and were highest in the band of 0.3-0.4. Then the rentals started to drop. This shows that rentals do not always increase with temperature and other factors may impact them as well.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6275" y="9789414"/>
            <a:ext cx="10972800" cy="411480"/>
            <a:chOff x="0" y="0"/>
            <a:chExt cx="14630400" cy="5486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240" b="-469238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676275" y="9767983"/>
            <a:ext cx="10972800" cy="432911"/>
            <a:chOff x="0" y="0"/>
            <a:chExt cx="14630400" cy="57721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630400" cy="577215"/>
            </a:xfrm>
            <a:custGeom>
              <a:avLst/>
              <a:gdLst/>
              <a:ahLst/>
              <a:cxnLst/>
              <a:rect l="l" t="t" r="r" b="b"/>
              <a:pathLst>
                <a:path w="14630400" h="577215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3878" b="-443878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Bike Sharing Demand Analysis  </a:t>
              </a:r>
            </a:p>
          </p:txBody>
        </p:sp>
      </p:grpSp>
      <p:sp>
        <p:nvSpPr>
          <p:cNvPr id="39" name="AutoShape 39"/>
          <p:cNvSpPr/>
          <p:nvPr/>
        </p:nvSpPr>
        <p:spPr>
          <a:xfrm flipV="1">
            <a:off x="685780" y="1705195"/>
            <a:ext cx="1524020" cy="14325"/>
          </a:xfrm>
          <a:prstGeom prst="line">
            <a:avLst/>
          </a:prstGeom>
          <a:ln w="19050" cap="rnd">
            <a:solidFill>
              <a:srgbClr val="E9A2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0" name="Group 40"/>
          <p:cNvGrpSpPr/>
          <p:nvPr/>
        </p:nvGrpSpPr>
        <p:grpSpPr>
          <a:xfrm>
            <a:off x="11393532" y="7810005"/>
            <a:ext cx="3017520" cy="850392"/>
            <a:chOff x="0" y="0"/>
            <a:chExt cx="4023360" cy="113385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023360" cy="1133856"/>
            </a:xfrm>
            <a:custGeom>
              <a:avLst/>
              <a:gdLst/>
              <a:ahLst/>
              <a:cxnLst/>
              <a:rect l="l" t="t" r="r" b="b"/>
              <a:pathLst>
                <a:path w="4023360" h="1133856">
                  <a:moveTo>
                    <a:pt x="0" y="0"/>
                  </a:moveTo>
                  <a:lnTo>
                    <a:pt x="4023360" y="0"/>
                  </a:lnTo>
                  <a:lnTo>
                    <a:pt x="40233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92" b="-19091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5197077" y="7688513"/>
            <a:ext cx="3648671" cy="883730"/>
            <a:chOff x="0" y="0"/>
            <a:chExt cx="4864894" cy="117830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864894" cy="1178306"/>
            </a:xfrm>
            <a:custGeom>
              <a:avLst/>
              <a:gdLst/>
              <a:ahLst/>
              <a:cxnLst/>
              <a:rect l="l" t="t" r="r" b="b"/>
              <a:pathLst>
                <a:path w="4864894" h="1178306">
                  <a:moveTo>
                    <a:pt x="0" y="0"/>
                  </a:moveTo>
                  <a:lnTo>
                    <a:pt x="4864894" y="0"/>
                  </a:lnTo>
                  <a:lnTo>
                    <a:pt x="4864894" y="1178306"/>
                  </a:lnTo>
                  <a:lnTo>
                    <a:pt x="0" y="117830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CF1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5174863" y="7705182"/>
            <a:ext cx="3017520" cy="850392"/>
            <a:chOff x="0" y="0"/>
            <a:chExt cx="4023360" cy="113385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023360" cy="1133856"/>
            </a:xfrm>
            <a:custGeom>
              <a:avLst/>
              <a:gdLst/>
              <a:ahLst/>
              <a:cxnLst/>
              <a:rect l="l" t="t" r="r" b="b"/>
              <a:pathLst>
                <a:path w="4023360" h="1133856">
                  <a:moveTo>
                    <a:pt x="0" y="0"/>
                  </a:moveTo>
                  <a:lnTo>
                    <a:pt x="4023360" y="0"/>
                  </a:lnTo>
                  <a:lnTo>
                    <a:pt x="40233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92" b="-19091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5440171" y="7693276"/>
            <a:ext cx="1820154" cy="878967"/>
            <a:chOff x="0" y="0"/>
            <a:chExt cx="2426872" cy="117195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426872" cy="1171956"/>
            </a:xfrm>
            <a:custGeom>
              <a:avLst/>
              <a:gdLst/>
              <a:ahLst/>
              <a:cxnLst/>
              <a:rect l="l" t="t" r="r" b="b"/>
              <a:pathLst>
                <a:path w="2426872" h="1171956">
                  <a:moveTo>
                    <a:pt x="0" y="0"/>
                  </a:moveTo>
                  <a:lnTo>
                    <a:pt x="2426872" y="0"/>
                  </a:lnTo>
                  <a:lnTo>
                    <a:pt x="2426872" y="1171956"/>
                  </a:lnTo>
                  <a:lnTo>
                    <a:pt x="0" y="11719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892" r="-65783" b="-16892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2426872" cy="1219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 b="1">
                  <a:solidFill>
                    <a:srgbClr val="2632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Cloudy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593700" y="7717088"/>
            <a:ext cx="1629413" cy="850392"/>
            <a:chOff x="0" y="0"/>
            <a:chExt cx="2172551" cy="113385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72551" cy="1133856"/>
            </a:xfrm>
            <a:custGeom>
              <a:avLst/>
              <a:gdLst/>
              <a:ahLst/>
              <a:cxnLst/>
              <a:rect l="l" t="t" r="r" b="b"/>
              <a:pathLst>
                <a:path w="2172551" h="1133856">
                  <a:moveTo>
                    <a:pt x="0" y="0"/>
                  </a:moveTo>
                  <a:lnTo>
                    <a:pt x="2172551" y="0"/>
                  </a:lnTo>
                  <a:lnTo>
                    <a:pt x="2172551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008" r="-17008" b="-1"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6496420" y="7698038"/>
            <a:ext cx="2194560" cy="864680"/>
            <a:chOff x="0" y="0"/>
            <a:chExt cx="2926080" cy="115290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926080" cy="1152906"/>
            </a:xfrm>
            <a:custGeom>
              <a:avLst/>
              <a:gdLst/>
              <a:ahLst/>
              <a:cxnLst/>
              <a:rect l="l" t="t" r="r" b="b"/>
              <a:pathLst>
                <a:path w="2926080" h="1152906">
                  <a:moveTo>
                    <a:pt x="0" y="0"/>
                  </a:moveTo>
                  <a:lnTo>
                    <a:pt x="2926080" y="0"/>
                  </a:lnTo>
                  <a:lnTo>
                    <a:pt x="2926080" y="1152906"/>
                  </a:lnTo>
                  <a:lnTo>
                    <a:pt x="0" y="1152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52" r="-552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2926080" cy="11719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700"/>
                </a:lnSpc>
              </a:pPr>
              <a:r>
                <a:rPr lang="en-US" sz="225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309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245327" y="7712326"/>
            <a:ext cx="3648671" cy="883730"/>
            <a:chOff x="0" y="0"/>
            <a:chExt cx="4864894" cy="117830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864894" cy="1178306"/>
            </a:xfrm>
            <a:custGeom>
              <a:avLst/>
              <a:gdLst/>
              <a:ahLst/>
              <a:cxnLst/>
              <a:rect l="l" t="t" r="r" b="b"/>
              <a:pathLst>
                <a:path w="4864894" h="1178306">
                  <a:moveTo>
                    <a:pt x="0" y="0"/>
                  </a:moveTo>
                  <a:lnTo>
                    <a:pt x="4864894" y="0"/>
                  </a:lnTo>
                  <a:lnTo>
                    <a:pt x="4864894" y="1178306"/>
                  </a:lnTo>
                  <a:lnTo>
                    <a:pt x="0" y="117830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CF1"/>
              </a:solidFill>
              <a:prstDash val="solid"/>
              <a:miter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9223113" y="7728995"/>
            <a:ext cx="3017520" cy="850392"/>
            <a:chOff x="0" y="0"/>
            <a:chExt cx="4023360" cy="113385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023360" cy="1133856"/>
            </a:xfrm>
            <a:custGeom>
              <a:avLst/>
              <a:gdLst/>
              <a:ahLst/>
              <a:cxnLst/>
              <a:rect l="l" t="t" r="r" b="b"/>
              <a:pathLst>
                <a:path w="4023360" h="1133856">
                  <a:moveTo>
                    <a:pt x="0" y="0"/>
                  </a:moveTo>
                  <a:lnTo>
                    <a:pt x="4023360" y="0"/>
                  </a:lnTo>
                  <a:lnTo>
                    <a:pt x="40233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92" b="-19091"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9553573" y="7728995"/>
            <a:ext cx="1820154" cy="878967"/>
            <a:chOff x="0" y="0"/>
            <a:chExt cx="2426872" cy="117195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426872" cy="1171956"/>
            </a:xfrm>
            <a:custGeom>
              <a:avLst/>
              <a:gdLst/>
              <a:ahLst/>
              <a:cxnLst/>
              <a:rect l="l" t="t" r="r" b="b"/>
              <a:pathLst>
                <a:path w="2426872" h="1171956">
                  <a:moveTo>
                    <a:pt x="0" y="0"/>
                  </a:moveTo>
                  <a:lnTo>
                    <a:pt x="2426872" y="0"/>
                  </a:lnTo>
                  <a:lnTo>
                    <a:pt x="2426872" y="1171956"/>
                  </a:lnTo>
                  <a:lnTo>
                    <a:pt x="0" y="11719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892" r="-65783" b="-16892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2426872" cy="1219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 b="1">
                  <a:solidFill>
                    <a:srgbClr val="2632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Light Rain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641950" y="7740901"/>
            <a:ext cx="1629413" cy="850392"/>
            <a:chOff x="0" y="0"/>
            <a:chExt cx="2172551" cy="113385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172551" cy="1133856"/>
            </a:xfrm>
            <a:custGeom>
              <a:avLst/>
              <a:gdLst/>
              <a:ahLst/>
              <a:cxnLst/>
              <a:rect l="l" t="t" r="r" b="b"/>
              <a:pathLst>
                <a:path w="2172551" h="1133856">
                  <a:moveTo>
                    <a:pt x="0" y="0"/>
                  </a:moveTo>
                  <a:lnTo>
                    <a:pt x="2172551" y="0"/>
                  </a:lnTo>
                  <a:lnTo>
                    <a:pt x="2172551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008" r="-17008" b="-1"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10463650" y="7328292"/>
            <a:ext cx="2194560" cy="1651797"/>
            <a:chOff x="0" y="0"/>
            <a:chExt cx="2926080" cy="220239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926080" cy="2202396"/>
            </a:xfrm>
            <a:custGeom>
              <a:avLst/>
              <a:gdLst/>
              <a:ahLst/>
              <a:cxnLst/>
              <a:rect l="l" t="t" r="r" b="b"/>
              <a:pathLst>
                <a:path w="2926080" h="2202396">
                  <a:moveTo>
                    <a:pt x="0" y="0"/>
                  </a:moveTo>
                  <a:lnTo>
                    <a:pt x="2926080" y="0"/>
                  </a:lnTo>
                  <a:lnTo>
                    <a:pt x="292608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52" r="-552" b="47652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2926080" cy="22214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700"/>
                </a:lnSpc>
              </a:pPr>
              <a:r>
                <a:rPr lang="en-US" sz="225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84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3249588" y="7698038"/>
            <a:ext cx="3648671" cy="883730"/>
            <a:chOff x="0" y="0"/>
            <a:chExt cx="4864894" cy="117830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864894" cy="1178306"/>
            </a:xfrm>
            <a:custGeom>
              <a:avLst/>
              <a:gdLst/>
              <a:ahLst/>
              <a:cxnLst/>
              <a:rect l="l" t="t" r="r" b="b"/>
              <a:pathLst>
                <a:path w="4864894" h="1178306">
                  <a:moveTo>
                    <a:pt x="0" y="0"/>
                  </a:moveTo>
                  <a:lnTo>
                    <a:pt x="4864894" y="0"/>
                  </a:lnTo>
                  <a:lnTo>
                    <a:pt x="4864894" y="1178306"/>
                  </a:lnTo>
                  <a:lnTo>
                    <a:pt x="0" y="117830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CF1"/>
              </a:solidFill>
              <a:prstDash val="solid"/>
              <a:miter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13227373" y="7714707"/>
            <a:ext cx="3017520" cy="850392"/>
            <a:chOff x="0" y="0"/>
            <a:chExt cx="4023360" cy="113385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023360" cy="1133856"/>
            </a:xfrm>
            <a:custGeom>
              <a:avLst/>
              <a:gdLst/>
              <a:ahLst/>
              <a:cxnLst/>
              <a:rect l="l" t="t" r="r" b="b"/>
              <a:pathLst>
                <a:path w="4023360" h="1133856">
                  <a:moveTo>
                    <a:pt x="0" y="0"/>
                  </a:moveTo>
                  <a:lnTo>
                    <a:pt x="4023360" y="0"/>
                  </a:lnTo>
                  <a:lnTo>
                    <a:pt x="40233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92" b="-19091"/>
              </a:stretch>
            </a:blipFill>
          </p:spPr>
        </p:sp>
      </p:grpSp>
      <p:grpSp>
        <p:nvGrpSpPr>
          <p:cNvPr id="70" name="Group 70"/>
          <p:cNvGrpSpPr/>
          <p:nvPr/>
        </p:nvGrpSpPr>
        <p:grpSpPr>
          <a:xfrm>
            <a:off x="13557833" y="7714707"/>
            <a:ext cx="1820154" cy="878967"/>
            <a:chOff x="0" y="0"/>
            <a:chExt cx="2426872" cy="117195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426872" cy="1171956"/>
            </a:xfrm>
            <a:custGeom>
              <a:avLst/>
              <a:gdLst/>
              <a:ahLst/>
              <a:cxnLst/>
              <a:rect l="l" t="t" r="r" b="b"/>
              <a:pathLst>
                <a:path w="2426872" h="1171956">
                  <a:moveTo>
                    <a:pt x="0" y="0"/>
                  </a:moveTo>
                  <a:lnTo>
                    <a:pt x="2426872" y="0"/>
                  </a:lnTo>
                  <a:lnTo>
                    <a:pt x="2426872" y="1171956"/>
                  </a:lnTo>
                  <a:lnTo>
                    <a:pt x="0" y="11719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892" r="-65783" b="-16892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47625"/>
              <a:ext cx="2426872" cy="1219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999" b="1">
                  <a:solidFill>
                    <a:srgbClr val="2632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Heavy Rain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5646210" y="7726613"/>
            <a:ext cx="1629413" cy="850392"/>
            <a:chOff x="0" y="0"/>
            <a:chExt cx="2172551" cy="113385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172551" cy="1133856"/>
            </a:xfrm>
            <a:custGeom>
              <a:avLst/>
              <a:gdLst/>
              <a:ahLst/>
              <a:cxnLst/>
              <a:rect l="l" t="t" r="r" b="b"/>
              <a:pathLst>
                <a:path w="2172551" h="1133856">
                  <a:moveTo>
                    <a:pt x="0" y="0"/>
                  </a:moveTo>
                  <a:lnTo>
                    <a:pt x="2172551" y="0"/>
                  </a:lnTo>
                  <a:lnTo>
                    <a:pt x="2172551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008" r="-17008" b="-1"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14506302" y="7371155"/>
            <a:ext cx="2194560" cy="1651797"/>
            <a:chOff x="0" y="0"/>
            <a:chExt cx="2926080" cy="220239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2926080" cy="2202396"/>
            </a:xfrm>
            <a:custGeom>
              <a:avLst/>
              <a:gdLst/>
              <a:ahLst/>
              <a:cxnLst/>
              <a:rect l="l" t="t" r="r" b="b"/>
              <a:pathLst>
                <a:path w="2926080" h="2202396">
                  <a:moveTo>
                    <a:pt x="0" y="0"/>
                  </a:moveTo>
                  <a:lnTo>
                    <a:pt x="2926080" y="0"/>
                  </a:lnTo>
                  <a:lnTo>
                    <a:pt x="2926080" y="2202396"/>
                  </a:lnTo>
                  <a:lnTo>
                    <a:pt x="0" y="22023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52" r="-552" b="47652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19050"/>
              <a:ext cx="2926080" cy="22214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700"/>
                </a:lnSpc>
              </a:pPr>
              <a:r>
                <a:rPr lang="en-US" sz="225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050914" y="7652795"/>
            <a:ext cx="3648671" cy="883730"/>
            <a:chOff x="0" y="0"/>
            <a:chExt cx="4864894" cy="1178306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4864894" cy="1178306"/>
            </a:xfrm>
            <a:custGeom>
              <a:avLst/>
              <a:gdLst/>
              <a:ahLst/>
              <a:cxnLst/>
              <a:rect l="l" t="t" r="r" b="b"/>
              <a:pathLst>
                <a:path w="4864894" h="1178306">
                  <a:moveTo>
                    <a:pt x="0" y="0"/>
                  </a:moveTo>
                  <a:lnTo>
                    <a:pt x="4864894" y="0"/>
                  </a:lnTo>
                  <a:lnTo>
                    <a:pt x="4864894" y="1178306"/>
                  </a:lnTo>
                  <a:lnTo>
                    <a:pt x="0" y="117830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7ECF1"/>
              </a:solidFill>
              <a:prstDash val="solid"/>
              <a:miter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1028700" y="7669463"/>
            <a:ext cx="3017520" cy="850392"/>
            <a:chOff x="0" y="0"/>
            <a:chExt cx="4023360" cy="1133856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023360" cy="1133856"/>
            </a:xfrm>
            <a:custGeom>
              <a:avLst/>
              <a:gdLst/>
              <a:ahLst/>
              <a:cxnLst/>
              <a:rect l="l" t="t" r="r" b="b"/>
              <a:pathLst>
                <a:path w="4023360" h="1133856">
                  <a:moveTo>
                    <a:pt x="0" y="0"/>
                  </a:moveTo>
                  <a:lnTo>
                    <a:pt x="4023360" y="0"/>
                  </a:lnTo>
                  <a:lnTo>
                    <a:pt x="402336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92" b="-19091"/>
              </a:stretch>
            </a:blipFill>
          </p:spPr>
        </p:sp>
      </p:grpSp>
      <p:grpSp>
        <p:nvGrpSpPr>
          <p:cNvPr id="82" name="Group 82"/>
          <p:cNvGrpSpPr/>
          <p:nvPr/>
        </p:nvGrpSpPr>
        <p:grpSpPr>
          <a:xfrm>
            <a:off x="1294008" y="7688513"/>
            <a:ext cx="1820154" cy="878967"/>
            <a:chOff x="0" y="0"/>
            <a:chExt cx="2426872" cy="1171956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2426872" cy="1171956"/>
            </a:xfrm>
            <a:custGeom>
              <a:avLst/>
              <a:gdLst/>
              <a:ahLst/>
              <a:cxnLst/>
              <a:rect l="l" t="t" r="r" b="b"/>
              <a:pathLst>
                <a:path w="2426872" h="1171956">
                  <a:moveTo>
                    <a:pt x="0" y="0"/>
                  </a:moveTo>
                  <a:lnTo>
                    <a:pt x="2426872" y="0"/>
                  </a:lnTo>
                  <a:lnTo>
                    <a:pt x="2426872" y="1171956"/>
                  </a:lnTo>
                  <a:lnTo>
                    <a:pt x="0" y="11719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892" r="-65783" b="-16892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47625"/>
              <a:ext cx="2426872" cy="1219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19"/>
                </a:lnSpc>
              </a:pPr>
              <a:r>
                <a:rPr lang="en-US" sz="2099" b="1">
                  <a:solidFill>
                    <a:srgbClr val="26323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Clear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3447537" y="7681370"/>
            <a:ext cx="1629413" cy="850392"/>
            <a:chOff x="0" y="0"/>
            <a:chExt cx="2172551" cy="1133856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2172551" cy="1133856"/>
            </a:xfrm>
            <a:custGeom>
              <a:avLst/>
              <a:gdLst/>
              <a:ahLst/>
              <a:cxnLst/>
              <a:rect l="l" t="t" r="r" b="b"/>
              <a:pathLst>
                <a:path w="2172551" h="1133856">
                  <a:moveTo>
                    <a:pt x="0" y="0"/>
                  </a:moveTo>
                  <a:lnTo>
                    <a:pt x="2172551" y="0"/>
                  </a:lnTo>
                  <a:lnTo>
                    <a:pt x="2172551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008" r="-17008" b="-1"/>
              </a:stretch>
            </a:blipFill>
          </p:spPr>
        </p:sp>
      </p:grpSp>
      <p:grpSp>
        <p:nvGrpSpPr>
          <p:cNvPr id="87" name="Group 87"/>
          <p:cNvGrpSpPr/>
          <p:nvPr/>
        </p:nvGrpSpPr>
        <p:grpSpPr>
          <a:xfrm>
            <a:off x="2350257" y="7700420"/>
            <a:ext cx="2194560" cy="864680"/>
            <a:chOff x="0" y="0"/>
            <a:chExt cx="2926080" cy="1152906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2926080" cy="1152906"/>
            </a:xfrm>
            <a:custGeom>
              <a:avLst/>
              <a:gdLst/>
              <a:ahLst/>
              <a:cxnLst/>
              <a:rect l="l" t="t" r="r" b="b"/>
              <a:pathLst>
                <a:path w="2926080" h="1152906">
                  <a:moveTo>
                    <a:pt x="0" y="0"/>
                  </a:moveTo>
                  <a:lnTo>
                    <a:pt x="2926080" y="0"/>
                  </a:lnTo>
                  <a:lnTo>
                    <a:pt x="2926080" y="1152906"/>
                  </a:lnTo>
                  <a:lnTo>
                    <a:pt x="0" y="1152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52" r="-552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19050"/>
              <a:ext cx="2926080" cy="11719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700"/>
                </a:lnSpc>
              </a:pPr>
              <a:r>
                <a:rPr lang="en-US" sz="225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606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8844221" y="1999280"/>
            <a:ext cx="5417820" cy="432911"/>
            <a:chOff x="0" y="0"/>
            <a:chExt cx="7223760" cy="577215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7223760" cy="577215"/>
            </a:xfrm>
            <a:custGeom>
              <a:avLst/>
              <a:gdLst/>
              <a:ahLst/>
              <a:cxnLst/>
              <a:rect l="l" t="t" r="r" b="b"/>
              <a:pathLst>
                <a:path w="7223760" h="577215">
                  <a:moveTo>
                    <a:pt x="0" y="0"/>
                  </a:moveTo>
                  <a:lnTo>
                    <a:pt x="7223760" y="0"/>
                  </a:lnTo>
                  <a:lnTo>
                    <a:pt x="722376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3852" b="-193852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28575"/>
              <a:ext cx="722376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74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WEEKDAY VS WEEKEND, BY WEATHER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371600" y="2127105"/>
            <a:ext cx="5417820" cy="432911"/>
            <a:chOff x="0" y="0"/>
            <a:chExt cx="7223760" cy="577215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7223760" cy="577215"/>
            </a:xfrm>
            <a:custGeom>
              <a:avLst/>
              <a:gdLst/>
              <a:ahLst/>
              <a:cxnLst/>
              <a:rect l="l" t="t" r="r" b="b"/>
              <a:pathLst>
                <a:path w="7223760" h="577215">
                  <a:moveTo>
                    <a:pt x="0" y="0"/>
                  </a:moveTo>
                  <a:lnTo>
                    <a:pt x="7223760" y="0"/>
                  </a:lnTo>
                  <a:lnTo>
                    <a:pt x="722376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3852" b="-193852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28575"/>
              <a:ext cx="722376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74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AVERAGE RENTALS BY WEATHER</a:t>
              </a:r>
            </a:p>
          </p:txBody>
        </p:sp>
      </p:grpSp>
      <p:sp>
        <p:nvSpPr>
          <p:cNvPr id="96" name="Freeform 96"/>
          <p:cNvSpPr/>
          <p:nvPr/>
        </p:nvSpPr>
        <p:spPr>
          <a:xfrm>
            <a:off x="1371600" y="2641766"/>
            <a:ext cx="7020079" cy="4105413"/>
          </a:xfrm>
          <a:custGeom>
            <a:avLst/>
            <a:gdLst/>
            <a:ahLst/>
            <a:cxnLst/>
            <a:rect l="l" t="t" r="r" b="b"/>
            <a:pathLst>
              <a:path w="7020079" h="4105413">
                <a:moveTo>
                  <a:pt x="0" y="0"/>
                </a:moveTo>
                <a:lnTo>
                  <a:pt x="7020079" y="0"/>
                </a:lnTo>
                <a:lnTo>
                  <a:pt x="7020079" y="4105413"/>
                </a:lnTo>
                <a:lnTo>
                  <a:pt x="0" y="4105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7" name="Freeform 97"/>
          <p:cNvSpPr/>
          <p:nvPr/>
        </p:nvSpPr>
        <p:spPr>
          <a:xfrm>
            <a:off x="9287802" y="2513941"/>
            <a:ext cx="7153697" cy="4233238"/>
          </a:xfrm>
          <a:custGeom>
            <a:avLst/>
            <a:gdLst/>
            <a:ahLst/>
            <a:cxnLst/>
            <a:rect l="l" t="t" r="r" b="b"/>
            <a:pathLst>
              <a:path w="7153697" h="4233238">
                <a:moveTo>
                  <a:pt x="0" y="0"/>
                </a:moveTo>
                <a:lnTo>
                  <a:pt x="7153697" y="0"/>
                </a:lnTo>
                <a:lnTo>
                  <a:pt x="7153697" y="4233238"/>
                </a:lnTo>
                <a:lnTo>
                  <a:pt x="0" y="42332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23444"/>
            <a:chOff x="0" y="0"/>
            <a:chExt cx="24377904" cy="164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164592"/>
            </a:xfrm>
            <a:custGeom>
              <a:avLst/>
              <a:gdLst/>
              <a:ahLst/>
              <a:cxnLst/>
              <a:rect l="l" t="t" r="r" b="b"/>
              <a:pathLst>
                <a:path w="24377904" h="164592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438912"/>
            <a:ext cx="12344400" cy="411480"/>
            <a:chOff x="0" y="0"/>
            <a:chExt cx="1645920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" y="410337"/>
            <a:ext cx="12344400" cy="440055"/>
            <a:chOff x="0" y="0"/>
            <a:chExt cx="16459200" cy="5867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00" cy="586740"/>
            </a:xfrm>
            <a:custGeom>
              <a:avLst/>
              <a:gdLst/>
              <a:ahLst/>
              <a:cxnLst/>
              <a:rect l="l" t="t" r="r" b="b"/>
              <a:pathLst>
                <a:path w="16459200" h="586740">
                  <a:moveTo>
                    <a:pt x="0" y="0"/>
                  </a:moveTo>
                  <a:lnTo>
                    <a:pt x="16459200" y="0"/>
                  </a:lnTo>
                  <a:lnTo>
                    <a:pt x="164592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6593" b="-49659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592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  ·  CORRELATION ANALYSIS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5800" y="795528"/>
            <a:ext cx="16870680" cy="960120"/>
            <a:chOff x="0" y="0"/>
            <a:chExt cx="22494240" cy="1280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94239" cy="1280160"/>
            </a:xfrm>
            <a:custGeom>
              <a:avLst/>
              <a:gdLst/>
              <a:ahLst/>
              <a:cxnLst/>
              <a:rect l="l" t="t" r="r" b="b"/>
              <a:pathLst>
                <a:path w="22494239" h="1280160">
                  <a:moveTo>
                    <a:pt x="0" y="0"/>
                  </a:moveTo>
                  <a:lnTo>
                    <a:pt x="22494239" y="0"/>
                  </a:lnTo>
                  <a:lnTo>
                    <a:pt x="224942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141" b="-29214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85800" y="781240"/>
            <a:ext cx="16870680" cy="974407"/>
            <a:chOff x="0" y="0"/>
            <a:chExt cx="22494240" cy="12992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94239" cy="1299210"/>
            </a:xfrm>
            <a:custGeom>
              <a:avLst/>
              <a:gdLst/>
              <a:ahLst/>
              <a:cxnLst/>
              <a:rect l="l" t="t" r="r" b="b"/>
              <a:pathLst>
                <a:path w="22494239" h="1299210">
                  <a:moveTo>
                    <a:pt x="0" y="0"/>
                  </a:moveTo>
                  <a:lnTo>
                    <a:pt x="22494239" y="0"/>
                  </a:lnTo>
                  <a:lnTo>
                    <a:pt x="22494239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7359" b="-28735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2494240" cy="131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Temperature Shows a Stronger Association with Casual Riders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685799" y="1755647"/>
            <a:ext cx="1551937" cy="1"/>
          </a:xfrm>
          <a:prstGeom prst="line">
            <a:avLst/>
          </a:prstGeom>
          <a:ln w="19050" cap="rnd">
            <a:solidFill>
              <a:srgbClr val="E9A2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17040225" y="9738360"/>
            <a:ext cx="685800" cy="411480"/>
            <a:chOff x="0" y="0"/>
            <a:chExt cx="914400" cy="5486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36" r="-27034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7040225" y="9716929"/>
            <a:ext cx="685800" cy="432911"/>
            <a:chOff x="0" y="0"/>
            <a:chExt cx="914400" cy="57721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" cy="577215"/>
            </a:xfrm>
            <a:custGeom>
              <a:avLst/>
              <a:gdLst/>
              <a:ahLst/>
              <a:cxnLst/>
              <a:rect l="l" t="t" r="r" b="b"/>
              <a:pathLst>
                <a:path w="914400" h="577215">
                  <a:moveTo>
                    <a:pt x="0" y="0"/>
                  </a:moveTo>
                  <a:lnTo>
                    <a:pt x="914400" y="0"/>
                  </a:lnTo>
                  <a:lnTo>
                    <a:pt x="914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991" r="-3099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914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/ 17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8709660"/>
            <a:ext cx="15951708" cy="850392"/>
            <a:chOff x="0" y="0"/>
            <a:chExt cx="21268944" cy="11338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268944" cy="1133856"/>
            </a:xfrm>
            <a:custGeom>
              <a:avLst/>
              <a:gdLst/>
              <a:ahLst/>
              <a:cxnLst/>
              <a:rect l="l" t="t" r="r" b="b"/>
              <a:pathLst>
                <a:path w="21268944" h="1133856">
                  <a:moveTo>
                    <a:pt x="0" y="0"/>
                  </a:moveTo>
                  <a:lnTo>
                    <a:pt x="21268944" y="0"/>
                  </a:lnTo>
                  <a:lnTo>
                    <a:pt x="21268944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E4F3F1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685800" y="8709660"/>
            <a:ext cx="82296" cy="850392"/>
            <a:chOff x="0" y="0"/>
            <a:chExt cx="109728" cy="113385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728" cy="1133856"/>
            </a:xfrm>
            <a:custGeom>
              <a:avLst/>
              <a:gdLst/>
              <a:ahLst/>
              <a:cxnLst/>
              <a:rect l="l" t="t" r="r" b="b"/>
              <a:pathLst>
                <a:path w="109728" h="1133856">
                  <a:moveTo>
                    <a:pt x="0" y="0"/>
                  </a:moveTo>
                  <a:lnTo>
                    <a:pt x="109728" y="0"/>
                  </a:lnTo>
                  <a:lnTo>
                    <a:pt x="109728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028700" y="8750808"/>
            <a:ext cx="15265908" cy="768096"/>
            <a:chOff x="0" y="0"/>
            <a:chExt cx="20354544" cy="102412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354544" cy="1024128"/>
            </a:xfrm>
            <a:custGeom>
              <a:avLst/>
              <a:gdLst/>
              <a:ahLst/>
              <a:cxnLst/>
              <a:rect l="l" t="t" r="r" b="b"/>
              <a:pathLst>
                <a:path w="20354544" h="1024128">
                  <a:moveTo>
                    <a:pt x="0" y="0"/>
                  </a:moveTo>
                  <a:lnTo>
                    <a:pt x="20354544" y="0"/>
                  </a:lnTo>
                  <a:lnTo>
                    <a:pt x="203545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6995" b="-336996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028700" y="8722233"/>
            <a:ext cx="15265908" cy="796671"/>
            <a:chOff x="0" y="0"/>
            <a:chExt cx="20354544" cy="106222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354544" cy="1062228"/>
            </a:xfrm>
            <a:custGeom>
              <a:avLst/>
              <a:gdLst/>
              <a:ahLst/>
              <a:cxnLst/>
              <a:rect l="l" t="t" r="r" b="b"/>
              <a:pathLst>
                <a:path w="20354544" h="1062228">
                  <a:moveTo>
                    <a:pt x="0" y="0"/>
                  </a:moveTo>
                  <a:lnTo>
                    <a:pt x="20354544" y="0"/>
                  </a:lnTo>
                  <a:lnTo>
                    <a:pt x="20354544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23374" b="-32337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0354544" cy="1100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26323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Rental demand has positive relationship with temperature (+0.229). The relationship is stronger for casual rentals (+0.470) than for registered rentals (+0.169). The same applies to the apparent temperature. 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6275" y="9789414"/>
            <a:ext cx="10972800" cy="411480"/>
            <a:chOff x="0" y="0"/>
            <a:chExt cx="14630400" cy="5486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240" b="-469238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676275" y="9767983"/>
            <a:ext cx="10972800" cy="432911"/>
            <a:chOff x="0" y="0"/>
            <a:chExt cx="14630400" cy="57721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630400" cy="577215"/>
            </a:xfrm>
            <a:custGeom>
              <a:avLst/>
              <a:gdLst/>
              <a:ahLst/>
              <a:cxnLst/>
              <a:rect l="l" t="t" r="r" b="b"/>
              <a:pathLst>
                <a:path w="14630400" h="577215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3878" b="-443878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Bike Sharing Demand Analysis  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894571" y="1910078"/>
            <a:ext cx="8157093" cy="576644"/>
            <a:chOff x="0" y="0"/>
            <a:chExt cx="10876124" cy="76885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876124" cy="768859"/>
            </a:xfrm>
            <a:custGeom>
              <a:avLst/>
              <a:gdLst/>
              <a:ahLst/>
              <a:cxnLst/>
              <a:rect l="l" t="t" r="r" b="b"/>
              <a:pathLst>
                <a:path w="10876124" h="768859">
                  <a:moveTo>
                    <a:pt x="0" y="0"/>
                  </a:moveTo>
                  <a:lnTo>
                    <a:pt x="10876124" y="0"/>
                  </a:lnTo>
                  <a:lnTo>
                    <a:pt x="10876124" y="768859"/>
                  </a:lnTo>
                  <a:lnTo>
                    <a:pt x="0" y="76885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5533" r="33581" b="-120607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10876124" cy="7974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 spc="72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Pearson Correlation Coefficient Between Temperature and Rentals</a:t>
              </a:r>
            </a:p>
            <a:p>
              <a:pPr algn="ctr">
                <a:lnSpc>
                  <a:spcPts val="1980"/>
                </a:lnSpc>
              </a:pPr>
              <a:endParaRPr lang="en-US" sz="1650" b="1" spc="72">
                <a:solidFill>
                  <a:srgbClr val="173F5F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sp>
        <p:nvSpPr>
          <p:cNvPr id="37" name="Freeform 37"/>
          <p:cNvSpPr/>
          <p:nvPr/>
        </p:nvSpPr>
        <p:spPr>
          <a:xfrm>
            <a:off x="2817206" y="2393404"/>
            <a:ext cx="12216969" cy="6187507"/>
          </a:xfrm>
          <a:custGeom>
            <a:avLst/>
            <a:gdLst/>
            <a:ahLst/>
            <a:cxnLst/>
            <a:rect l="l" t="t" r="r" b="b"/>
            <a:pathLst>
              <a:path w="12216969" h="6187507">
                <a:moveTo>
                  <a:pt x="0" y="0"/>
                </a:moveTo>
                <a:lnTo>
                  <a:pt x="12216969" y="0"/>
                </a:lnTo>
                <a:lnTo>
                  <a:pt x="12216969" y="6187507"/>
                </a:lnTo>
                <a:lnTo>
                  <a:pt x="0" y="61875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2080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23444"/>
            <a:chOff x="0" y="0"/>
            <a:chExt cx="24377904" cy="164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164592"/>
            </a:xfrm>
            <a:custGeom>
              <a:avLst/>
              <a:gdLst/>
              <a:ahLst/>
              <a:cxnLst/>
              <a:rect l="l" t="t" r="r" b="b"/>
              <a:pathLst>
                <a:path w="24377904" h="164592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341643" y="554460"/>
            <a:ext cx="19544043" cy="9025604"/>
            <a:chOff x="0" y="0"/>
            <a:chExt cx="26058724" cy="120341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058750" cy="12034139"/>
            </a:xfrm>
            <a:custGeom>
              <a:avLst/>
              <a:gdLst/>
              <a:ahLst/>
              <a:cxnLst/>
              <a:rect l="l" t="t" r="r" b="b"/>
              <a:pathLst>
                <a:path w="26058750" h="12034139">
                  <a:moveTo>
                    <a:pt x="0" y="0"/>
                  </a:moveTo>
                  <a:lnTo>
                    <a:pt x="26058750" y="0"/>
                  </a:lnTo>
                  <a:lnTo>
                    <a:pt x="26058750" y="12034139"/>
                  </a:lnTo>
                  <a:lnTo>
                    <a:pt x="0" y="12034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9" b="-1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" y="438912"/>
            <a:ext cx="12344400" cy="411480"/>
            <a:chOff x="0" y="0"/>
            <a:chExt cx="16459200" cy="5486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85800" y="410337"/>
            <a:ext cx="12344400" cy="440055"/>
            <a:chOff x="0" y="0"/>
            <a:chExt cx="16459200" cy="5867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459200" cy="586740"/>
            </a:xfrm>
            <a:custGeom>
              <a:avLst/>
              <a:gdLst/>
              <a:ahLst/>
              <a:cxnLst/>
              <a:rect l="l" t="t" r="r" b="b"/>
              <a:pathLst>
                <a:path w="16459200" h="586740">
                  <a:moveTo>
                    <a:pt x="0" y="0"/>
                  </a:moveTo>
                  <a:lnTo>
                    <a:pt x="16459200" y="0"/>
                  </a:lnTo>
                  <a:lnTo>
                    <a:pt x="164592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96593" b="-49659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4592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 ·  GROUPED ANALYSIS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795528"/>
            <a:ext cx="16870680" cy="960120"/>
            <a:chOff x="0" y="0"/>
            <a:chExt cx="22494240" cy="12801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94239" cy="1280160"/>
            </a:xfrm>
            <a:custGeom>
              <a:avLst/>
              <a:gdLst/>
              <a:ahLst/>
              <a:cxnLst/>
              <a:rect l="l" t="t" r="r" b="b"/>
              <a:pathLst>
                <a:path w="22494239" h="1280160">
                  <a:moveTo>
                    <a:pt x="0" y="0"/>
                  </a:moveTo>
                  <a:lnTo>
                    <a:pt x="22494239" y="0"/>
                  </a:lnTo>
                  <a:lnTo>
                    <a:pt x="224942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2141" b="-29214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85800" y="781240"/>
            <a:ext cx="16870680" cy="974407"/>
            <a:chOff x="0" y="0"/>
            <a:chExt cx="22494240" cy="12992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39" cy="1299210"/>
            </a:xfrm>
            <a:custGeom>
              <a:avLst/>
              <a:gdLst/>
              <a:ahLst/>
              <a:cxnLst/>
              <a:rect l="l" t="t" r="r" b="b"/>
              <a:pathLst>
                <a:path w="22494239" h="1299210">
                  <a:moveTo>
                    <a:pt x="0" y="0"/>
                  </a:moveTo>
                  <a:lnTo>
                    <a:pt x="22494239" y="0"/>
                  </a:lnTo>
                  <a:lnTo>
                    <a:pt x="22494239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87359" b="-28735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2494240" cy="131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Temperature–Demand Relationship Is Non-Linear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768096" y="1755647"/>
            <a:ext cx="1507947" cy="1"/>
          </a:xfrm>
          <a:prstGeom prst="line">
            <a:avLst/>
          </a:prstGeom>
          <a:ln w="19050" cap="rnd">
            <a:solidFill>
              <a:srgbClr val="E9A2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7048988" y="9738360"/>
            <a:ext cx="685800" cy="411480"/>
            <a:chOff x="0" y="0"/>
            <a:chExt cx="914400" cy="5486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036" r="-27034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7048988" y="9716929"/>
            <a:ext cx="685800" cy="432911"/>
            <a:chOff x="0" y="0"/>
            <a:chExt cx="914400" cy="57721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4400" cy="577215"/>
            </a:xfrm>
            <a:custGeom>
              <a:avLst/>
              <a:gdLst/>
              <a:ahLst/>
              <a:cxnLst/>
              <a:rect l="l" t="t" r="r" b="b"/>
              <a:pathLst>
                <a:path w="914400" h="577215">
                  <a:moveTo>
                    <a:pt x="0" y="0"/>
                  </a:moveTo>
                  <a:lnTo>
                    <a:pt x="914400" y="0"/>
                  </a:lnTo>
                  <a:lnTo>
                    <a:pt x="914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991" r="-3099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914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/ 17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5800" y="8709660"/>
            <a:ext cx="15951708" cy="850392"/>
            <a:chOff x="0" y="0"/>
            <a:chExt cx="21268944" cy="113385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268944" cy="1133856"/>
            </a:xfrm>
            <a:custGeom>
              <a:avLst/>
              <a:gdLst/>
              <a:ahLst/>
              <a:cxnLst/>
              <a:rect l="l" t="t" r="r" b="b"/>
              <a:pathLst>
                <a:path w="21268944" h="1133856">
                  <a:moveTo>
                    <a:pt x="0" y="0"/>
                  </a:moveTo>
                  <a:lnTo>
                    <a:pt x="21268944" y="0"/>
                  </a:lnTo>
                  <a:lnTo>
                    <a:pt x="21268944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E4F3F1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85800" y="8709660"/>
            <a:ext cx="82296" cy="850392"/>
            <a:chOff x="0" y="0"/>
            <a:chExt cx="109728" cy="113385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9728" cy="1133856"/>
            </a:xfrm>
            <a:custGeom>
              <a:avLst/>
              <a:gdLst/>
              <a:ahLst/>
              <a:cxnLst/>
              <a:rect l="l" t="t" r="r" b="b"/>
              <a:pathLst>
                <a:path w="109728" h="1133856">
                  <a:moveTo>
                    <a:pt x="0" y="0"/>
                  </a:moveTo>
                  <a:lnTo>
                    <a:pt x="109728" y="0"/>
                  </a:lnTo>
                  <a:lnTo>
                    <a:pt x="109728" y="1133856"/>
                  </a:lnTo>
                  <a:lnTo>
                    <a:pt x="0" y="1133856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028700" y="8750808"/>
            <a:ext cx="15265908" cy="768096"/>
            <a:chOff x="0" y="0"/>
            <a:chExt cx="20354544" cy="102412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354544" cy="1024128"/>
            </a:xfrm>
            <a:custGeom>
              <a:avLst/>
              <a:gdLst/>
              <a:ahLst/>
              <a:cxnLst/>
              <a:rect l="l" t="t" r="r" b="b"/>
              <a:pathLst>
                <a:path w="20354544" h="1024128">
                  <a:moveTo>
                    <a:pt x="0" y="0"/>
                  </a:moveTo>
                  <a:lnTo>
                    <a:pt x="20354544" y="0"/>
                  </a:lnTo>
                  <a:lnTo>
                    <a:pt x="203545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6995" b="-336996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038225" y="8722233"/>
            <a:ext cx="15265908" cy="796671"/>
            <a:chOff x="0" y="0"/>
            <a:chExt cx="20354544" cy="106222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354544" cy="1062228"/>
            </a:xfrm>
            <a:custGeom>
              <a:avLst/>
              <a:gdLst/>
              <a:ahLst/>
              <a:cxnLst/>
              <a:rect l="l" t="t" r="r" b="b"/>
              <a:pathLst>
                <a:path w="20354544" h="1062228">
                  <a:moveTo>
                    <a:pt x="0" y="0"/>
                  </a:moveTo>
                  <a:lnTo>
                    <a:pt x="20354544" y="0"/>
                  </a:lnTo>
                  <a:lnTo>
                    <a:pt x="20354544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23374" b="-323374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0354544" cy="1100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26323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Demand rises across the lower temperature bands and reaches its highest average in the 0.3–0.4 band (93.88), then falls to 59.48 in the 0.4–0.5 band — showing the relationship is not a simple straight-line trend, without implying an optimal causal temperature.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6275" y="9789414"/>
            <a:ext cx="10972800" cy="411480"/>
            <a:chOff x="0" y="0"/>
            <a:chExt cx="14630400" cy="5486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9240" b="-469238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676275" y="9767983"/>
            <a:ext cx="10972800" cy="432911"/>
            <a:chOff x="0" y="0"/>
            <a:chExt cx="14630400" cy="57721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630400" cy="577215"/>
            </a:xfrm>
            <a:custGeom>
              <a:avLst/>
              <a:gdLst/>
              <a:ahLst/>
              <a:cxnLst/>
              <a:rect l="l" t="t" r="r" b="b"/>
              <a:pathLst>
                <a:path w="14630400" h="577215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43878" b="-443878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Bike Sharing Demand Analysis  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3428" cy="123444"/>
            <a:chOff x="0" y="0"/>
            <a:chExt cx="24377904" cy="164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77904" cy="164592"/>
            </a:xfrm>
            <a:custGeom>
              <a:avLst/>
              <a:gdLst/>
              <a:ahLst/>
              <a:cxnLst/>
              <a:rect l="l" t="t" r="r" b="b"/>
              <a:pathLst>
                <a:path w="24377904" h="164592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85800" y="438912"/>
            <a:ext cx="12344400" cy="411480"/>
            <a:chOff x="0" y="0"/>
            <a:chExt cx="16459200" cy="54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85800" y="410337"/>
            <a:ext cx="12344400" cy="440055"/>
            <a:chOff x="0" y="0"/>
            <a:chExt cx="16459200" cy="5867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59200" cy="586740"/>
            </a:xfrm>
            <a:custGeom>
              <a:avLst/>
              <a:gdLst/>
              <a:ahLst/>
              <a:cxnLst/>
              <a:rect l="l" t="t" r="r" b="b"/>
              <a:pathLst>
                <a:path w="16459200" h="586740">
                  <a:moveTo>
                    <a:pt x="0" y="0"/>
                  </a:moveTo>
                  <a:lnTo>
                    <a:pt x="16459200" y="0"/>
                  </a:lnTo>
                  <a:lnTo>
                    <a:pt x="164592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6593" b="-49659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4592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  ·  ENVIRONMENTAL FACTORS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5800" y="795528"/>
            <a:ext cx="16870680" cy="960120"/>
            <a:chOff x="0" y="0"/>
            <a:chExt cx="22494240" cy="12801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94239" cy="1280160"/>
            </a:xfrm>
            <a:custGeom>
              <a:avLst/>
              <a:gdLst/>
              <a:ahLst/>
              <a:cxnLst/>
              <a:rect l="l" t="t" r="r" b="b"/>
              <a:pathLst>
                <a:path w="22494239" h="1280160">
                  <a:moveTo>
                    <a:pt x="0" y="0"/>
                  </a:moveTo>
                  <a:lnTo>
                    <a:pt x="22494239" y="0"/>
                  </a:lnTo>
                  <a:lnTo>
                    <a:pt x="224942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141" b="-292141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85800" y="781240"/>
            <a:ext cx="16870680" cy="974407"/>
            <a:chOff x="0" y="0"/>
            <a:chExt cx="22494240" cy="12992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94239" cy="1299210"/>
            </a:xfrm>
            <a:custGeom>
              <a:avLst/>
              <a:gdLst/>
              <a:ahLst/>
              <a:cxnLst/>
              <a:rect l="l" t="t" r="r" b="b"/>
              <a:pathLst>
                <a:path w="22494239" h="1299210">
                  <a:moveTo>
                    <a:pt x="0" y="0"/>
                  </a:moveTo>
                  <a:lnTo>
                    <a:pt x="22494239" y="0"/>
                  </a:lnTo>
                  <a:lnTo>
                    <a:pt x="22494239" y="1299210"/>
                  </a:lnTo>
                  <a:lnTo>
                    <a:pt x="0" y="12992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7359" b="-28735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2494240" cy="131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Humidity Shows a Negative Association with Demand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624817" y="1755647"/>
            <a:ext cx="1612705" cy="1"/>
          </a:xfrm>
          <a:prstGeom prst="line">
            <a:avLst/>
          </a:prstGeom>
          <a:ln w="19050" cap="rnd">
            <a:solidFill>
              <a:srgbClr val="E9A2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661958" y="2345055"/>
            <a:ext cx="8092440" cy="411480"/>
            <a:chOff x="0" y="0"/>
            <a:chExt cx="10789920" cy="5486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789920" cy="548640"/>
            </a:xfrm>
            <a:custGeom>
              <a:avLst/>
              <a:gdLst/>
              <a:ahLst/>
              <a:cxnLst/>
              <a:rect l="l" t="t" r="r" b="b"/>
              <a:pathLst>
                <a:path w="10789920" h="548640">
                  <a:moveTo>
                    <a:pt x="0" y="0"/>
                  </a:moveTo>
                  <a:lnTo>
                    <a:pt x="10789920" y="0"/>
                  </a:lnTo>
                  <a:lnTo>
                    <a:pt x="10789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939" b="-332939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661958" y="2323624"/>
            <a:ext cx="8092440" cy="432911"/>
            <a:chOff x="0" y="0"/>
            <a:chExt cx="10789920" cy="57721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89920" cy="577215"/>
            </a:xfrm>
            <a:custGeom>
              <a:avLst/>
              <a:gdLst/>
              <a:ahLst/>
              <a:cxnLst/>
              <a:rect l="l" t="t" r="r" b="b"/>
              <a:pathLst>
                <a:path w="10789920" h="577215">
                  <a:moveTo>
                    <a:pt x="0" y="0"/>
                  </a:moveTo>
                  <a:lnTo>
                    <a:pt x="10789920" y="0"/>
                  </a:lnTo>
                  <a:lnTo>
                    <a:pt x="1078992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14235" b="-31423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078992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74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CORRELATION WITH TOTAL RENTALS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624817" y="2978173"/>
            <a:ext cx="8121012" cy="28631"/>
          </a:xfrm>
          <a:prstGeom prst="line">
            <a:avLst/>
          </a:prstGeom>
          <a:ln w="9525" cap="rnd">
            <a:solidFill>
              <a:srgbClr val="E7ECF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345453" y="3230641"/>
            <a:ext cx="8798547" cy="4996750"/>
            <a:chOff x="0" y="0"/>
            <a:chExt cx="12596609" cy="715369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596622" cy="7153694"/>
            </a:xfrm>
            <a:custGeom>
              <a:avLst/>
              <a:gdLst/>
              <a:ahLst/>
              <a:cxnLst/>
              <a:rect l="l" t="t" r="r" b="b"/>
              <a:pathLst>
                <a:path w="12596622" h="7153694">
                  <a:moveTo>
                    <a:pt x="0" y="0"/>
                  </a:moveTo>
                  <a:lnTo>
                    <a:pt x="12596622" y="0"/>
                  </a:lnTo>
                  <a:lnTo>
                    <a:pt x="12596622" y="7153694"/>
                  </a:lnTo>
                  <a:lnTo>
                    <a:pt x="0" y="7153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385" b="-2385"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9440198" y="2345055"/>
            <a:ext cx="8092440" cy="411480"/>
            <a:chOff x="0" y="0"/>
            <a:chExt cx="10789920" cy="5486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89920" cy="548640"/>
            </a:xfrm>
            <a:custGeom>
              <a:avLst/>
              <a:gdLst/>
              <a:ahLst/>
              <a:cxnLst/>
              <a:rect l="l" t="t" r="r" b="b"/>
              <a:pathLst>
                <a:path w="10789920" h="548640">
                  <a:moveTo>
                    <a:pt x="0" y="0"/>
                  </a:moveTo>
                  <a:lnTo>
                    <a:pt x="10789920" y="0"/>
                  </a:lnTo>
                  <a:lnTo>
                    <a:pt x="10789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2939" b="-332939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9440198" y="2323624"/>
            <a:ext cx="8092440" cy="432911"/>
            <a:chOff x="0" y="0"/>
            <a:chExt cx="10789920" cy="57721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789920" cy="577215"/>
            </a:xfrm>
            <a:custGeom>
              <a:avLst/>
              <a:gdLst/>
              <a:ahLst/>
              <a:cxnLst/>
              <a:rect l="l" t="t" r="r" b="b"/>
              <a:pathLst>
                <a:path w="10789920" h="577215">
                  <a:moveTo>
                    <a:pt x="0" y="0"/>
                  </a:moveTo>
                  <a:lnTo>
                    <a:pt x="10789920" y="0"/>
                  </a:lnTo>
                  <a:lnTo>
                    <a:pt x="1078992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14235" b="-314235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1078992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74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AVERAGE RENTALS BY HUMIDITY BAND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9435451" y="2982935"/>
            <a:ext cx="8121012" cy="28631"/>
          </a:xfrm>
          <a:prstGeom prst="line">
            <a:avLst/>
          </a:prstGeom>
          <a:ln w="9525" cap="rnd">
            <a:solidFill>
              <a:srgbClr val="E7ECF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9308258" y="3230641"/>
            <a:ext cx="8975170" cy="4912075"/>
            <a:chOff x="0" y="0"/>
            <a:chExt cx="12786639" cy="69980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786614" cy="6998023"/>
            </a:xfrm>
            <a:custGeom>
              <a:avLst/>
              <a:gdLst/>
              <a:ahLst/>
              <a:cxnLst/>
              <a:rect l="l" t="t" r="r" b="b"/>
              <a:pathLst>
                <a:path w="12786614" h="6998023">
                  <a:moveTo>
                    <a:pt x="0" y="0"/>
                  </a:moveTo>
                  <a:lnTo>
                    <a:pt x="12786614" y="0"/>
                  </a:lnTo>
                  <a:lnTo>
                    <a:pt x="12786614" y="6998023"/>
                  </a:lnTo>
                  <a:lnTo>
                    <a:pt x="0" y="6998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63" b="-763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685800" y="8915400"/>
            <a:ext cx="15951708" cy="685800"/>
            <a:chOff x="0" y="0"/>
            <a:chExt cx="21268944" cy="914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268944" cy="914400"/>
            </a:xfrm>
            <a:custGeom>
              <a:avLst/>
              <a:gdLst/>
              <a:ahLst/>
              <a:cxnLst/>
              <a:rect l="l" t="t" r="r" b="b"/>
              <a:pathLst>
                <a:path w="21268944" h="914400">
                  <a:moveTo>
                    <a:pt x="0" y="0"/>
                  </a:moveTo>
                  <a:lnTo>
                    <a:pt x="21268944" y="0"/>
                  </a:lnTo>
                  <a:lnTo>
                    <a:pt x="21268944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4F3F1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685800" y="8915400"/>
            <a:ext cx="82296" cy="685800"/>
            <a:chOff x="0" y="0"/>
            <a:chExt cx="109728" cy="914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9728" cy="914400"/>
            </a:xfrm>
            <a:custGeom>
              <a:avLst/>
              <a:gdLst/>
              <a:ahLst/>
              <a:cxnLst/>
              <a:rect l="l" t="t" r="r" b="b"/>
              <a:pathLst>
                <a:path w="109728" h="914400">
                  <a:moveTo>
                    <a:pt x="0" y="0"/>
                  </a:moveTo>
                  <a:lnTo>
                    <a:pt x="109728" y="0"/>
                  </a:lnTo>
                  <a:lnTo>
                    <a:pt x="109728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028700" y="8956548"/>
            <a:ext cx="15265908" cy="603504"/>
            <a:chOff x="0" y="0"/>
            <a:chExt cx="20354544" cy="80467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0354544" cy="804672"/>
            </a:xfrm>
            <a:custGeom>
              <a:avLst/>
              <a:gdLst/>
              <a:ahLst/>
              <a:cxnLst/>
              <a:rect l="l" t="t" r="r" b="b"/>
              <a:pathLst>
                <a:path w="20354544" h="804672">
                  <a:moveTo>
                    <a:pt x="0" y="0"/>
                  </a:moveTo>
                  <a:lnTo>
                    <a:pt x="20354544" y="0"/>
                  </a:lnTo>
                  <a:lnTo>
                    <a:pt x="20354544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2539" b="-442541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1028700" y="8927973"/>
            <a:ext cx="15265908" cy="663936"/>
            <a:chOff x="0" y="0"/>
            <a:chExt cx="20354544" cy="88524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0354544" cy="885248"/>
            </a:xfrm>
            <a:custGeom>
              <a:avLst/>
              <a:gdLst/>
              <a:ahLst/>
              <a:cxnLst/>
              <a:rect l="l" t="t" r="r" b="b"/>
              <a:pathLst>
                <a:path w="20354544" h="885248">
                  <a:moveTo>
                    <a:pt x="0" y="0"/>
                  </a:moveTo>
                  <a:lnTo>
                    <a:pt x="20354544" y="0"/>
                  </a:lnTo>
                  <a:lnTo>
                    <a:pt x="20354544" y="885248"/>
                  </a:lnTo>
                  <a:lnTo>
                    <a:pt x="0" y="885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0419" b="-395620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20354544" cy="9233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26323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Humidity has a negative relationship with rentals (-0.254). With increase in humidity, average rentals decrease from 82.98 to 42.07. There is a weak positive relation between windspeed and rentals (+0.104).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6275" y="9789414"/>
            <a:ext cx="10972800" cy="411480"/>
            <a:chOff x="0" y="0"/>
            <a:chExt cx="14630400" cy="5486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240" b="-469238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676275" y="9767983"/>
            <a:ext cx="10972800" cy="432911"/>
            <a:chOff x="0" y="0"/>
            <a:chExt cx="14630400" cy="57721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4630400" cy="577215"/>
            </a:xfrm>
            <a:custGeom>
              <a:avLst/>
              <a:gdLst/>
              <a:ahLst/>
              <a:cxnLst/>
              <a:rect l="l" t="t" r="r" b="b"/>
              <a:pathLst>
                <a:path w="14630400" h="577215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3878" b="-443878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Bike Sharing Demand Analysis  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7049750" y="9738360"/>
            <a:ext cx="685800" cy="411480"/>
            <a:chOff x="0" y="0"/>
            <a:chExt cx="914400" cy="5486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36" r="-27034"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17049750" y="9716929"/>
            <a:ext cx="685800" cy="432911"/>
            <a:chOff x="0" y="0"/>
            <a:chExt cx="914400" cy="57721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14400" cy="577215"/>
            </a:xfrm>
            <a:custGeom>
              <a:avLst/>
              <a:gdLst/>
              <a:ahLst/>
              <a:cxnLst/>
              <a:rect l="l" t="t" r="r" b="b"/>
              <a:pathLst>
                <a:path w="914400" h="577215">
                  <a:moveTo>
                    <a:pt x="0" y="0"/>
                  </a:moveTo>
                  <a:lnTo>
                    <a:pt x="914400" y="0"/>
                  </a:lnTo>
                  <a:lnTo>
                    <a:pt x="914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991" r="-30991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914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/ 17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1512" y="-402812"/>
            <a:ext cx="16870680" cy="3317882"/>
            <a:chOff x="0" y="0"/>
            <a:chExt cx="22494240" cy="44238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94239" cy="4423842"/>
            </a:xfrm>
            <a:custGeom>
              <a:avLst/>
              <a:gdLst/>
              <a:ahLst/>
              <a:cxnLst/>
              <a:rect l="l" t="t" r="r" b="b"/>
              <a:pathLst>
                <a:path w="22494239" h="4423842">
                  <a:moveTo>
                    <a:pt x="0" y="0"/>
                  </a:moveTo>
                  <a:lnTo>
                    <a:pt x="22494239" y="0"/>
                  </a:lnTo>
                  <a:lnTo>
                    <a:pt x="22494239" y="4423842"/>
                  </a:lnTo>
                  <a:lnTo>
                    <a:pt x="0" y="4423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077" b="-49077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2494240" cy="4442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Model Projects Demand Over the Forecast Period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3428" cy="123444"/>
            <a:chOff x="0" y="0"/>
            <a:chExt cx="24377904" cy="1645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77904" cy="164592"/>
            </a:xfrm>
            <a:custGeom>
              <a:avLst/>
              <a:gdLst/>
              <a:ahLst/>
              <a:cxnLst/>
              <a:rect l="l" t="t" r="r" b="b"/>
              <a:pathLst>
                <a:path w="24377904" h="164592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1180671" y="299380"/>
            <a:ext cx="20890506" cy="8091049"/>
            <a:chOff x="0" y="0"/>
            <a:chExt cx="27854008" cy="1078806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854021" cy="10788015"/>
            </a:xfrm>
            <a:custGeom>
              <a:avLst/>
              <a:gdLst/>
              <a:ahLst/>
              <a:cxnLst/>
              <a:rect l="l" t="t" r="r" b="b"/>
              <a:pathLst>
                <a:path w="27854021" h="10788015">
                  <a:moveTo>
                    <a:pt x="0" y="0"/>
                  </a:moveTo>
                  <a:lnTo>
                    <a:pt x="27854021" y="0"/>
                  </a:lnTo>
                  <a:lnTo>
                    <a:pt x="27854021" y="10788015"/>
                  </a:lnTo>
                  <a:lnTo>
                    <a:pt x="0" y="10788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979" b="-198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85800" y="438912"/>
            <a:ext cx="12344400" cy="411480"/>
            <a:chOff x="0" y="0"/>
            <a:chExt cx="16459200" cy="5486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85800" y="410337"/>
            <a:ext cx="12344400" cy="440055"/>
            <a:chOff x="0" y="0"/>
            <a:chExt cx="16459200" cy="5867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459200" cy="586740"/>
            </a:xfrm>
            <a:custGeom>
              <a:avLst/>
              <a:gdLst/>
              <a:ahLst/>
              <a:cxnLst/>
              <a:rect l="l" t="t" r="r" b="b"/>
              <a:pathLst>
                <a:path w="16459200" h="586740">
                  <a:moveTo>
                    <a:pt x="0" y="0"/>
                  </a:moveTo>
                  <a:lnTo>
                    <a:pt x="16459200" y="0"/>
                  </a:lnTo>
                  <a:lnTo>
                    <a:pt x="164592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6593" b="-49659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64592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  ·  FORECAST ANALYSIS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294105" y="2887047"/>
            <a:ext cx="16870680" cy="3303594"/>
            <a:chOff x="0" y="0"/>
            <a:chExt cx="22494240" cy="44047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494239" cy="4404741"/>
            </a:xfrm>
            <a:custGeom>
              <a:avLst/>
              <a:gdLst/>
              <a:ahLst/>
              <a:cxnLst/>
              <a:rect l="l" t="t" r="r" b="b"/>
              <a:pathLst>
                <a:path w="22494239" h="4404741">
                  <a:moveTo>
                    <a:pt x="0" y="0"/>
                  </a:moveTo>
                  <a:lnTo>
                    <a:pt x="22494239" y="0"/>
                  </a:lnTo>
                  <a:lnTo>
                    <a:pt x="22494239" y="4404741"/>
                  </a:lnTo>
                  <a:lnTo>
                    <a:pt x="0" y="44047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506" b="-49507"/>
              </a:stretch>
            </a:blipFill>
          </p:spPr>
        </p:sp>
      </p:grpSp>
      <p:sp>
        <p:nvSpPr>
          <p:cNvPr id="16" name="AutoShape 16"/>
          <p:cNvSpPr/>
          <p:nvPr/>
        </p:nvSpPr>
        <p:spPr>
          <a:xfrm>
            <a:off x="671516" y="1741363"/>
            <a:ext cx="1492033" cy="0"/>
          </a:xfrm>
          <a:prstGeom prst="line">
            <a:avLst/>
          </a:prstGeom>
          <a:ln w="19050" cap="rnd">
            <a:solidFill>
              <a:srgbClr val="E9A2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17048988" y="9738360"/>
            <a:ext cx="685800" cy="411480"/>
            <a:chOff x="0" y="0"/>
            <a:chExt cx="914400" cy="5486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036" r="-27034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7048988" y="9716929"/>
            <a:ext cx="685800" cy="432911"/>
            <a:chOff x="0" y="0"/>
            <a:chExt cx="914400" cy="57721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4400" cy="577215"/>
            </a:xfrm>
            <a:custGeom>
              <a:avLst/>
              <a:gdLst/>
              <a:ahLst/>
              <a:cxnLst/>
              <a:rect l="l" t="t" r="r" b="b"/>
              <a:pathLst>
                <a:path w="914400" h="577215">
                  <a:moveTo>
                    <a:pt x="0" y="0"/>
                  </a:moveTo>
                  <a:lnTo>
                    <a:pt x="914400" y="0"/>
                  </a:lnTo>
                  <a:lnTo>
                    <a:pt x="914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91" r="-3099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914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/ 17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1040" y="7338060"/>
            <a:ext cx="5349240" cy="460820"/>
            <a:chOff x="0" y="0"/>
            <a:chExt cx="7132320" cy="61442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132320" cy="614426"/>
            </a:xfrm>
            <a:custGeom>
              <a:avLst/>
              <a:gdLst/>
              <a:ahLst/>
              <a:cxnLst/>
              <a:rect l="l" t="t" r="r" b="b"/>
              <a:pathLst>
                <a:path w="7132320" h="61442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022592" y="0"/>
                  </a:lnTo>
                  <a:cubicBezTo>
                    <a:pt x="7083172" y="0"/>
                    <a:pt x="7132320" y="49149"/>
                    <a:pt x="7132320" y="109728"/>
                  </a:cubicBezTo>
                  <a:lnTo>
                    <a:pt x="7132320" y="504698"/>
                  </a:lnTo>
                  <a:cubicBezTo>
                    <a:pt x="7132320" y="565277"/>
                    <a:pt x="7083172" y="614426"/>
                    <a:pt x="7022592" y="614426"/>
                  </a:cubicBezTo>
                  <a:lnTo>
                    <a:pt x="109728" y="614426"/>
                  </a:lnTo>
                  <a:cubicBezTo>
                    <a:pt x="49149" y="614426"/>
                    <a:pt x="0" y="565404"/>
                    <a:pt x="0" y="504698"/>
                  </a:cubicBezTo>
                  <a:close/>
                </a:path>
              </a:pathLst>
            </a:custGeom>
            <a:solidFill>
              <a:srgbClr val="E7ECF1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385560" y="7338060"/>
            <a:ext cx="5349240" cy="460820"/>
            <a:chOff x="0" y="0"/>
            <a:chExt cx="7132320" cy="6144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132320" cy="614426"/>
            </a:xfrm>
            <a:custGeom>
              <a:avLst/>
              <a:gdLst/>
              <a:ahLst/>
              <a:cxnLst/>
              <a:rect l="l" t="t" r="r" b="b"/>
              <a:pathLst>
                <a:path w="7132320" h="61442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022592" y="0"/>
                  </a:lnTo>
                  <a:cubicBezTo>
                    <a:pt x="7083172" y="0"/>
                    <a:pt x="7132320" y="49149"/>
                    <a:pt x="7132320" y="109728"/>
                  </a:cubicBezTo>
                  <a:lnTo>
                    <a:pt x="7132320" y="504698"/>
                  </a:lnTo>
                  <a:cubicBezTo>
                    <a:pt x="7132320" y="565277"/>
                    <a:pt x="7083172" y="614426"/>
                    <a:pt x="7022592" y="614426"/>
                  </a:cubicBezTo>
                  <a:lnTo>
                    <a:pt x="109728" y="614426"/>
                  </a:lnTo>
                  <a:cubicBezTo>
                    <a:pt x="49149" y="614426"/>
                    <a:pt x="0" y="565404"/>
                    <a:pt x="0" y="504698"/>
                  </a:cubicBezTo>
                  <a:close/>
                </a:path>
              </a:pathLst>
            </a:custGeom>
            <a:solidFill>
              <a:srgbClr val="E4F3F1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6577584" y="7369931"/>
            <a:ext cx="4965192" cy="378562"/>
            <a:chOff x="0" y="0"/>
            <a:chExt cx="6620256" cy="50474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620256" cy="504698"/>
            </a:xfrm>
            <a:custGeom>
              <a:avLst/>
              <a:gdLst/>
              <a:ahLst/>
              <a:cxnLst/>
              <a:rect l="l" t="t" r="r" b="b"/>
              <a:pathLst>
                <a:path w="6620256" h="504698">
                  <a:moveTo>
                    <a:pt x="0" y="0"/>
                  </a:moveTo>
                  <a:lnTo>
                    <a:pt x="6620256" y="0"/>
                  </a:lnTo>
                  <a:lnTo>
                    <a:pt x="6620256" y="504698"/>
                  </a:lnTo>
                  <a:lnTo>
                    <a:pt x="0" y="5046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05407" b="-205417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6577584" y="7348499"/>
            <a:ext cx="4965192" cy="399993"/>
            <a:chOff x="0" y="0"/>
            <a:chExt cx="6620256" cy="53332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620256" cy="533323"/>
            </a:xfrm>
            <a:custGeom>
              <a:avLst/>
              <a:gdLst/>
              <a:ahLst/>
              <a:cxnLst/>
              <a:rect l="l" t="t" r="r" b="b"/>
              <a:pathLst>
                <a:path w="6620256" h="533323">
                  <a:moveTo>
                    <a:pt x="0" y="0"/>
                  </a:moveTo>
                  <a:lnTo>
                    <a:pt x="6620256" y="0"/>
                  </a:lnTo>
                  <a:lnTo>
                    <a:pt x="6620256" y="533323"/>
                  </a:lnTo>
                  <a:lnTo>
                    <a:pt x="0" y="5333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871" b="-191872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6620256" cy="5618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 21-day forecast average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 rot="-10800000">
            <a:off x="3031236" y="7785240"/>
            <a:ext cx="384048" cy="159067"/>
            <a:chOff x="0" y="0"/>
            <a:chExt cx="512064" cy="21209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12064" cy="212090"/>
            </a:xfrm>
            <a:custGeom>
              <a:avLst/>
              <a:gdLst/>
              <a:ahLst/>
              <a:cxnLst/>
              <a:rect l="l" t="t" r="r" b="b"/>
              <a:pathLst>
                <a:path w="512064" h="212090">
                  <a:moveTo>
                    <a:pt x="0" y="212090"/>
                  </a:moveTo>
                  <a:lnTo>
                    <a:pt x="256032" y="0"/>
                  </a:lnTo>
                  <a:lnTo>
                    <a:pt x="512064" y="212090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693420" y="7921314"/>
            <a:ext cx="5349240" cy="504730"/>
            <a:chOff x="0" y="0"/>
            <a:chExt cx="7132320" cy="6729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132320" cy="672973"/>
            </a:xfrm>
            <a:custGeom>
              <a:avLst/>
              <a:gdLst/>
              <a:ahLst/>
              <a:cxnLst/>
              <a:rect l="l" t="t" r="r" b="b"/>
              <a:pathLst>
                <a:path w="7132320" h="672973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022592" y="0"/>
                  </a:lnTo>
                  <a:cubicBezTo>
                    <a:pt x="7083172" y="0"/>
                    <a:pt x="7132320" y="49149"/>
                    <a:pt x="7132320" y="109728"/>
                  </a:cubicBezTo>
                  <a:lnTo>
                    <a:pt x="7132320" y="563245"/>
                  </a:lnTo>
                  <a:cubicBezTo>
                    <a:pt x="7132320" y="623824"/>
                    <a:pt x="7083172" y="672973"/>
                    <a:pt x="7022592" y="672973"/>
                  </a:cubicBezTo>
                  <a:lnTo>
                    <a:pt x="109728" y="672973"/>
                  </a:lnTo>
                  <a:cubicBezTo>
                    <a:pt x="49149" y="672973"/>
                    <a:pt x="0" y="623824"/>
                    <a:pt x="0" y="563245"/>
                  </a:cubicBez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6385560" y="7921314"/>
            <a:ext cx="5349240" cy="504730"/>
            <a:chOff x="0" y="0"/>
            <a:chExt cx="7132320" cy="67297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132320" cy="672973"/>
            </a:xfrm>
            <a:custGeom>
              <a:avLst/>
              <a:gdLst/>
              <a:ahLst/>
              <a:cxnLst/>
              <a:rect l="l" t="t" r="r" b="b"/>
              <a:pathLst>
                <a:path w="7132320" h="672973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7022592" y="0"/>
                  </a:lnTo>
                  <a:cubicBezTo>
                    <a:pt x="7083172" y="0"/>
                    <a:pt x="7132320" y="49149"/>
                    <a:pt x="7132320" y="109728"/>
                  </a:cubicBezTo>
                  <a:lnTo>
                    <a:pt x="7132320" y="563245"/>
                  </a:lnTo>
                  <a:cubicBezTo>
                    <a:pt x="7132320" y="623824"/>
                    <a:pt x="7083172" y="672973"/>
                    <a:pt x="7022592" y="672973"/>
                  </a:cubicBezTo>
                  <a:lnTo>
                    <a:pt x="109728" y="672973"/>
                  </a:lnTo>
                  <a:cubicBezTo>
                    <a:pt x="49149" y="672973"/>
                    <a:pt x="0" y="623824"/>
                    <a:pt x="0" y="563245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sp>
        <p:nvSpPr>
          <p:cNvPr id="37" name="Freeform 37"/>
          <p:cNvSpPr/>
          <p:nvPr/>
        </p:nvSpPr>
        <p:spPr>
          <a:xfrm>
            <a:off x="656034" y="8715756"/>
            <a:ext cx="16001714" cy="818102"/>
          </a:xfrm>
          <a:custGeom>
            <a:avLst/>
            <a:gdLst/>
            <a:ahLst/>
            <a:cxnLst/>
            <a:rect l="l" t="t" r="r" b="b"/>
            <a:pathLst>
              <a:path w="16001714" h="818102">
                <a:moveTo>
                  <a:pt x="0" y="0"/>
                </a:moveTo>
                <a:lnTo>
                  <a:pt x="16001715" y="0"/>
                </a:lnTo>
                <a:lnTo>
                  <a:pt x="16001715" y="818102"/>
                </a:lnTo>
                <a:lnTo>
                  <a:pt x="0" y="8181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8" name="Group 38"/>
          <p:cNvGrpSpPr/>
          <p:nvPr/>
        </p:nvGrpSpPr>
        <p:grpSpPr>
          <a:xfrm>
            <a:off x="681038" y="8740759"/>
            <a:ext cx="82296" cy="768096"/>
            <a:chOff x="0" y="0"/>
            <a:chExt cx="109728" cy="102412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9728" cy="1024128"/>
            </a:xfrm>
            <a:custGeom>
              <a:avLst/>
              <a:gdLst/>
              <a:ahLst/>
              <a:cxnLst/>
              <a:rect l="l" t="t" r="r" b="b"/>
              <a:pathLst>
                <a:path w="109728" h="1024128">
                  <a:moveTo>
                    <a:pt x="0" y="0"/>
                  </a:moveTo>
                  <a:lnTo>
                    <a:pt x="109728" y="0"/>
                  </a:lnTo>
                  <a:lnTo>
                    <a:pt x="10972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9A23B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6311265" y="7250754"/>
            <a:ext cx="5074920" cy="1864414"/>
            <a:chOff x="0" y="0"/>
            <a:chExt cx="6766560" cy="248588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766560" cy="2485898"/>
            </a:xfrm>
            <a:custGeom>
              <a:avLst/>
              <a:gdLst/>
              <a:ahLst/>
              <a:cxnLst/>
              <a:rect l="l" t="t" r="r" b="b"/>
              <a:pathLst>
                <a:path w="6766560" h="2485898">
                  <a:moveTo>
                    <a:pt x="0" y="0"/>
                  </a:moveTo>
                  <a:lnTo>
                    <a:pt x="6766560" y="0"/>
                  </a:lnTo>
                  <a:lnTo>
                    <a:pt x="6766560" y="2485898"/>
                  </a:lnTo>
                  <a:lnTo>
                    <a:pt x="0" y="24858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001" b="-3000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6311265" y="7243610"/>
            <a:ext cx="5074920" cy="1871558"/>
            <a:chOff x="0" y="0"/>
            <a:chExt cx="6766560" cy="249541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766560" cy="2495413"/>
            </a:xfrm>
            <a:custGeom>
              <a:avLst/>
              <a:gdLst/>
              <a:ahLst/>
              <a:cxnLst/>
              <a:rect l="l" t="t" r="r" b="b"/>
              <a:pathLst>
                <a:path w="6766560" h="2495413">
                  <a:moveTo>
                    <a:pt x="0" y="0"/>
                  </a:moveTo>
                  <a:lnTo>
                    <a:pt x="6766560" y="0"/>
                  </a:lnTo>
                  <a:lnTo>
                    <a:pt x="6766560" y="2495413"/>
                  </a:lnTo>
                  <a:lnTo>
                    <a:pt x="0" y="24954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35" b="-2835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6766560" cy="25049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1,543.28 rentals/day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44474" y="7379208"/>
            <a:ext cx="4965192" cy="378562"/>
            <a:chOff x="0" y="0"/>
            <a:chExt cx="6620256" cy="50474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620256" cy="504698"/>
            </a:xfrm>
            <a:custGeom>
              <a:avLst/>
              <a:gdLst/>
              <a:ahLst/>
              <a:cxnLst/>
              <a:rect l="l" t="t" r="r" b="b"/>
              <a:pathLst>
                <a:path w="6620256" h="504698">
                  <a:moveTo>
                    <a:pt x="0" y="0"/>
                  </a:moveTo>
                  <a:lnTo>
                    <a:pt x="6620256" y="0"/>
                  </a:lnTo>
                  <a:lnTo>
                    <a:pt x="6620256" y="504698"/>
                  </a:lnTo>
                  <a:lnTo>
                    <a:pt x="0" y="5046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05407" b="-205417"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744474" y="7357777"/>
            <a:ext cx="4965192" cy="399993"/>
            <a:chOff x="0" y="0"/>
            <a:chExt cx="6620256" cy="53332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620256" cy="533324"/>
            </a:xfrm>
            <a:custGeom>
              <a:avLst/>
              <a:gdLst/>
              <a:ahLst/>
              <a:cxnLst/>
              <a:rect l="l" t="t" r="r" b="b"/>
              <a:pathLst>
                <a:path w="6620256" h="533324">
                  <a:moveTo>
                    <a:pt x="0" y="0"/>
                  </a:moveTo>
                  <a:lnTo>
                    <a:pt x="6620256" y="0"/>
                  </a:lnTo>
                  <a:lnTo>
                    <a:pt x="6620256" y="533324"/>
                  </a:lnTo>
                  <a:lnTo>
                    <a:pt x="0" y="5333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871" b="-191871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6620256" cy="5618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First 7 forecast days avg.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 rot="-10800000">
            <a:off x="8868156" y="7775972"/>
            <a:ext cx="384048" cy="159067"/>
            <a:chOff x="0" y="0"/>
            <a:chExt cx="512064" cy="21209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12064" cy="212090"/>
            </a:xfrm>
            <a:custGeom>
              <a:avLst/>
              <a:gdLst/>
              <a:ahLst/>
              <a:cxnLst/>
              <a:rect l="l" t="t" r="r" b="b"/>
              <a:pathLst>
                <a:path w="512064" h="212090">
                  <a:moveTo>
                    <a:pt x="0" y="212090"/>
                  </a:moveTo>
                  <a:lnTo>
                    <a:pt x="256032" y="0"/>
                  </a:lnTo>
                  <a:lnTo>
                    <a:pt x="512064" y="21209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097280" y="7241486"/>
            <a:ext cx="5074920" cy="1864414"/>
            <a:chOff x="0" y="0"/>
            <a:chExt cx="6766560" cy="248588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766560" cy="2485898"/>
            </a:xfrm>
            <a:custGeom>
              <a:avLst/>
              <a:gdLst/>
              <a:ahLst/>
              <a:cxnLst/>
              <a:rect l="l" t="t" r="r" b="b"/>
              <a:pathLst>
                <a:path w="6766560" h="2485898">
                  <a:moveTo>
                    <a:pt x="0" y="0"/>
                  </a:moveTo>
                  <a:lnTo>
                    <a:pt x="6766560" y="0"/>
                  </a:lnTo>
                  <a:lnTo>
                    <a:pt x="6766560" y="2485898"/>
                  </a:lnTo>
                  <a:lnTo>
                    <a:pt x="0" y="24858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001" b="-3000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1097280" y="7234342"/>
            <a:ext cx="5074920" cy="1871558"/>
            <a:chOff x="0" y="0"/>
            <a:chExt cx="6766560" cy="249541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766560" cy="2495413"/>
            </a:xfrm>
            <a:custGeom>
              <a:avLst/>
              <a:gdLst/>
              <a:ahLst/>
              <a:cxnLst/>
              <a:rect l="l" t="t" r="r" b="b"/>
              <a:pathLst>
                <a:path w="6766560" h="2495413">
                  <a:moveTo>
                    <a:pt x="0" y="0"/>
                  </a:moveTo>
                  <a:lnTo>
                    <a:pt x="6766560" y="0"/>
                  </a:lnTo>
                  <a:lnTo>
                    <a:pt x="6766560" y="2495413"/>
                  </a:lnTo>
                  <a:lnTo>
                    <a:pt x="0" y="24954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35" b="-2835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6766560" cy="25049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0"/>
                </a:lnSpc>
              </a:pPr>
              <a:r>
                <a:rPr lang="en-US" sz="255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1,500.49 rentals/day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077700" y="7338060"/>
            <a:ext cx="5143500" cy="460820"/>
            <a:chOff x="0" y="0"/>
            <a:chExt cx="6858000" cy="61442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858000" cy="614426"/>
            </a:xfrm>
            <a:custGeom>
              <a:avLst/>
              <a:gdLst/>
              <a:ahLst/>
              <a:cxnLst/>
              <a:rect l="l" t="t" r="r" b="b"/>
              <a:pathLst>
                <a:path w="6858000" h="61442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748272" y="0"/>
                  </a:lnTo>
                  <a:cubicBezTo>
                    <a:pt x="6808851" y="0"/>
                    <a:pt x="6858000" y="49149"/>
                    <a:pt x="6858000" y="109728"/>
                  </a:cubicBezTo>
                  <a:lnTo>
                    <a:pt x="6858000" y="504698"/>
                  </a:lnTo>
                  <a:cubicBezTo>
                    <a:pt x="6858000" y="565277"/>
                    <a:pt x="6808851" y="614426"/>
                    <a:pt x="6748272" y="614426"/>
                  </a:cubicBezTo>
                  <a:lnTo>
                    <a:pt x="109728" y="614426"/>
                  </a:lnTo>
                  <a:cubicBezTo>
                    <a:pt x="49149" y="614426"/>
                    <a:pt x="0" y="565404"/>
                    <a:pt x="0" y="504698"/>
                  </a:cubicBezTo>
                  <a:close/>
                </a:path>
              </a:pathLst>
            </a:custGeom>
            <a:solidFill>
              <a:srgbClr val="FCEEDA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2269724" y="7369931"/>
            <a:ext cx="4759452" cy="378562"/>
            <a:chOff x="0" y="0"/>
            <a:chExt cx="6345936" cy="504749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345936" cy="504698"/>
            </a:xfrm>
            <a:custGeom>
              <a:avLst/>
              <a:gdLst/>
              <a:ahLst/>
              <a:cxnLst/>
              <a:rect l="l" t="t" r="r" b="b"/>
              <a:pathLst>
                <a:path w="6345936" h="504698">
                  <a:moveTo>
                    <a:pt x="0" y="0"/>
                  </a:moveTo>
                  <a:lnTo>
                    <a:pt x="6345936" y="0"/>
                  </a:lnTo>
                  <a:lnTo>
                    <a:pt x="6345936" y="504698"/>
                  </a:lnTo>
                  <a:lnTo>
                    <a:pt x="0" y="5046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94823" b="-194833"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12269724" y="7348499"/>
            <a:ext cx="4759452" cy="399993"/>
            <a:chOff x="0" y="0"/>
            <a:chExt cx="6345936" cy="53332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345936" cy="533324"/>
            </a:xfrm>
            <a:custGeom>
              <a:avLst/>
              <a:gdLst/>
              <a:ahLst/>
              <a:cxnLst/>
              <a:rect l="l" t="t" r="r" b="b"/>
              <a:pathLst>
                <a:path w="6345936" h="533324">
                  <a:moveTo>
                    <a:pt x="0" y="0"/>
                  </a:moveTo>
                  <a:lnTo>
                    <a:pt x="6345936" y="0"/>
                  </a:lnTo>
                  <a:lnTo>
                    <a:pt x="6345936" y="533324"/>
                  </a:lnTo>
                  <a:lnTo>
                    <a:pt x="0" y="5333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849" b="-181849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6345936" cy="5618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Forecast period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 rot="-10800000">
            <a:off x="14457426" y="7775972"/>
            <a:ext cx="384048" cy="159067"/>
            <a:chOff x="0" y="0"/>
            <a:chExt cx="512064" cy="21209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12064" cy="212090"/>
            </a:xfrm>
            <a:custGeom>
              <a:avLst/>
              <a:gdLst/>
              <a:ahLst/>
              <a:cxnLst/>
              <a:rect l="l" t="t" r="r" b="b"/>
              <a:pathLst>
                <a:path w="512064" h="212090">
                  <a:moveTo>
                    <a:pt x="0" y="212090"/>
                  </a:moveTo>
                  <a:lnTo>
                    <a:pt x="256032" y="0"/>
                  </a:lnTo>
                  <a:lnTo>
                    <a:pt x="512064" y="212090"/>
                  </a:lnTo>
                  <a:close/>
                </a:path>
              </a:pathLst>
            </a:custGeom>
            <a:solidFill>
              <a:srgbClr val="E9A23B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2077700" y="7921314"/>
            <a:ext cx="5143500" cy="504730"/>
            <a:chOff x="0" y="0"/>
            <a:chExt cx="6858000" cy="672973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858000" cy="672973"/>
            </a:xfrm>
            <a:custGeom>
              <a:avLst/>
              <a:gdLst/>
              <a:ahLst/>
              <a:cxnLst/>
              <a:rect l="l" t="t" r="r" b="b"/>
              <a:pathLst>
                <a:path w="6858000" h="672973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748272" y="0"/>
                  </a:lnTo>
                  <a:cubicBezTo>
                    <a:pt x="6808851" y="0"/>
                    <a:pt x="6858000" y="49149"/>
                    <a:pt x="6858000" y="109728"/>
                  </a:cubicBezTo>
                  <a:lnTo>
                    <a:pt x="6858000" y="563245"/>
                  </a:lnTo>
                  <a:cubicBezTo>
                    <a:pt x="6858000" y="623824"/>
                    <a:pt x="6808851" y="672973"/>
                    <a:pt x="6748272" y="672973"/>
                  </a:cubicBezTo>
                  <a:lnTo>
                    <a:pt x="109728" y="672973"/>
                  </a:lnTo>
                  <a:cubicBezTo>
                    <a:pt x="49149" y="672973"/>
                    <a:pt x="0" y="623824"/>
                    <a:pt x="0" y="563245"/>
                  </a:cubicBezTo>
                  <a:close/>
                </a:path>
              </a:pathLst>
            </a:custGeom>
            <a:solidFill>
              <a:srgbClr val="E9A23B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12214860" y="7921314"/>
            <a:ext cx="4869180" cy="504749"/>
            <a:chOff x="0" y="0"/>
            <a:chExt cx="6492240" cy="67299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492240" cy="672973"/>
            </a:xfrm>
            <a:custGeom>
              <a:avLst/>
              <a:gdLst/>
              <a:ahLst/>
              <a:cxnLst/>
              <a:rect l="l" t="t" r="r" b="b"/>
              <a:pathLst>
                <a:path w="6492240" h="672973">
                  <a:moveTo>
                    <a:pt x="0" y="0"/>
                  </a:moveTo>
                  <a:lnTo>
                    <a:pt x="6492240" y="0"/>
                  </a:lnTo>
                  <a:lnTo>
                    <a:pt x="6492240" y="672973"/>
                  </a:lnTo>
                  <a:lnTo>
                    <a:pt x="0" y="67297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37841" b="-137844"/>
              </a:stretch>
            </a:blipFill>
          </p:spPr>
        </p:sp>
      </p:grpSp>
      <p:grpSp>
        <p:nvGrpSpPr>
          <p:cNvPr id="70" name="Group 70"/>
          <p:cNvGrpSpPr/>
          <p:nvPr/>
        </p:nvGrpSpPr>
        <p:grpSpPr>
          <a:xfrm>
            <a:off x="12214860" y="7907026"/>
            <a:ext cx="4869180" cy="519036"/>
            <a:chOff x="0" y="0"/>
            <a:chExt cx="6492240" cy="692048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492240" cy="692049"/>
            </a:xfrm>
            <a:custGeom>
              <a:avLst/>
              <a:gdLst/>
              <a:ahLst/>
              <a:cxnLst/>
              <a:rect l="l" t="t" r="r" b="b"/>
              <a:pathLst>
                <a:path w="6492240" h="692049">
                  <a:moveTo>
                    <a:pt x="0" y="0"/>
                  </a:moveTo>
                  <a:lnTo>
                    <a:pt x="6492240" y="0"/>
                  </a:lnTo>
                  <a:lnTo>
                    <a:pt x="6492240" y="692049"/>
                  </a:lnTo>
                  <a:lnTo>
                    <a:pt x="0" y="6920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792" b="-132792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6492240" cy="7110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 Feb – 7 Mar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000296" y="8779135"/>
            <a:ext cx="15446159" cy="672084"/>
            <a:chOff x="0" y="0"/>
            <a:chExt cx="20594879" cy="89611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0594828" cy="896112"/>
            </a:xfrm>
            <a:custGeom>
              <a:avLst/>
              <a:gdLst/>
              <a:ahLst/>
              <a:cxnLst/>
              <a:rect l="l" t="t" r="r" b="b"/>
              <a:pathLst>
                <a:path w="20594828" h="896112">
                  <a:moveTo>
                    <a:pt x="0" y="0"/>
                  </a:moveTo>
                  <a:lnTo>
                    <a:pt x="20594828" y="0"/>
                  </a:lnTo>
                  <a:lnTo>
                    <a:pt x="20594828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97502" b="-397502"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1000296" y="8750560"/>
            <a:ext cx="15446159" cy="700659"/>
            <a:chOff x="0" y="0"/>
            <a:chExt cx="20594879" cy="93421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20594876" cy="934212"/>
            </a:xfrm>
            <a:custGeom>
              <a:avLst/>
              <a:gdLst/>
              <a:ahLst/>
              <a:cxnLst/>
              <a:rect l="l" t="t" r="r" b="b"/>
              <a:pathLst>
                <a:path w="20594876" h="934212">
                  <a:moveTo>
                    <a:pt x="0" y="0"/>
                  </a:moveTo>
                  <a:lnTo>
                    <a:pt x="20594876" y="0"/>
                  </a:lnTo>
                  <a:lnTo>
                    <a:pt x="20594876" y="934212"/>
                  </a:lnTo>
                  <a:lnTo>
                    <a:pt x="0" y="9342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9551" b="-379551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20594879" cy="9723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26323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Excel FORECAST.ETS predicts around 1,500 rentals per day on average for the first 7 days. However, these are only estimates, and the actual number of rentals may be different.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76275" y="9789414"/>
            <a:ext cx="10972800" cy="411480"/>
            <a:chOff x="0" y="0"/>
            <a:chExt cx="14630400" cy="54864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69240" b="-469238"/>
              </a:stretch>
            </a:blipFill>
          </p:spPr>
        </p:sp>
      </p:grpSp>
      <p:grpSp>
        <p:nvGrpSpPr>
          <p:cNvPr id="80" name="Group 80"/>
          <p:cNvGrpSpPr/>
          <p:nvPr/>
        </p:nvGrpSpPr>
        <p:grpSpPr>
          <a:xfrm>
            <a:off x="676275" y="9767983"/>
            <a:ext cx="10972800" cy="432911"/>
            <a:chOff x="0" y="0"/>
            <a:chExt cx="14630400" cy="577215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4630400" cy="577215"/>
            </a:xfrm>
            <a:custGeom>
              <a:avLst/>
              <a:gdLst/>
              <a:ahLst/>
              <a:cxnLst/>
              <a:rect l="l" t="t" r="r" b="b"/>
              <a:pathLst>
                <a:path w="14630400" h="577215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3878" b="-443878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Bike Sharing Demand Analysis  </a:t>
              </a:r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560203" y="6914540"/>
            <a:ext cx="17408757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1512" y="-689581"/>
            <a:ext cx="17797672" cy="3921602"/>
            <a:chOff x="0" y="0"/>
            <a:chExt cx="23730229" cy="52288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30231" cy="5228799"/>
            </a:xfrm>
            <a:custGeom>
              <a:avLst/>
              <a:gdLst/>
              <a:ahLst/>
              <a:cxnLst/>
              <a:rect l="l" t="t" r="r" b="b"/>
              <a:pathLst>
                <a:path w="23730231" h="5228799">
                  <a:moveTo>
                    <a:pt x="0" y="0"/>
                  </a:moveTo>
                  <a:lnTo>
                    <a:pt x="23730231" y="0"/>
                  </a:lnTo>
                  <a:lnTo>
                    <a:pt x="23730231" y="5228799"/>
                  </a:lnTo>
                  <a:lnTo>
                    <a:pt x="0" y="52287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430" b="-3843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3730229" cy="52383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One Anomaly Flagged — 14 Feb, the Dataset’s Final Partial Day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3428" cy="123444"/>
            <a:chOff x="0" y="0"/>
            <a:chExt cx="24377904" cy="1645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77904" cy="164592"/>
            </a:xfrm>
            <a:custGeom>
              <a:avLst/>
              <a:gdLst/>
              <a:ahLst/>
              <a:cxnLst/>
              <a:rect l="l" t="t" r="r" b="b"/>
              <a:pathLst>
                <a:path w="24377904" h="164592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685800" y="438912"/>
            <a:ext cx="12344400" cy="411480"/>
            <a:chOff x="0" y="0"/>
            <a:chExt cx="16459200" cy="5486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85800" y="410337"/>
            <a:ext cx="12344400" cy="440055"/>
            <a:chOff x="0" y="0"/>
            <a:chExt cx="16459200" cy="5867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459200" cy="586740"/>
            </a:xfrm>
            <a:custGeom>
              <a:avLst/>
              <a:gdLst/>
              <a:ahLst/>
              <a:cxnLst/>
              <a:rect l="l" t="t" r="r" b="b"/>
              <a:pathLst>
                <a:path w="16459200" h="586740">
                  <a:moveTo>
                    <a:pt x="0" y="0"/>
                  </a:moveTo>
                  <a:lnTo>
                    <a:pt x="16459200" y="0"/>
                  </a:lnTo>
                  <a:lnTo>
                    <a:pt x="164592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6593" b="-49659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64592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  ·  ANOMALY DETECTION (IQR METHOD)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048988" y="9738360"/>
            <a:ext cx="685800" cy="411480"/>
            <a:chOff x="0" y="0"/>
            <a:chExt cx="914400" cy="5486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036" r="-27034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7048988" y="9716929"/>
            <a:ext cx="685800" cy="432911"/>
            <a:chOff x="0" y="0"/>
            <a:chExt cx="914400" cy="57721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4400" cy="577215"/>
            </a:xfrm>
            <a:custGeom>
              <a:avLst/>
              <a:gdLst/>
              <a:ahLst/>
              <a:cxnLst/>
              <a:rect l="l" t="t" r="r" b="b"/>
              <a:pathLst>
                <a:path w="914400" h="577215">
                  <a:moveTo>
                    <a:pt x="0" y="0"/>
                  </a:moveTo>
                  <a:lnTo>
                    <a:pt x="914400" y="0"/>
                  </a:lnTo>
                  <a:lnTo>
                    <a:pt x="914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91" r="-3099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914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 / 17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412852" y="1202607"/>
            <a:ext cx="13421354" cy="7883995"/>
            <a:chOff x="0" y="0"/>
            <a:chExt cx="17895138" cy="1051199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895188" cy="10512044"/>
            </a:xfrm>
            <a:custGeom>
              <a:avLst/>
              <a:gdLst/>
              <a:ahLst/>
              <a:cxnLst/>
              <a:rect l="l" t="t" r="r" b="b"/>
              <a:pathLst>
                <a:path w="17895188" h="10512044">
                  <a:moveTo>
                    <a:pt x="0" y="0"/>
                  </a:moveTo>
                  <a:lnTo>
                    <a:pt x="17895188" y="0"/>
                  </a:lnTo>
                  <a:lnTo>
                    <a:pt x="17895188" y="10512044"/>
                  </a:lnTo>
                  <a:lnTo>
                    <a:pt x="0" y="10512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9" b="-19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2207240" y="2194560"/>
            <a:ext cx="5212080" cy="411480"/>
            <a:chOff x="0" y="0"/>
            <a:chExt cx="694944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49440" cy="548640"/>
            </a:xfrm>
            <a:custGeom>
              <a:avLst/>
              <a:gdLst/>
              <a:ahLst/>
              <a:cxnLst/>
              <a:rect l="l" t="t" r="r" b="b"/>
              <a:pathLst>
                <a:path w="6949440" h="548640">
                  <a:moveTo>
                    <a:pt x="0" y="0"/>
                  </a:moveTo>
                  <a:lnTo>
                    <a:pt x="6949440" y="0"/>
                  </a:lnTo>
                  <a:lnTo>
                    <a:pt x="6949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6638" b="-196638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12207240" y="2173129"/>
            <a:ext cx="5212080" cy="432911"/>
            <a:chOff x="0" y="0"/>
            <a:chExt cx="6949440" cy="57721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49440" cy="577215"/>
            </a:xfrm>
            <a:custGeom>
              <a:avLst/>
              <a:gdLst/>
              <a:ahLst/>
              <a:cxnLst/>
              <a:rect l="l" t="t" r="r" b="b"/>
              <a:pathLst>
                <a:path w="6949440" h="577215">
                  <a:moveTo>
                    <a:pt x="0" y="0"/>
                  </a:moveTo>
                  <a:lnTo>
                    <a:pt x="6949440" y="0"/>
                  </a:lnTo>
                  <a:lnTo>
                    <a:pt x="694944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592" b="-18459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694944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74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IQR THRESHOLDS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 rot="6240">
            <a:off x="12192933" y="2623947"/>
            <a:ext cx="5240703" cy="0"/>
          </a:xfrm>
          <a:prstGeom prst="line">
            <a:avLst/>
          </a:prstGeom>
          <a:ln w="9525" cap="rnd">
            <a:solidFill>
              <a:srgbClr val="E7ECF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12207240" y="2743200"/>
            <a:ext cx="5212080" cy="432054"/>
            <a:chOff x="0" y="0"/>
            <a:chExt cx="6949440" cy="5760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949440" cy="576072"/>
            </a:xfrm>
            <a:custGeom>
              <a:avLst/>
              <a:gdLst/>
              <a:ahLst/>
              <a:cxnLst/>
              <a:rect l="l" t="t" r="r" b="b"/>
              <a:pathLst>
                <a:path w="6949440" h="576072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839712" y="0"/>
                  </a:lnTo>
                  <a:cubicBezTo>
                    <a:pt x="6900291" y="0"/>
                    <a:pt x="6949440" y="49149"/>
                    <a:pt x="6949440" y="109728"/>
                  </a:cubicBezTo>
                  <a:lnTo>
                    <a:pt x="6949440" y="466344"/>
                  </a:lnTo>
                  <a:cubicBezTo>
                    <a:pt x="6949440" y="526923"/>
                    <a:pt x="6900291" y="576072"/>
                    <a:pt x="6839712" y="576072"/>
                  </a:cubicBezTo>
                  <a:lnTo>
                    <a:pt x="109728" y="576072"/>
                  </a:lnTo>
                  <a:cubicBezTo>
                    <a:pt x="49149" y="576072"/>
                    <a:pt x="0" y="526923"/>
                    <a:pt x="0" y="466344"/>
                  </a:cubicBezTo>
                  <a:close/>
                </a:path>
              </a:pathLst>
            </a:custGeom>
            <a:solidFill>
              <a:srgbClr val="E7ECF1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2399264" y="2784348"/>
            <a:ext cx="4828032" cy="349758"/>
            <a:chOff x="0" y="0"/>
            <a:chExt cx="6437376" cy="4663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437376" cy="466344"/>
            </a:xfrm>
            <a:custGeom>
              <a:avLst/>
              <a:gdLst/>
              <a:ahLst/>
              <a:cxnLst/>
              <a:rect l="l" t="t" r="r" b="b"/>
              <a:pathLst>
                <a:path w="6437376" h="466344">
                  <a:moveTo>
                    <a:pt x="0" y="0"/>
                  </a:moveTo>
                  <a:lnTo>
                    <a:pt x="6437376" y="0"/>
                  </a:lnTo>
                  <a:lnTo>
                    <a:pt x="6437376" y="466344"/>
                  </a:lnTo>
                  <a:lnTo>
                    <a:pt x="0" y="466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8782" b="-218782"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2399264" y="2762917"/>
            <a:ext cx="4828032" cy="371189"/>
            <a:chOff x="0" y="0"/>
            <a:chExt cx="6437376" cy="4949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437376" cy="494919"/>
            </a:xfrm>
            <a:custGeom>
              <a:avLst/>
              <a:gdLst/>
              <a:ahLst/>
              <a:cxnLst/>
              <a:rect l="l" t="t" r="r" b="b"/>
              <a:pathLst>
                <a:path w="6437376" h="494919">
                  <a:moveTo>
                    <a:pt x="0" y="0"/>
                  </a:moveTo>
                  <a:lnTo>
                    <a:pt x="6437376" y="0"/>
                  </a:lnTo>
                  <a:lnTo>
                    <a:pt x="6437376" y="494919"/>
                  </a:lnTo>
                  <a:lnTo>
                    <a:pt x="0" y="4949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440" b="-203440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6437376" cy="5234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Lower threshold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 rot="-10800000">
            <a:off x="14621256" y="3161538"/>
            <a:ext cx="384048" cy="150876"/>
            <a:chOff x="0" y="0"/>
            <a:chExt cx="512064" cy="20116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12064" cy="201168"/>
            </a:xfrm>
            <a:custGeom>
              <a:avLst/>
              <a:gdLst/>
              <a:ahLst/>
              <a:cxnLst/>
              <a:rect l="l" t="t" r="r" b="b"/>
              <a:pathLst>
                <a:path w="512064" h="201168">
                  <a:moveTo>
                    <a:pt x="0" y="201168"/>
                  </a:moveTo>
                  <a:lnTo>
                    <a:pt x="256032" y="0"/>
                  </a:lnTo>
                  <a:lnTo>
                    <a:pt x="512064" y="201168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2207240" y="3298698"/>
            <a:ext cx="5212080" cy="473202"/>
            <a:chOff x="0" y="0"/>
            <a:chExt cx="6949440" cy="63093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949440" cy="630936"/>
            </a:xfrm>
            <a:custGeom>
              <a:avLst/>
              <a:gdLst/>
              <a:ahLst/>
              <a:cxnLst/>
              <a:rect l="l" t="t" r="r" b="b"/>
              <a:pathLst>
                <a:path w="6949440" h="63093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839712" y="0"/>
                  </a:lnTo>
                  <a:cubicBezTo>
                    <a:pt x="6900291" y="0"/>
                    <a:pt x="6949440" y="49149"/>
                    <a:pt x="6949440" y="109728"/>
                  </a:cubicBezTo>
                  <a:lnTo>
                    <a:pt x="6949440" y="521208"/>
                  </a:lnTo>
                  <a:cubicBezTo>
                    <a:pt x="6949440" y="581787"/>
                    <a:pt x="6900291" y="630936"/>
                    <a:pt x="6839712" y="630936"/>
                  </a:cubicBezTo>
                  <a:lnTo>
                    <a:pt x="109728" y="630936"/>
                  </a:lnTo>
                  <a:cubicBezTo>
                    <a:pt x="49149" y="630936"/>
                    <a:pt x="0" y="581787"/>
                    <a:pt x="0" y="521208"/>
                  </a:cubicBez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2344400" y="3298698"/>
            <a:ext cx="4937760" cy="473202"/>
            <a:chOff x="0" y="0"/>
            <a:chExt cx="6583680" cy="63093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583680" cy="630936"/>
            </a:xfrm>
            <a:custGeom>
              <a:avLst/>
              <a:gdLst/>
              <a:ahLst/>
              <a:cxnLst/>
              <a:rect l="l" t="t" r="r" b="b"/>
              <a:pathLst>
                <a:path w="6583680" h="630936">
                  <a:moveTo>
                    <a:pt x="0" y="0"/>
                  </a:moveTo>
                  <a:lnTo>
                    <a:pt x="6583680" y="0"/>
                  </a:lnTo>
                  <a:lnTo>
                    <a:pt x="6583680" y="630936"/>
                  </a:lnTo>
                  <a:lnTo>
                    <a:pt x="0" y="630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3180" b="-153180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12344400" y="3291554"/>
            <a:ext cx="4937760" cy="480346"/>
            <a:chOff x="0" y="0"/>
            <a:chExt cx="6583680" cy="64046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583680" cy="640461"/>
            </a:xfrm>
            <a:custGeom>
              <a:avLst/>
              <a:gdLst/>
              <a:ahLst/>
              <a:cxnLst/>
              <a:rect l="l" t="t" r="r" b="b"/>
              <a:pathLst>
                <a:path w="6583680" h="640461">
                  <a:moveTo>
                    <a:pt x="0" y="0"/>
                  </a:moveTo>
                  <a:lnTo>
                    <a:pt x="6583680" y="0"/>
                  </a:lnTo>
                  <a:lnTo>
                    <a:pt x="6583680" y="640461"/>
                  </a:lnTo>
                  <a:lnTo>
                    <a:pt x="0" y="6404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298" b="-150298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6583680" cy="6499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8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169.5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207240" y="3909060"/>
            <a:ext cx="5212080" cy="432054"/>
            <a:chOff x="0" y="0"/>
            <a:chExt cx="6949440" cy="57607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949440" cy="576072"/>
            </a:xfrm>
            <a:custGeom>
              <a:avLst/>
              <a:gdLst/>
              <a:ahLst/>
              <a:cxnLst/>
              <a:rect l="l" t="t" r="r" b="b"/>
              <a:pathLst>
                <a:path w="6949440" h="576072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839712" y="0"/>
                  </a:lnTo>
                  <a:cubicBezTo>
                    <a:pt x="6900291" y="0"/>
                    <a:pt x="6949440" y="49149"/>
                    <a:pt x="6949440" y="109728"/>
                  </a:cubicBezTo>
                  <a:lnTo>
                    <a:pt x="6949440" y="466344"/>
                  </a:lnTo>
                  <a:cubicBezTo>
                    <a:pt x="6949440" y="526923"/>
                    <a:pt x="6900291" y="576072"/>
                    <a:pt x="6839712" y="576072"/>
                  </a:cubicBezTo>
                  <a:lnTo>
                    <a:pt x="109728" y="576072"/>
                  </a:lnTo>
                  <a:cubicBezTo>
                    <a:pt x="49149" y="576072"/>
                    <a:pt x="0" y="526923"/>
                    <a:pt x="0" y="466344"/>
                  </a:cubicBezTo>
                  <a:close/>
                </a:path>
              </a:pathLst>
            </a:custGeom>
            <a:solidFill>
              <a:srgbClr val="E7ECF1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2399264" y="3950208"/>
            <a:ext cx="4828032" cy="349758"/>
            <a:chOff x="0" y="0"/>
            <a:chExt cx="6437376" cy="4663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437376" cy="466344"/>
            </a:xfrm>
            <a:custGeom>
              <a:avLst/>
              <a:gdLst/>
              <a:ahLst/>
              <a:cxnLst/>
              <a:rect l="l" t="t" r="r" b="b"/>
              <a:pathLst>
                <a:path w="6437376" h="466344">
                  <a:moveTo>
                    <a:pt x="0" y="0"/>
                  </a:moveTo>
                  <a:lnTo>
                    <a:pt x="6437376" y="0"/>
                  </a:lnTo>
                  <a:lnTo>
                    <a:pt x="6437376" y="466344"/>
                  </a:lnTo>
                  <a:lnTo>
                    <a:pt x="0" y="466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8782" b="-218782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12399264" y="3928777"/>
            <a:ext cx="4828032" cy="371189"/>
            <a:chOff x="0" y="0"/>
            <a:chExt cx="6437376" cy="494919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437376" cy="494919"/>
            </a:xfrm>
            <a:custGeom>
              <a:avLst/>
              <a:gdLst/>
              <a:ahLst/>
              <a:cxnLst/>
              <a:rect l="l" t="t" r="r" b="b"/>
              <a:pathLst>
                <a:path w="6437376" h="494919">
                  <a:moveTo>
                    <a:pt x="0" y="0"/>
                  </a:moveTo>
                  <a:lnTo>
                    <a:pt x="6437376" y="0"/>
                  </a:lnTo>
                  <a:lnTo>
                    <a:pt x="6437376" y="494919"/>
                  </a:lnTo>
                  <a:lnTo>
                    <a:pt x="0" y="4949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440" b="-203440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28575"/>
              <a:ext cx="6437376" cy="5234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Upper threshold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 rot="-10800000">
            <a:off x="14621256" y="4327398"/>
            <a:ext cx="384048" cy="150876"/>
            <a:chOff x="0" y="0"/>
            <a:chExt cx="512064" cy="20116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12064" cy="201168"/>
            </a:xfrm>
            <a:custGeom>
              <a:avLst/>
              <a:gdLst/>
              <a:ahLst/>
              <a:cxnLst/>
              <a:rect l="l" t="t" r="r" b="b"/>
              <a:pathLst>
                <a:path w="512064" h="201168">
                  <a:moveTo>
                    <a:pt x="0" y="201168"/>
                  </a:moveTo>
                  <a:lnTo>
                    <a:pt x="256032" y="0"/>
                  </a:lnTo>
                  <a:lnTo>
                    <a:pt x="512064" y="201168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2207240" y="4464558"/>
            <a:ext cx="5212080" cy="473202"/>
            <a:chOff x="0" y="0"/>
            <a:chExt cx="6949440" cy="63093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949440" cy="630936"/>
            </a:xfrm>
            <a:custGeom>
              <a:avLst/>
              <a:gdLst/>
              <a:ahLst/>
              <a:cxnLst/>
              <a:rect l="l" t="t" r="r" b="b"/>
              <a:pathLst>
                <a:path w="6949440" h="63093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839712" y="0"/>
                  </a:lnTo>
                  <a:cubicBezTo>
                    <a:pt x="6900291" y="0"/>
                    <a:pt x="6949440" y="49149"/>
                    <a:pt x="6949440" y="109728"/>
                  </a:cubicBezTo>
                  <a:lnTo>
                    <a:pt x="6949440" y="521208"/>
                  </a:lnTo>
                  <a:cubicBezTo>
                    <a:pt x="6949440" y="581787"/>
                    <a:pt x="6900291" y="630936"/>
                    <a:pt x="6839712" y="630936"/>
                  </a:cubicBezTo>
                  <a:lnTo>
                    <a:pt x="109728" y="630936"/>
                  </a:lnTo>
                  <a:cubicBezTo>
                    <a:pt x="49149" y="630936"/>
                    <a:pt x="0" y="581787"/>
                    <a:pt x="0" y="521208"/>
                  </a:cubicBez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2344400" y="4464558"/>
            <a:ext cx="4937760" cy="473202"/>
            <a:chOff x="0" y="0"/>
            <a:chExt cx="6583680" cy="63093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583680" cy="630936"/>
            </a:xfrm>
            <a:custGeom>
              <a:avLst/>
              <a:gdLst/>
              <a:ahLst/>
              <a:cxnLst/>
              <a:rect l="l" t="t" r="r" b="b"/>
              <a:pathLst>
                <a:path w="6583680" h="630936">
                  <a:moveTo>
                    <a:pt x="0" y="0"/>
                  </a:moveTo>
                  <a:lnTo>
                    <a:pt x="6583680" y="0"/>
                  </a:lnTo>
                  <a:lnTo>
                    <a:pt x="6583680" y="630936"/>
                  </a:lnTo>
                  <a:lnTo>
                    <a:pt x="0" y="630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3180" b="-153180"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12344400" y="4457414"/>
            <a:ext cx="4937760" cy="480346"/>
            <a:chOff x="0" y="0"/>
            <a:chExt cx="6583680" cy="640461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583680" cy="640461"/>
            </a:xfrm>
            <a:custGeom>
              <a:avLst/>
              <a:gdLst/>
              <a:ahLst/>
              <a:cxnLst/>
              <a:rect l="l" t="t" r="r" b="b"/>
              <a:pathLst>
                <a:path w="6583680" h="640461">
                  <a:moveTo>
                    <a:pt x="0" y="0"/>
                  </a:moveTo>
                  <a:lnTo>
                    <a:pt x="6583680" y="0"/>
                  </a:lnTo>
                  <a:lnTo>
                    <a:pt x="6583680" y="640461"/>
                  </a:lnTo>
                  <a:lnTo>
                    <a:pt x="0" y="6404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298" b="-150298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6583680" cy="6499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8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2,397.5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207240" y="5074920"/>
            <a:ext cx="5212080" cy="432054"/>
            <a:chOff x="0" y="0"/>
            <a:chExt cx="6949440" cy="57607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949440" cy="576072"/>
            </a:xfrm>
            <a:custGeom>
              <a:avLst/>
              <a:gdLst/>
              <a:ahLst/>
              <a:cxnLst/>
              <a:rect l="l" t="t" r="r" b="b"/>
              <a:pathLst>
                <a:path w="6949440" h="576072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839712" y="0"/>
                  </a:lnTo>
                  <a:cubicBezTo>
                    <a:pt x="6900291" y="0"/>
                    <a:pt x="6949440" y="49149"/>
                    <a:pt x="6949440" y="109728"/>
                  </a:cubicBezTo>
                  <a:lnTo>
                    <a:pt x="6949440" y="466344"/>
                  </a:lnTo>
                  <a:cubicBezTo>
                    <a:pt x="6949440" y="526923"/>
                    <a:pt x="6900291" y="576072"/>
                    <a:pt x="6839712" y="576072"/>
                  </a:cubicBezTo>
                  <a:lnTo>
                    <a:pt x="109728" y="576072"/>
                  </a:lnTo>
                  <a:cubicBezTo>
                    <a:pt x="49149" y="576072"/>
                    <a:pt x="0" y="526923"/>
                    <a:pt x="0" y="466344"/>
                  </a:cubicBezTo>
                  <a:close/>
                </a:path>
              </a:pathLst>
            </a:custGeom>
            <a:solidFill>
              <a:srgbClr val="FCEEDA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12399264" y="5116068"/>
            <a:ext cx="4828032" cy="349758"/>
            <a:chOff x="0" y="0"/>
            <a:chExt cx="6437376" cy="46634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437376" cy="466344"/>
            </a:xfrm>
            <a:custGeom>
              <a:avLst/>
              <a:gdLst/>
              <a:ahLst/>
              <a:cxnLst/>
              <a:rect l="l" t="t" r="r" b="b"/>
              <a:pathLst>
                <a:path w="6437376" h="466344">
                  <a:moveTo>
                    <a:pt x="0" y="0"/>
                  </a:moveTo>
                  <a:lnTo>
                    <a:pt x="6437376" y="0"/>
                  </a:lnTo>
                  <a:lnTo>
                    <a:pt x="6437376" y="466344"/>
                  </a:lnTo>
                  <a:lnTo>
                    <a:pt x="0" y="4663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8782" b="-218782"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>
            <a:off x="12399264" y="5094637"/>
            <a:ext cx="4828032" cy="371189"/>
            <a:chOff x="0" y="0"/>
            <a:chExt cx="6437376" cy="494919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437376" cy="494919"/>
            </a:xfrm>
            <a:custGeom>
              <a:avLst/>
              <a:gdLst/>
              <a:ahLst/>
              <a:cxnLst/>
              <a:rect l="l" t="t" r="r" b="b"/>
              <a:pathLst>
                <a:path w="6437376" h="494919">
                  <a:moveTo>
                    <a:pt x="0" y="0"/>
                  </a:moveTo>
                  <a:lnTo>
                    <a:pt x="6437376" y="0"/>
                  </a:lnTo>
                  <a:lnTo>
                    <a:pt x="6437376" y="494919"/>
                  </a:lnTo>
                  <a:lnTo>
                    <a:pt x="0" y="4949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440" b="-203440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6437376" cy="5234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Days flagged (0 High / 1 Low)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 rot="-10800000">
            <a:off x="14621256" y="5493258"/>
            <a:ext cx="384048" cy="150876"/>
            <a:chOff x="0" y="0"/>
            <a:chExt cx="512064" cy="20116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12064" cy="201168"/>
            </a:xfrm>
            <a:custGeom>
              <a:avLst/>
              <a:gdLst/>
              <a:ahLst/>
              <a:cxnLst/>
              <a:rect l="l" t="t" r="r" b="b"/>
              <a:pathLst>
                <a:path w="512064" h="201168">
                  <a:moveTo>
                    <a:pt x="0" y="201168"/>
                  </a:moveTo>
                  <a:lnTo>
                    <a:pt x="256032" y="0"/>
                  </a:lnTo>
                  <a:lnTo>
                    <a:pt x="512064" y="201168"/>
                  </a:lnTo>
                  <a:close/>
                </a:path>
              </a:pathLst>
            </a:custGeom>
            <a:solidFill>
              <a:srgbClr val="E9A23B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2207240" y="5630418"/>
            <a:ext cx="5212080" cy="473202"/>
            <a:chOff x="0" y="0"/>
            <a:chExt cx="6949440" cy="63093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949440" cy="630936"/>
            </a:xfrm>
            <a:custGeom>
              <a:avLst/>
              <a:gdLst/>
              <a:ahLst/>
              <a:cxnLst/>
              <a:rect l="l" t="t" r="r" b="b"/>
              <a:pathLst>
                <a:path w="6949440" h="63093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6839712" y="0"/>
                  </a:lnTo>
                  <a:cubicBezTo>
                    <a:pt x="6900291" y="0"/>
                    <a:pt x="6949440" y="49149"/>
                    <a:pt x="6949440" y="109728"/>
                  </a:cubicBezTo>
                  <a:lnTo>
                    <a:pt x="6949440" y="521208"/>
                  </a:lnTo>
                  <a:cubicBezTo>
                    <a:pt x="6949440" y="581787"/>
                    <a:pt x="6900291" y="630936"/>
                    <a:pt x="6839712" y="630936"/>
                  </a:cubicBezTo>
                  <a:lnTo>
                    <a:pt x="109728" y="630936"/>
                  </a:lnTo>
                  <a:cubicBezTo>
                    <a:pt x="49149" y="630936"/>
                    <a:pt x="0" y="581787"/>
                    <a:pt x="0" y="521208"/>
                  </a:cubicBezTo>
                  <a:close/>
                </a:path>
              </a:pathLst>
            </a:custGeom>
            <a:solidFill>
              <a:srgbClr val="E9A23B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12344400" y="5630418"/>
            <a:ext cx="4937760" cy="473202"/>
            <a:chOff x="0" y="0"/>
            <a:chExt cx="6583680" cy="63093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583680" cy="630936"/>
            </a:xfrm>
            <a:custGeom>
              <a:avLst/>
              <a:gdLst/>
              <a:ahLst/>
              <a:cxnLst/>
              <a:rect l="l" t="t" r="r" b="b"/>
              <a:pathLst>
                <a:path w="6583680" h="630936">
                  <a:moveTo>
                    <a:pt x="0" y="0"/>
                  </a:moveTo>
                  <a:lnTo>
                    <a:pt x="6583680" y="0"/>
                  </a:lnTo>
                  <a:lnTo>
                    <a:pt x="6583680" y="630936"/>
                  </a:lnTo>
                  <a:lnTo>
                    <a:pt x="0" y="6309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3180" b="-153180"/>
              </a:stretch>
            </a:blipFill>
          </p:spPr>
        </p:sp>
      </p:grpSp>
      <p:grpSp>
        <p:nvGrpSpPr>
          <p:cNvPr id="70" name="Group 70"/>
          <p:cNvGrpSpPr/>
          <p:nvPr/>
        </p:nvGrpSpPr>
        <p:grpSpPr>
          <a:xfrm>
            <a:off x="12344400" y="5623274"/>
            <a:ext cx="4937760" cy="480346"/>
            <a:chOff x="0" y="0"/>
            <a:chExt cx="6583680" cy="640461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583680" cy="640461"/>
            </a:xfrm>
            <a:custGeom>
              <a:avLst/>
              <a:gdLst/>
              <a:ahLst/>
              <a:cxnLst/>
              <a:rect l="l" t="t" r="r" b="b"/>
              <a:pathLst>
                <a:path w="6583680" h="640461">
                  <a:moveTo>
                    <a:pt x="0" y="0"/>
                  </a:moveTo>
                  <a:lnTo>
                    <a:pt x="6583680" y="0"/>
                  </a:lnTo>
                  <a:lnTo>
                    <a:pt x="6583680" y="640461"/>
                  </a:lnTo>
                  <a:lnTo>
                    <a:pt x="0" y="6404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298" b="-150298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9525"/>
              <a:ext cx="6583680" cy="6499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8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 of 45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2216765" y="6417945"/>
            <a:ext cx="5212080" cy="1371600"/>
            <a:chOff x="0" y="0"/>
            <a:chExt cx="6949440" cy="18288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6949440" cy="1828800"/>
            </a:xfrm>
            <a:custGeom>
              <a:avLst/>
              <a:gdLst/>
              <a:ahLst/>
              <a:cxnLst/>
              <a:rect l="l" t="t" r="r" b="b"/>
              <a:pathLst>
                <a:path w="6949440" h="1828800">
                  <a:moveTo>
                    <a:pt x="0" y="0"/>
                  </a:moveTo>
                  <a:lnTo>
                    <a:pt x="6949440" y="0"/>
                  </a:lnTo>
                  <a:lnTo>
                    <a:pt x="6949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991" b="-23991"/>
              </a:stretch>
            </a:blipFill>
          </p:spPr>
        </p:sp>
      </p:grpSp>
      <p:grpSp>
        <p:nvGrpSpPr>
          <p:cNvPr id="75" name="Group 75"/>
          <p:cNvGrpSpPr/>
          <p:nvPr/>
        </p:nvGrpSpPr>
        <p:grpSpPr>
          <a:xfrm>
            <a:off x="12344400" y="6656070"/>
            <a:ext cx="5212080" cy="1400175"/>
            <a:chOff x="0" y="0"/>
            <a:chExt cx="6949440" cy="18669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6949440" cy="1866900"/>
            </a:xfrm>
            <a:custGeom>
              <a:avLst/>
              <a:gdLst/>
              <a:ahLst/>
              <a:cxnLst/>
              <a:rect l="l" t="t" r="r" b="b"/>
              <a:pathLst>
                <a:path w="6949440" h="1866900">
                  <a:moveTo>
                    <a:pt x="0" y="0"/>
                  </a:moveTo>
                  <a:lnTo>
                    <a:pt x="6949440" y="0"/>
                  </a:lnTo>
                  <a:lnTo>
                    <a:pt x="6949440" y="1866900"/>
                  </a:lnTo>
                  <a:lnTo>
                    <a:pt x="0" y="1866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532" b="-22532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6949440" cy="1905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28"/>
                </a:lnSpc>
              </a:pPr>
              <a:r>
                <a:rPr lang="en-US" sz="1773" i="1">
                  <a:solidFill>
                    <a:srgbClr val="FF575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Flagged: 14-Feb-2011 — 151 rentals; the dataset ends at 07:00 that day.</a:t>
              </a:r>
            </a:p>
          </p:txBody>
        </p:sp>
      </p:grpSp>
      <p:sp>
        <p:nvSpPr>
          <p:cNvPr id="78" name="Freeform 78"/>
          <p:cNvSpPr/>
          <p:nvPr/>
        </p:nvSpPr>
        <p:spPr>
          <a:xfrm>
            <a:off x="660797" y="8690867"/>
            <a:ext cx="16001714" cy="818102"/>
          </a:xfrm>
          <a:custGeom>
            <a:avLst/>
            <a:gdLst/>
            <a:ahLst/>
            <a:cxnLst/>
            <a:rect l="l" t="t" r="r" b="b"/>
            <a:pathLst>
              <a:path w="16001714" h="818102">
                <a:moveTo>
                  <a:pt x="0" y="0"/>
                </a:moveTo>
                <a:lnTo>
                  <a:pt x="16001714" y="0"/>
                </a:lnTo>
                <a:lnTo>
                  <a:pt x="16001714" y="818102"/>
                </a:lnTo>
                <a:lnTo>
                  <a:pt x="0" y="8181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9" name="Group 79"/>
          <p:cNvGrpSpPr/>
          <p:nvPr/>
        </p:nvGrpSpPr>
        <p:grpSpPr>
          <a:xfrm>
            <a:off x="685800" y="8715870"/>
            <a:ext cx="82296" cy="768096"/>
            <a:chOff x="0" y="0"/>
            <a:chExt cx="109728" cy="1024128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09728" cy="1024128"/>
            </a:xfrm>
            <a:custGeom>
              <a:avLst/>
              <a:gdLst/>
              <a:ahLst/>
              <a:cxnLst/>
              <a:rect l="l" t="t" r="r" b="b"/>
              <a:pathLst>
                <a:path w="109728" h="1024128">
                  <a:moveTo>
                    <a:pt x="0" y="0"/>
                  </a:moveTo>
                  <a:lnTo>
                    <a:pt x="109728" y="0"/>
                  </a:lnTo>
                  <a:lnTo>
                    <a:pt x="10972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9A23B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1028700" y="8757018"/>
            <a:ext cx="15265908" cy="685800"/>
            <a:chOff x="0" y="0"/>
            <a:chExt cx="20354544" cy="9144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0354544" cy="914400"/>
            </a:xfrm>
            <a:custGeom>
              <a:avLst/>
              <a:gdLst/>
              <a:ahLst/>
              <a:cxnLst/>
              <a:rect l="l" t="t" r="r" b="b"/>
              <a:pathLst>
                <a:path w="20354544" h="914400">
                  <a:moveTo>
                    <a:pt x="0" y="0"/>
                  </a:moveTo>
                  <a:lnTo>
                    <a:pt x="20354544" y="0"/>
                  </a:lnTo>
                  <a:lnTo>
                    <a:pt x="203545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3434" b="-383436"/>
              </a:stretch>
            </a:blipFill>
          </p:spPr>
        </p:sp>
      </p:grpSp>
      <p:grpSp>
        <p:nvGrpSpPr>
          <p:cNvPr id="83" name="Group 83"/>
          <p:cNvGrpSpPr/>
          <p:nvPr/>
        </p:nvGrpSpPr>
        <p:grpSpPr>
          <a:xfrm>
            <a:off x="1028700" y="8728443"/>
            <a:ext cx="15265908" cy="949686"/>
            <a:chOff x="0" y="0"/>
            <a:chExt cx="20354544" cy="126624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0354544" cy="1266248"/>
            </a:xfrm>
            <a:custGeom>
              <a:avLst/>
              <a:gdLst/>
              <a:ahLst/>
              <a:cxnLst/>
              <a:rect l="l" t="t" r="r" b="b"/>
              <a:pathLst>
                <a:path w="20354544" h="1266248">
                  <a:moveTo>
                    <a:pt x="0" y="0"/>
                  </a:moveTo>
                  <a:lnTo>
                    <a:pt x="20354544" y="0"/>
                  </a:lnTo>
                  <a:lnTo>
                    <a:pt x="20354544" y="1266248"/>
                  </a:lnTo>
                  <a:lnTo>
                    <a:pt x="0" y="1266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5604" b="-250826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20354544" cy="13043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26323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IQR method identified 14 February as a low-demand day, with only 151 rentals. However, the data for that day ends at 7:00 AM, so it is incomplete and should not be considered a real drop in demand.</a:t>
              </a:r>
            </a:p>
            <a:p>
              <a:pPr algn="l">
                <a:lnSpc>
                  <a:spcPts val="2250"/>
                </a:lnSpc>
              </a:pPr>
              <a:endParaRPr lang="en-US" sz="1875" i="1">
                <a:solidFill>
                  <a:srgbClr val="26323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76275" y="9789414"/>
            <a:ext cx="10972800" cy="411480"/>
            <a:chOff x="0" y="0"/>
            <a:chExt cx="14630400" cy="54864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9240" b="-469238"/>
              </a:stretch>
            </a:blipFill>
          </p:spPr>
        </p:sp>
      </p:grpSp>
      <p:grpSp>
        <p:nvGrpSpPr>
          <p:cNvPr id="88" name="Group 88"/>
          <p:cNvGrpSpPr/>
          <p:nvPr/>
        </p:nvGrpSpPr>
        <p:grpSpPr>
          <a:xfrm>
            <a:off x="676275" y="9767983"/>
            <a:ext cx="10972800" cy="432911"/>
            <a:chOff x="0" y="0"/>
            <a:chExt cx="14630400" cy="577215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4630400" cy="577215"/>
            </a:xfrm>
            <a:custGeom>
              <a:avLst/>
              <a:gdLst/>
              <a:ahLst/>
              <a:cxnLst/>
              <a:rect l="l" t="t" r="r" b="b"/>
              <a:pathLst>
                <a:path w="14630400" h="577215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3878" b="-443878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Bike Sharing Demand Analysis  </a:t>
              </a:r>
            </a:p>
          </p:txBody>
        </p:sp>
      </p:grpSp>
      <p:sp>
        <p:nvSpPr>
          <p:cNvPr id="91" name="AutoShape 91"/>
          <p:cNvSpPr/>
          <p:nvPr/>
        </p:nvSpPr>
        <p:spPr>
          <a:xfrm>
            <a:off x="671512" y="1718429"/>
            <a:ext cx="1566056" cy="0"/>
          </a:xfrm>
          <a:prstGeom prst="line">
            <a:avLst/>
          </a:prstGeom>
          <a:ln w="19050" cap="rnd">
            <a:solidFill>
              <a:srgbClr val="E9A23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806" y="-588058"/>
            <a:ext cx="17577054" cy="3233516"/>
            <a:chOff x="0" y="0"/>
            <a:chExt cx="23436072" cy="43113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436072" cy="4311351"/>
            </a:xfrm>
            <a:custGeom>
              <a:avLst/>
              <a:gdLst/>
              <a:ahLst/>
              <a:cxnLst/>
              <a:rect l="l" t="t" r="r" b="b"/>
              <a:pathLst>
                <a:path w="23436072" h="4311351">
                  <a:moveTo>
                    <a:pt x="0" y="0"/>
                  </a:moveTo>
                  <a:lnTo>
                    <a:pt x="23436072" y="0"/>
                  </a:lnTo>
                  <a:lnTo>
                    <a:pt x="23436072" y="4311351"/>
                  </a:lnTo>
                  <a:lnTo>
                    <a:pt x="0" y="43113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918" b="-5591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3436072" cy="43208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DASHBOARD OVERVIEW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6374" y="-366560"/>
            <a:ext cx="17577054" cy="3226375"/>
            <a:chOff x="0" y="0"/>
            <a:chExt cx="23436072" cy="43018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436072" cy="4301871"/>
            </a:xfrm>
            <a:custGeom>
              <a:avLst/>
              <a:gdLst/>
              <a:ahLst/>
              <a:cxnLst/>
              <a:rect l="l" t="t" r="r" b="b"/>
              <a:pathLst>
                <a:path w="23436072" h="4301871">
                  <a:moveTo>
                    <a:pt x="0" y="0"/>
                  </a:moveTo>
                  <a:lnTo>
                    <a:pt x="23436072" y="0"/>
                  </a:lnTo>
                  <a:lnTo>
                    <a:pt x="23436072" y="4301871"/>
                  </a:lnTo>
                  <a:lnTo>
                    <a:pt x="0" y="43018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6078" b="-56077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18283428" cy="123444"/>
            <a:chOff x="0" y="0"/>
            <a:chExt cx="24377904" cy="1645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77904" cy="164592"/>
            </a:xfrm>
            <a:custGeom>
              <a:avLst/>
              <a:gdLst/>
              <a:ahLst/>
              <a:cxnLst/>
              <a:rect l="l" t="t" r="r" b="b"/>
              <a:pathLst>
                <a:path w="24377904" h="164592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85800" y="438912"/>
            <a:ext cx="12344400" cy="411480"/>
            <a:chOff x="0" y="0"/>
            <a:chExt cx="16459200" cy="5486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264781" y="410337"/>
            <a:ext cx="12344400" cy="440055"/>
            <a:chOff x="0" y="0"/>
            <a:chExt cx="16459200" cy="5867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459200" cy="586740"/>
            </a:xfrm>
            <a:custGeom>
              <a:avLst/>
              <a:gdLst/>
              <a:ahLst/>
              <a:cxnLst/>
              <a:rect l="l" t="t" r="r" b="b"/>
              <a:pathLst>
                <a:path w="16459200" h="586740">
                  <a:moveTo>
                    <a:pt x="0" y="0"/>
                  </a:moveTo>
                  <a:lnTo>
                    <a:pt x="16459200" y="0"/>
                  </a:lnTo>
                  <a:lnTo>
                    <a:pt x="164592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6593" b="-49659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64592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  ·  DASHBOARD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355473" y="1375325"/>
            <a:ext cx="1672682" cy="0"/>
          </a:xfrm>
          <a:prstGeom prst="line">
            <a:avLst/>
          </a:prstGeom>
          <a:ln w="19050" cap="rnd">
            <a:solidFill>
              <a:srgbClr val="E9A2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676275" y="9789414"/>
            <a:ext cx="10972800" cy="411480"/>
            <a:chOff x="0" y="0"/>
            <a:chExt cx="14630400" cy="5486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9240" b="-469238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676275" y="9767983"/>
            <a:ext cx="10972800" cy="432911"/>
            <a:chOff x="0" y="0"/>
            <a:chExt cx="14630400" cy="57721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630400" cy="577215"/>
            </a:xfrm>
            <a:custGeom>
              <a:avLst/>
              <a:gdLst/>
              <a:ahLst/>
              <a:cxnLst/>
              <a:rect l="l" t="t" r="r" b="b"/>
              <a:pathLst>
                <a:path w="14630400" h="577215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3878" b="-443878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Bike Sharing Demand Analysis  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030700" y="9741789"/>
            <a:ext cx="685800" cy="411480"/>
            <a:chOff x="0" y="0"/>
            <a:chExt cx="914400" cy="5486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7036" r="-27034"/>
              </a:stretch>
            </a:blipFill>
          </p:spPr>
        </p:sp>
      </p:grpSp>
      <p:sp>
        <p:nvSpPr>
          <p:cNvPr id="22" name="Freeform 22"/>
          <p:cNvSpPr/>
          <p:nvPr/>
        </p:nvSpPr>
        <p:spPr>
          <a:xfrm>
            <a:off x="4844910" y="644652"/>
            <a:ext cx="13438518" cy="9148886"/>
          </a:xfrm>
          <a:custGeom>
            <a:avLst/>
            <a:gdLst/>
            <a:ahLst/>
            <a:cxnLst/>
            <a:rect l="l" t="t" r="r" b="b"/>
            <a:pathLst>
              <a:path w="13438518" h="9148886">
                <a:moveTo>
                  <a:pt x="0" y="0"/>
                </a:moveTo>
                <a:lnTo>
                  <a:pt x="13438518" y="0"/>
                </a:lnTo>
                <a:lnTo>
                  <a:pt x="13438518" y="9148886"/>
                </a:lnTo>
                <a:lnTo>
                  <a:pt x="0" y="91488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868" b="-3388"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212487" y="1899200"/>
            <a:ext cx="4422456" cy="1341779"/>
            <a:chOff x="0" y="0"/>
            <a:chExt cx="5896608" cy="178903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896608" cy="1789013"/>
            </a:xfrm>
            <a:custGeom>
              <a:avLst/>
              <a:gdLst/>
              <a:ahLst/>
              <a:cxnLst/>
              <a:rect l="l" t="t" r="r" b="b"/>
              <a:pathLst>
                <a:path w="5896608" h="1789013">
                  <a:moveTo>
                    <a:pt x="0" y="107342"/>
                  </a:moveTo>
                  <a:cubicBezTo>
                    <a:pt x="0" y="48053"/>
                    <a:pt x="42527" y="0"/>
                    <a:pt x="94999" y="0"/>
                  </a:cubicBezTo>
                  <a:lnTo>
                    <a:pt x="5801609" y="0"/>
                  </a:lnTo>
                  <a:cubicBezTo>
                    <a:pt x="5854081" y="0"/>
                    <a:pt x="5896608" y="48053"/>
                    <a:pt x="5896608" y="107342"/>
                  </a:cubicBezTo>
                  <a:lnTo>
                    <a:pt x="5896608" y="1681671"/>
                  </a:lnTo>
                  <a:cubicBezTo>
                    <a:pt x="5896608" y="1740961"/>
                    <a:pt x="5854081" y="1789013"/>
                    <a:pt x="5801609" y="1789013"/>
                  </a:cubicBezTo>
                  <a:lnTo>
                    <a:pt x="94999" y="1789013"/>
                  </a:lnTo>
                  <a:cubicBezTo>
                    <a:pt x="42527" y="1789013"/>
                    <a:pt x="0" y="1740961"/>
                    <a:pt x="0" y="1681671"/>
                  </a:cubicBezTo>
                  <a:close/>
                </a:path>
              </a:pathLst>
            </a:custGeom>
            <a:solidFill>
              <a:srgbClr val="E4F3F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5896608" cy="182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Demand Patterns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Compare rental demand by hour and day of week to identify high and low demand periods.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7278" y="1912249"/>
            <a:ext cx="61753" cy="1328729"/>
            <a:chOff x="0" y="0"/>
            <a:chExt cx="79168" cy="17034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9206" cy="1703440"/>
            </a:xfrm>
            <a:custGeom>
              <a:avLst/>
              <a:gdLst/>
              <a:ahLst/>
              <a:cxnLst/>
              <a:rect l="l" t="t" r="r" b="b"/>
              <a:pathLst>
                <a:path w="79206" h="1703440">
                  <a:moveTo>
                    <a:pt x="0" y="0"/>
                  </a:moveTo>
                  <a:lnTo>
                    <a:pt x="79206" y="0"/>
                  </a:lnTo>
                  <a:lnTo>
                    <a:pt x="79206" y="1703440"/>
                  </a:lnTo>
                  <a:lnTo>
                    <a:pt x="0" y="170344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212487" y="3692829"/>
            <a:ext cx="4422456" cy="1412855"/>
            <a:chOff x="0" y="0"/>
            <a:chExt cx="5896608" cy="188380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896608" cy="1883780"/>
            </a:xfrm>
            <a:custGeom>
              <a:avLst/>
              <a:gdLst/>
              <a:ahLst/>
              <a:cxnLst/>
              <a:rect l="l" t="t" r="r" b="b"/>
              <a:pathLst>
                <a:path w="5896608" h="1883780">
                  <a:moveTo>
                    <a:pt x="0" y="113029"/>
                  </a:moveTo>
                  <a:cubicBezTo>
                    <a:pt x="0" y="50598"/>
                    <a:pt x="42527" y="0"/>
                    <a:pt x="94999" y="0"/>
                  </a:cubicBezTo>
                  <a:lnTo>
                    <a:pt x="5801609" y="0"/>
                  </a:lnTo>
                  <a:cubicBezTo>
                    <a:pt x="5854081" y="0"/>
                    <a:pt x="5896608" y="50598"/>
                    <a:pt x="5896608" y="113029"/>
                  </a:cubicBezTo>
                  <a:lnTo>
                    <a:pt x="5896608" y="1770752"/>
                  </a:lnTo>
                  <a:cubicBezTo>
                    <a:pt x="5896608" y="1833182"/>
                    <a:pt x="5854081" y="1883780"/>
                    <a:pt x="5801609" y="1883780"/>
                  </a:cubicBezTo>
                  <a:lnTo>
                    <a:pt x="94999" y="1883780"/>
                  </a:lnTo>
                  <a:cubicBezTo>
                    <a:pt x="42527" y="1883780"/>
                    <a:pt x="0" y="1833182"/>
                    <a:pt x="0" y="1770752"/>
                  </a:cubicBezTo>
                  <a:close/>
                </a:path>
              </a:pathLst>
            </a:custGeom>
            <a:solidFill>
              <a:srgbClr val="E4F3F1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5896608" cy="1921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Rider &amp; Calendar Analysis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Examine the difference between casual and registered riders by day type and day of week. 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6824" y="3692829"/>
            <a:ext cx="65663" cy="1412855"/>
            <a:chOff x="0" y="0"/>
            <a:chExt cx="79168" cy="17034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9206" cy="1703440"/>
            </a:xfrm>
            <a:custGeom>
              <a:avLst/>
              <a:gdLst/>
              <a:ahLst/>
              <a:cxnLst/>
              <a:rect l="l" t="t" r="r" b="b"/>
              <a:pathLst>
                <a:path w="79206" h="1703440">
                  <a:moveTo>
                    <a:pt x="0" y="0"/>
                  </a:moveTo>
                  <a:lnTo>
                    <a:pt x="79206" y="0"/>
                  </a:lnTo>
                  <a:lnTo>
                    <a:pt x="79206" y="1703440"/>
                  </a:lnTo>
                  <a:lnTo>
                    <a:pt x="0" y="170344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206040" y="5553359"/>
            <a:ext cx="4422456" cy="1341779"/>
            <a:chOff x="0" y="0"/>
            <a:chExt cx="5896608" cy="178903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896608" cy="1789013"/>
            </a:xfrm>
            <a:custGeom>
              <a:avLst/>
              <a:gdLst/>
              <a:ahLst/>
              <a:cxnLst/>
              <a:rect l="l" t="t" r="r" b="b"/>
              <a:pathLst>
                <a:path w="5896608" h="1789013">
                  <a:moveTo>
                    <a:pt x="0" y="107342"/>
                  </a:moveTo>
                  <a:cubicBezTo>
                    <a:pt x="0" y="48053"/>
                    <a:pt x="42527" y="0"/>
                    <a:pt x="94999" y="0"/>
                  </a:cubicBezTo>
                  <a:lnTo>
                    <a:pt x="5801609" y="0"/>
                  </a:lnTo>
                  <a:cubicBezTo>
                    <a:pt x="5854081" y="0"/>
                    <a:pt x="5896608" y="48053"/>
                    <a:pt x="5896608" y="107342"/>
                  </a:cubicBezTo>
                  <a:lnTo>
                    <a:pt x="5896608" y="1681671"/>
                  </a:lnTo>
                  <a:cubicBezTo>
                    <a:pt x="5896608" y="1740961"/>
                    <a:pt x="5854081" y="1789013"/>
                    <a:pt x="5801609" y="1789013"/>
                  </a:cubicBezTo>
                  <a:lnTo>
                    <a:pt x="94999" y="1789013"/>
                  </a:lnTo>
                  <a:cubicBezTo>
                    <a:pt x="42527" y="1789013"/>
                    <a:pt x="0" y="1740961"/>
                    <a:pt x="0" y="1681671"/>
                  </a:cubicBezTo>
                  <a:close/>
                </a:path>
              </a:pathLst>
            </a:custGeom>
            <a:solidFill>
              <a:srgbClr val="E4F3F1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5896608" cy="182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Weather &amp; Forecast Insights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Compare rental demand under different weather conditions and review the short-term rental forecast.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6824" y="5553359"/>
            <a:ext cx="62360" cy="1341779"/>
            <a:chOff x="0" y="0"/>
            <a:chExt cx="79168" cy="17034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9206" cy="1703440"/>
            </a:xfrm>
            <a:custGeom>
              <a:avLst/>
              <a:gdLst/>
              <a:ahLst/>
              <a:cxnLst/>
              <a:rect l="l" t="t" r="r" b="b"/>
              <a:pathLst>
                <a:path w="79206" h="1703440">
                  <a:moveTo>
                    <a:pt x="0" y="0"/>
                  </a:moveTo>
                  <a:lnTo>
                    <a:pt x="79206" y="0"/>
                  </a:lnTo>
                  <a:lnTo>
                    <a:pt x="79206" y="1703440"/>
                  </a:lnTo>
                  <a:lnTo>
                    <a:pt x="0" y="170344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7246727" y="9789414"/>
            <a:ext cx="685800" cy="432911"/>
            <a:chOff x="0" y="0"/>
            <a:chExt cx="914400" cy="57721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14400" cy="577215"/>
            </a:xfrm>
            <a:custGeom>
              <a:avLst/>
              <a:gdLst/>
              <a:ahLst/>
              <a:cxnLst/>
              <a:rect l="l" t="t" r="r" b="b"/>
              <a:pathLst>
                <a:path w="914400" h="577215">
                  <a:moveTo>
                    <a:pt x="0" y="0"/>
                  </a:moveTo>
                  <a:lnTo>
                    <a:pt x="914400" y="0"/>
                  </a:lnTo>
                  <a:lnTo>
                    <a:pt x="914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91" r="-30991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914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 / 17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06040" y="7342813"/>
            <a:ext cx="4422456" cy="1608479"/>
            <a:chOff x="0" y="0"/>
            <a:chExt cx="5896608" cy="214463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896608" cy="2144608"/>
            </a:xfrm>
            <a:custGeom>
              <a:avLst/>
              <a:gdLst/>
              <a:ahLst/>
              <a:cxnLst/>
              <a:rect l="l" t="t" r="r" b="b"/>
              <a:pathLst>
                <a:path w="5896608" h="2144608">
                  <a:moveTo>
                    <a:pt x="0" y="128678"/>
                  </a:moveTo>
                  <a:cubicBezTo>
                    <a:pt x="0" y="57604"/>
                    <a:pt x="42527" y="0"/>
                    <a:pt x="94999" y="0"/>
                  </a:cubicBezTo>
                  <a:lnTo>
                    <a:pt x="5801609" y="0"/>
                  </a:lnTo>
                  <a:cubicBezTo>
                    <a:pt x="5854081" y="0"/>
                    <a:pt x="5896608" y="57604"/>
                    <a:pt x="5896608" y="128678"/>
                  </a:cubicBezTo>
                  <a:lnTo>
                    <a:pt x="5896608" y="2015929"/>
                  </a:lnTo>
                  <a:cubicBezTo>
                    <a:pt x="5896608" y="2087004"/>
                    <a:pt x="5854081" y="2144608"/>
                    <a:pt x="5801609" y="2144608"/>
                  </a:cubicBezTo>
                  <a:lnTo>
                    <a:pt x="94999" y="2144608"/>
                  </a:lnTo>
                  <a:cubicBezTo>
                    <a:pt x="42527" y="2144608"/>
                    <a:pt x="0" y="2087004"/>
                    <a:pt x="0" y="2015929"/>
                  </a:cubicBezTo>
                  <a:close/>
                </a:path>
              </a:pathLst>
            </a:custGeom>
            <a:solidFill>
              <a:srgbClr val="E4F3F1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5896608" cy="21827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Takeaway bar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results are presented in one Excel dashboard. Slicers and a timeline within the workbook allow users to filter by day, weather, temperature and holiday.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4429" y="7342813"/>
            <a:ext cx="74755" cy="1608479"/>
            <a:chOff x="0" y="0"/>
            <a:chExt cx="79168" cy="17034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9206" cy="1703440"/>
            </a:xfrm>
            <a:custGeom>
              <a:avLst/>
              <a:gdLst/>
              <a:ahLst/>
              <a:cxnLst/>
              <a:rect l="l" t="t" r="r" b="b"/>
              <a:pathLst>
                <a:path w="79206" h="1703440">
                  <a:moveTo>
                    <a:pt x="0" y="0"/>
                  </a:moveTo>
                  <a:lnTo>
                    <a:pt x="79206" y="0"/>
                  </a:lnTo>
                  <a:lnTo>
                    <a:pt x="79206" y="1703440"/>
                  </a:lnTo>
                  <a:lnTo>
                    <a:pt x="0" y="1703440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7175" y="3221798"/>
            <a:ext cx="10081260" cy="806720"/>
            <a:chOff x="0" y="0"/>
            <a:chExt cx="13441680" cy="10756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441680" cy="1075651"/>
            </a:xfrm>
            <a:custGeom>
              <a:avLst/>
              <a:gdLst/>
              <a:ahLst/>
              <a:cxnLst/>
              <a:rect l="l" t="t" r="r" b="b"/>
              <a:pathLst>
                <a:path w="13441680" h="1075651">
                  <a:moveTo>
                    <a:pt x="0" y="0"/>
                  </a:moveTo>
                  <a:lnTo>
                    <a:pt x="13441680" y="0"/>
                  </a:lnTo>
                  <a:lnTo>
                    <a:pt x="13441680" y="1075651"/>
                  </a:lnTo>
                  <a:lnTo>
                    <a:pt x="0" y="1075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322" b="-19332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66785" y="3276609"/>
            <a:ext cx="10081260" cy="968412"/>
            <a:chOff x="0" y="0"/>
            <a:chExt cx="13441680" cy="1291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441680" cy="1291213"/>
            </a:xfrm>
            <a:custGeom>
              <a:avLst/>
              <a:gdLst/>
              <a:ahLst/>
              <a:cxnLst/>
              <a:rect l="l" t="t" r="r" b="b"/>
              <a:pathLst>
                <a:path w="13441680" h="1291213">
                  <a:moveTo>
                    <a:pt x="0" y="0"/>
                  </a:moveTo>
                  <a:lnTo>
                    <a:pt x="13441680" y="0"/>
                  </a:lnTo>
                  <a:lnTo>
                    <a:pt x="13441680" y="1291213"/>
                  </a:lnTo>
                  <a:lnTo>
                    <a:pt x="0" y="12912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2825" b="-14285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3441680" cy="1329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9"/>
                </a:lnSpc>
              </a:pPr>
              <a:r>
                <a:rPr lang="en-US" sz="1824" dirty="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Rentals were highest around 08:00 and 17:00, reaching 140.2 per hour at 17:00. Working days averaged 64.14 rentals, compared with 47.65 on non-working days.</a:t>
              </a:r>
            </a:p>
            <a:p>
              <a:pPr algn="l">
                <a:lnSpc>
                  <a:spcPts val="2189"/>
                </a:lnSpc>
              </a:pPr>
              <a:endParaRPr lang="en-US" sz="1824" dirty="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62356" y="-107424"/>
            <a:ext cx="16870680" cy="3303594"/>
            <a:chOff x="0" y="0"/>
            <a:chExt cx="22494240" cy="44047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94239" cy="4404741"/>
            </a:xfrm>
            <a:custGeom>
              <a:avLst/>
              <a:gdLst/>
              <a:ahLst/>
              <a:cxnLst/>
              <a:rect l="l" t="t" r="r" b="b"/>
              <a:pathLst>
                <a:path w="22494239" h="4404741">
                  <a:moveTo>
                    <a:pt x="0" y="0"/>
                  </a:moveTo>
                  <a:lnTo>
                    <a:pt x="22494239" y="0"/>
                  </a:lnTo>
                  <a:lnTo>
                    <a:pt x="22494239" y="4404741"/>
                  </a:lnTo>
                  <a:lnTo>
                    <a:pt x="0" y="44047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436" b="-49438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571891" y="-402378"/>
            <a:ext cx="16870680" cy="3371290"/>
            <a:chOff x="0" y="0"/>
            <a:chExt cx="22494240" cy="449505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94239" cy="4495054"/>
            </a:xfrm>
            <a:custGeom>
              <a:avLst/>
              <a:gdLst/>
              <a:ahLst/>
              <a:cxnLst/>
              <a:rect l="l" t="t" r="r" b="b"/>
              <a:pathLst>
                <a:path w="22494239" h="4495054">
                  <a:moveTo>
                    <a:pt x="0" y="0"/>
                  </a:moveTo>
                  <a:lnTo>
                    <a:pt x="22494239" y="0"/>
                  </a:lnTo>
                  <a:lnTo>
                    <a:pt x="22494239" y="4495054"/>
                  </a:lnTo>
                  <a:lnTo>
                    <a:pt x="0" y="449505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8299" b="-46715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22494240" cy="45045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519"/>
                </a:lnSpc>
              </a:pPr>
              <a:r>
                <a:rPr lang="en-US" sz="4599" b="1">
                  <a:solidFill>
                    <a:srgbClr val="173F5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Findings, Limitations &amp; Recommendations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8283428" cy="123444"/>
            <a:chOff x="0" y="0"/>
            <a:chExt cx="24377904" cy="1645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77904" cy="164592"/>
            </a:xfrm>
            <a:custGeom>
              <a:avLst/>
              <a:gdLst/>
              <a:ahLst/>
              <a:cxnLst/>
              <a:rect l="l" t="t" r="r" b="b"/>
              <a:pathLst>
                <a:path w="24377904" h="164592">
                  <a:moveTo>
                    <a:pt x="0" y="0"/>
                  </a:moveTo>
                  <a:lnTo>
                    <a:pt x="24377904" y="0"/>
                  </a:lnTo>
                  <a:lnTo>
                    <a:pt x="24377904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85800" y="438912"/>
            <a:ext cx="12344400" cy="411480"/>
            <a:chOff x="0" y="0"/>
            <a:chExt cx="16459200" cy="5486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459200" cy="548640"/>
            </a:xfrm>
            <a:custGeom>
              <a:avLst/>
              <a:gdLst/>
              <a:ahLst/>
              <a:cxnLst/>
              <a:rect l="l" t="t" r="r" b="b"/>
              <a:pathLst>
                <a:path w="16459200" h="548640">
                  <a:moveTo>
                    <a:pt x="0" y="0"/>
                  </a:moveTo>
                  <a:lnTo>
                    <a:pt x="16459200" y="0"/>
                  </a:lnTo>
                  <a:lnTo>
                    <a:pt x="1645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143" b="-534145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685800" y="410337"/>
            <a:ext cx="12344400" cy="440055"/>
            <a:chOff x="0" y="0"/>
            <a:chExt cx="16459200" cy="5867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459200" cy="586740"/>
            </a:xfrm>
            <a:custGeom>
              <a:avLst/>
              <a:gdLst/>
              <a:ahLst/>
              <a:cxnLst/>
              <a:rect l="l" t="t" r="r" b="b"/>
              <a:pathLst>
                <a:path w="16459200" h="586740">
                  <a:moveTo>
                    <a:pt x="0" y="0"/>
                  </a:moveTo>
                  <a:lnTo>
                    <a:pt x="16459200" y="0"/>
                  </a:lnTo>
                  <a:lnTo>
                    <a:pt x="164592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6593" b="-49659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6459200" cy="624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49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  ·  SUMMARY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 flipV="1">
            <a:off x="676275" y="1682149"/>
            <a:ext cx="1475552" cy="0"/>
          </a:xfrm>
          <a:prstGeom prst="line">
            <a:avLst/>
          </a:prstGeom>
          <a:ln w="19050" cap="rnd">
            <a:solidFill>
              <a:srgbClr val="E9A23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17048988" y="9738360"/>
            <a:ext cx="685800" cy="411480"/>
            <a:chOff x="0" y="0"/>
            <a:chExt cx="914400" cy="5486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0" cy="548640"/>
            </a:xfrm>
            <a:custGeom>
              <a:avLst/>
              <a:gdLst/>
              <a:ahLst/>
              <a:cxnLst/>
              <a:rect l="l" t="t" r="r" b="b"/>
              <a:pathLst>
                <a:path w="914400" h="54864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036" r="-27034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7048988" y="9716929"/>
            <a:ext cx="685800" cy="432911"/>
            <a:chOff x="0" y="0"/>
            <a:chExt cx="914400" cy="57721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14400" cy="577215"/>
            </a:xfrm>
            <a:custGeom>
              <a:avLst/>
              <a:gdLst/>
              <a:ahLst/>
              <a:cxnLst/>
              <a:rect l="l" t="t" r="r" b="b"/>
              <a:pathLst>
                <a:path w="914400" h="577215">
                  <a:moveTo>
                    <a:pt x="0" y="0"/>
                  </a:moveTo>
                  <a:lnTo>
                    <a:pt x="914400" y="0"/>
                  </a:lnTo>
                  <a:lnTo>
                    <a:pt x="914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991" r="-30991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914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 / 17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95335" y="1919764"/>
            <a:ext cx="10424160" cy="411480"/>
            <a:chOff x="0" y="0"/>
            <a:chExt cx="13898880" cy="5486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3898880" cy="548640"/>
            </a:xfrm>
            <a:custGeom>
              <a:avLst/>
              <a:gdLst/>
              <a:ahLst/>
              <a:cxnLst/>
              <a:rect l="l" t="t" r="r" b="b"/>
              <a:pathLst>
                <a:path w="13898880" h="548640">
                  <a:moveTo>
                    <a:pt x="0" y="0"/>
                  </a:moveTo>
                  <a:lnTo>
                    <a:pt x="13898880" y="0"/>
                  </a:lnTo>
                  <a:lnTo>
                    <a:pt x="13898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3277" b="-443277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695335" y="1898333"/>
            <a:ext cx="10424160" cy="432911"/>
            <a:chOff x="0" y="0"/>
            <a:chExt cx="13898880" cy="57721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898880" cy="577215"/>
            </a:xfrm>
            <a:custGeom>
              <a:avLst/>
              <a:gdLst/>
              <a:ahLst/>
              <a:cxnLst/>
              <a:rect l="l" t="t" r="r" b="b"/>
              <a:pathLst>
                <a:path w="13898880" h="577215">
                  <a:moveTo>
                    <a:pt x="0" y="0"/>
                  </a:moveTo>
                  <a:lnTo>
                    <a:pt x="13898880" y="0"/>
                  </a:lnTo>
                  <a:lnTo>
                    <a:pt x="1389888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9184" b="-419184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1389888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74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FINDINGS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 rot="9420">
            <a:off x="681028" y="2272856"/>
            <a:ext cx="10452773" cy="0"/>
          </a:xfrm>
          <a:prstGeom prst="line">
            <a:avLst/>
          </a:prstGeom>
          <a:ln w="9525" cap="rnd">
            <a:solidFill>
              <a:srgbClr val="E7ECF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1" name="Group 31"/>
          <p:cNvGrpSpPr/>
          <p:nvPr/>
        </p:nvGrpSpPr>
        <p:grpSpPr>
          <a:xfrm>
            <a:off x="11452860" y="2057400"/>
            <a:ext cx="6172200" cy="411480"/>
            <a:chOff x="0" y="0"/>
            <a:chExt cx="8229600" cy="5486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071" b="-242071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1452860" y="2035969"/>
            <a:ext cx="6172200" cy="432911"/>
            <a:chOff x="0" y="0"/>
            <a:chExt cx="8229600" cy="57721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229600" cy="577215"/>
            </a:xfrm>
            <a:custGeom>
              <a:avLst/>
              <a:gdLst/>
              <a:ahLst/>
              <a:cxnLst/>
              <a:rect l="l" t="t" r="r" b="b"/>
              <a:pathLst>
                <a:path w="8229600" h="577215">
                  <a:moveTo>
                    <a:pt x="0" y="0"/>
                  </a:moveTo>
                  <a:lnTo>
                    <a:pt x="8229600" y="0"/>
                  </a:lnTo>
                  <a:lnTo>
                    <a:pt x="82296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7806" b="-227806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82296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74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SNAPSHOT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 rot="5280">
            <a:off x="11438553" y="2486787"/>
            <a:ext cx="6200813" cy="0"/>
          </a:xfrm>
          <a:prstGeom prst="line">
            <a:avLst/>
          </a:prstGeom>
          <a:ln w="9525" cap="rnd">
            <a:solidFill>
              <a:srgbClr val="E7ECF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7" name="Group 37"/>
          <p:cNvGrpSpPr/>
          <p:nvPr/>
        </p:nvGrpSpPr>
        <p:grpSpPr>
          <a:xfrm>
            <a:off x="11452860" y="2606040"/>
            <a:ext cx="2948940" cy="604838"/>
            <a:chOff x="0" y="0"/>
            <a:chExt cx="3931920" cy="80645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931920" cy="806450"/>
            </a:xfrm>
            <a:custGeom>
              <a:avLst/>
              <a:gdLst/>
              <a:ahLst/>
              <a:cxnLst/>
              <a:rect l="l" t="t" r="r" b="b"/>
              <a:pathLst>
                <a:path w="3931920" h="80645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822192" y="0"/>
                  </a:lnTo>
                  <a:cubicBezTo>
                    <a:pt x="3882771" y="0"/>
                    <a:pt x="3931920" y="49149"/>
                    <a:pt x="3931920" y="109728"/>
                  </a:cubicBezTo>
                  <a:lnTo>
                    <a:pt x="3931920" y="696722"/>
                  </a:lnTo>
                  <a:cubicBezTo>
                    <a:pt x="3931920" y="757301"/>
                    <a:pt x="3882771" y="806450"/>
                    <a:pt x="3822192" y="806450"/>
                  </a:cubicBezTo>
                  <a:lnTo>
                    <a:pt x="109728" y="806450"/>
                  </a:lnTo>
                  <a:cubicBezTo>
                    <a:pt x="49149" y="806450"/>
                    <a:pt x="0" y="757428"/>
                    <a:pt x="0" y="696722"/>
                  </a:cubicBezTo>
                  <a:close/>
                </a:path>
              </a:pathLst>
            </a:custGeom>
            <a:solidFill>
              <a:srgbClr val="E7ECF1"/>
            </a:solidFill>
          </p:spPr>
        </p:sp>
      </p:grpSp>
      <p:grpSp>
        <p:nvGrpSpPr>
          <p:cNvPr id="39" name="Group 39"/>
          <p:cNvGrpSpPr/>
          <p:nvPr/>
        </p:nvGrpSpPr>
        <p:grpSpPr>
          <a:xfrm rot="-10800000">
            <a:off x="12735306" y="3197238"/>
            <a:ext cx="384048" cy="200216"/>
            <a:chOff x="0" y="0"/>
            <a:chExt cx="512064" cy="26695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12064" cy="266954"/>
            </a:xfrm>
            <a:custGeom>
              <a:avLst/>
              <a:gdLst/>
              <a:ahLst/>
              <a:cxnLst/>
              <a:rect l="l" t="t" r="r" b="b"/>
              <a:pathLst>
                <a:path w="512064" h="266954">
                  <a:moveTo>
                    <a:pt x="0" y="266954"/>
                  </a:moveTo>
                  <a:lnTo>
                    <a:pt x="256032" y="0"/>
                  </a:lnTo>
                  <a:lnTo>
                    <a:pt x="512064" y="266954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1452860" y="3383737"/>
            <a:ext cx="2948940" cy="662464"/>
            <a:chOff x="0" y="0"/>
            <a:chExt cx="3931920" cy="88328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931920" cy="883285"/>
            </a:xfrm>
            <a:custGeom>
              <a:avLst/>
              <a:gdLst/>
              <a:ahLst/>
              <a:cxnLst/>
              <a:rect l="l" t="t" r="r" b="b"/>
              <a:pathLst>
                <a:path w="3931920" h="883285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822192" y="0"/>
                  </a:lnTo>
                  <a:cubicBezTo>
                    <a:pt x="3882771" y="0"/>
                    <a:pt x="3931920" y="49149"/>
                    <a:pt x="3931920" y="109728"/>
                  </a:cubicBezTo>
                  <a:lnTo>
                    <a:pt x="3931920" y="773557"/>
                  </a:lnTo>
                  <a:cubicBezTo>
                    <a:pt x="3931920" y="834136"/>
                    <a:pt x="3882771" y="883285"/>
                    <a:pt x="3822192" y="883285"/>
                  </a:cubicBezTo>
                  <a:lnTo>
                    <a:pt x="109728" y="883285"/>
                  </a:lnTo>
                  <a:cubicBezTo>
                    <a:pt x="49149" y="883285"/>
                    <a:pt x="0" y="834136"/>
                    <a:pt x="0" y="773557"/>
                  </a:cubicBez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4607540" y="2606040"/>
            <a:ext cx="3017520" cy="604838"/>
            <a:chOff x="0" y="0"/>
            <a:chExt cx="4023360" cy="80645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023360" cy="806450"/>
            </a:xfrm>
            <a:custGeom>
              <a:avLst/>
              <a:gdLst/>
              <a:ahLst/>
              <a:cxnLst/>
              <a:rect l="l" t="t" r="r" b="b"/>
              <a:pathLst>
                <a:path w="4023360" h="80645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913632" y="0"/>
                  </a:lnTo>
                  <a:cubicBezTo>
                    <a:pt x="3974211" y="0"/>
                    <a:pt x="4023360" y="49149"/>
                    <a:pt x="4023360" y="109728"/>
                  </a:cubicBezTo>
                  <a:lnTo>
                    <a:pt x="4023360" y="696722"/>
                  </a:lnTo>
                  <a:cubicBezTo>
                    <a:pt x="4023360" y="757301"/>
                    <a:pt x="3974211" y="806450"/>
                    <a:pt x="3913632" y="806450"/>
                  </a:cubicBezTo>
                  <a:lnTo>
                    <a:pt x="109728" y="806450"/>
                  </a:lnTo>
                  <a:cubicBezTo>
                    <a:pt x="49149" y="806450"/>
                    <a:pt x="0" y="757428"/>
                    <a:pt x="0" y="696722"/>
                  </a:cubicBezTo>
                  <a:close/>
                </a:path>
              </a:pathLst>
            </a:custGeom>
            <a:solidFill>
              <a:srgbClr val="E4F3F1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1631168" y="2647188"/>
            <a:ext cx="2633472" cy="522580"/>
            <a:chOff x="0" y="0"/>
            <a:chExt cx="3511296" cy="69677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511296" cy="696722"/>
            </a:xfrm>
            <a:custGeom>
              <a:avLst/>
              <a:gdLst/>
              <a:ahLst/>
              <a:cxnLst/>
              <a:rect l="l" t="t" r="r" b="b"/>
              <a:pathLst>
                <a:path w="3511296" h="696722">
                  <a:moveTo>
                    <a:pt x="0" y="0"/>
                  </a:moveTo>
                  <a:lnTo>
                    <a:pt x="3511296" y="0"/>
                  </a:lnTo>
                  <a:lnTo>
                    <a:pt x="3511296" y="696722"/>
                  </a:lnTo>
                  <a:lnTo>
                    <a:pt x="0" y="6967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127" b="-48135"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11631168" y="2625757"/>
            <a:ext cx="2633472" cy="544011"/>
            <a:chOff x="0" y="0"/>
            <a:chExt cx="3511296" cy="72534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511296" cy="725348"/>
            </a:xfrm>
            <a:custGeom>
              <a:avLst/>
              <a:gdLst/>
              <a:ahLst/>
              <a:cxnLst/>
              <a:rect l="l" t="t" r="r" b="b"/>
              <a:pathLst>
                <a:path w="3511296" h="725348">
                  <a:moveTo>
                    <a:pt x="0" y="0"/>
                  </a:moveTo>
                  <a:lnTo>
                    <a:pt x="3511296" y="0"/>
                  </a:lnTo>
                  <a:lnTo>
                    <a:pt x="3511296" y="725348"/>
                  </a:lnTo>
                  <a:lnTo>
                    <a:pt x="0" y="7253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324" b="-44323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3511296" cy="7539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Registered share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 rot="-10800000">
            <a:off x="15924276" y="3197238"/>
            <a:ext cx="384048" cy="200216"/>
            <a:chOff x="0" y="0"/>
            <a:chExt cx="512064" cy="26695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12064" cy="266954"/>
            </a:xfrm>
            <a:custGeom>
              <a:avLst/>
              <a:gdLst/>
              <a:ahLst/>
              <a:cxnLst/>
              <a:rect l="l" t="t" r="r" b="b"/>
              <a:pathLst>
                <a:path w="512064" h="266954">
                  <a:moveTo>
                    <a:pt x="0" y="266954"/>
                  </a:moveTo>
                  <a:lnTo>
                    <a:pt x="256032" y="0"/>
                  </a:lnTo>
                  <a:lnTo>
                    <a:pt x="512064" y="266954"/>
                  </a:ln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4607540" y="3383737"/>
            <a:ext cx="3017520" cy="662464"/>
            <a:chOff x="0" y="0"/>
            <a:chExt cx="4023360" cy="88328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023360" cy="883285"/>
            </a:xfrm>
            <a:custGeom>
              <a:avLst/>
              <a:gdLst/>
              <a:ahLst/>
              <a:cxnLst/>
              <a:rect l="l" t="t" r="r" b="b"/>
              <a:pathLst>
                <a:path w="4023360" h="883285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913632" y="0"/>
                  </a:lnTo>
                  <a:cubicBezTo>
                    <a:pt x="3974211" y="0"/>
                    <a:pt x="4023360" y="49149"/>
                    <a:pt x="4023360" y="109728"/>
                  </a:cubicBezTo>
                  <a:lnTo>
                    <a:pt x="4023360" y="773557"/>
                  </a:lnTo>
                  <a:cubicBezTo>
                    <a:pt x="4023360" y="834136"/>
                    <a:pt x="3974211" y="883285"/>
                    <a:pt x="3913632" y="883285"/>
                  </a:cubicBezTo>
                  <a:lnTo>
                    <a:pt x="109728" y="883285"/>
                  </a:lnTo>
                  <a:cubicBezTo>
                    <a:pt x="49149" y="883285"/>
                    <a:pt x="0" y="834136"/>
                    <a:pt x="0" y="773557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1570970" y="3383737"/>
            <a:ext cx="2743200" cy="662483"/>
            <a:chOff x="0" y="0"/>
            <a:chExt cx="3657600" cy="88331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657600" cy="883285"/>
            </a:xfrm>
            <a:custGeom>
              <a:avLst/>
              <a:gdLst/>
              <a:ahLst/>
              <a:cxnLst/>
              <a:rect l="l" t="t" r="r" b="b"/>
              <a:pathLst>
                <a:path w="3657600" h="883285">
                  <a:moveTo>
                    <a:pt x="0" y="0"/>
                  </a:moveTo>
                  <a:lnTo>
                    <a:pt x="3657600" y="0"/>
                  </a:lnTo>
                  <a:lnTo>
                    <a:pt x="3657600" y="883285"/>
                  </a:lnTo>
                  <a:lnTo>
                    <a:pt x="0" y="8832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628" b="-30631"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11570970" y="3369450"/>
            <a:ext cx="2743200" cy="676770"/>
            <a:chOff x="0" y="0"/>
            <a:chExt cx="3657600" cy="90236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657600" cy="902361"/>
            </a:xfrm>
            <a:custGeom>
              <a:avLst/>
              <a:gdLst/>
              <a:ahLst/>
              <a:cxnLst/>
              <a:rect l="l" t="t" r="r" b="b"/>
              <a:pathLst>
                <a:path w="3657600" h="902361">
                  <a:moveTo>
                    <a:pt x="0" y="0"/>
                  </a:moveTo>
                  <a:lnTo>
                    <a:pt x="3657600" y="0"/>
                  </a:lnTo>
                  <a:lnTo>
                    <a:pt x="3657600" y="902361"/>
                  </a:lnTo>
                  <a:lnTo>
                    <a:pt x="0" y="9023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980" b="-28980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3657600" cy="921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91.6%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452860" y="4183380"/>
            <a:ext cx="2948940" cy="604838"/>
            <a:chOff x="0" y="0"/>
            <a:chExt cx="3931920" cy="80645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931920" cy="806450"/>
            </a:xfrm>
            <a:custGeom>
              <a:avLst/>
              <a:gdLst/>
              <a:ahLst/>
              <a:cxnLst/>
              <a:rect l="l" t="t" r="r" b="b"/>
              <a:pathLst>
                <a:path w="3931920" h="80645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822192" y="0"/>
                  </a:lnTo>
                  <a:cubicBezTo>
                    <a:pt x="3882771" y="0"/>
                    <a:pt x="3931920" y="49149"/>
                    <a:pt x="3931920" y="109728"/>
                  </a:cubicBezTo>
                  <a:lnTo>
                    <a:pt x="3931920" y="696722"/>
                  </a:lnTo>
                  <a:cubicBezTo>
                    <a:pt x="3931920" y="757301"/>
                    <a:pt x="3882771" y="806450"/>
                    <a:pt x="3822192" y="806450"/>
                  </a:cubicBezTo>
                  <a:lnTo>
                    <a:pt x="109728" y="806450"/>
                  </a:lnTo>
                  <a:cubicBezTo>
                    <a:pt x="49149" y="806450"/>
                    <a:pt x="0" y="757428"/>
                    <a:pt x="0" y="696722"/>
                  </a:cubicBezTo>
                  <a:close/>
                </a:path>
              </a:pathLst>
            </a:custGeom>
            <a:solidFill>
              <a:srgbClr val="E7ECF1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1672316" y="4224528"/>
            <a:ext cx="2564892" cy="522580"/>
            <a:chOff x="0" y="0"/>
            <a:chExt cx="3419856" cy="696773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419856" cy="696722"/>
            </a:xfrm>
            <a:custGeom>
              <a:avLst/>
              <a:gdLst/>
              <a:ahLst/>
              <a:cxnLst/>
              <a:rect l="l" t="t" r="r" b="b"/>
              <a:pathLst>
                <a:path w="3419856" h="696722">
                  <a:moveTo>
                    <a:pt x="0" y="0"/>
                  </a:moveTo>
                  <a:lnTo>
                    <a:pt x="3419856" y="0"/>
                  </a:lnTo>
                  <a:lnTo>
                    <a:pt x="3419856" y="696722"/>
                  </a:lnTo>
                  <a:lnTo>
                    <a:pt x="0" y="6967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572" b="-45579"/>
              </a:stretch>
            </a:blipFill>
          </p:spPr>
        </p:sp>
      </p:grpSp>
      <p:grpSp>
        <p:nvGrpSpPr>
          <p:cNvPr id="63" name="Group 63"/>
          <p:cNvGrpSpPr/>
          <p:nvPr/>
        </p:nvGrpSpPr>
        <p:grpSpPr>
          <a:xfrm>
            <a:off x="11672316" y="4203097"/>
            <a:ext cx="2564892" cy="544011"/>
            <a:chOff x="0" y="0"/>
            <a:chExt cx="3419856" cy="72534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419856" cy="725347"/>
            </a:xfrm>
            <a:custGeom>
              <a:avLst/>
              <a:gdLst/>
              <a:ahLst/>
              <a:cxnLst/>
              <a:rect l="l" t="t" r="r" b="b"/>
              <a:pathLst>
                <a:path w="3419856" h="725347">
                  <a:moveTo>
                    <a:pt x="0" y="0"/>
                  </a:moveTo>
                  <a:lnTo>
                    <a:pt x="3419856" y="0"/>
                  </a:lnTo>
                  <a:lnTo>
                    <a:pt x="3419856" y="725347"/>
                  </a:lnTo>
                  <a:lnTo>
                    <a:pt x="0" y="72534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867" b="-41867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28575"/>
              <a:ext cx="3419856" cy="7539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Working-day average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4799564" y="2647188"/>
            <a:ext cx="2564892" cy="522580"/>
            <a:chOff x="0" y="0"/>
            <a:chExt cx="3419856" cy="696773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419856" cy="696722"/>
            </a:xfrm>
            <a:custGeom>
              <a:avLst/>
              <a:gdLst/>
              <a:ahLst/>
              <a:cxnLst/>
              <a:rect l="l" t="t" r="r" b="b"/>
              <a:pathLst>
                <a:path w="3419856" h="696722">
                  <a:moveTo>
                    <a:pt x="0" y="0"/>
                  </a:moveTo>
                  <a:lnTo>
                    <a:pt x="3419856" y="0"/>
                  </a:lnTo>
                  <a:lnTo>
                    <a:pt x="3419856" y="696722"/>
                  </a:lnTo>
                  <a:lnTo>
                    <a:pt x="0" y="6967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572" b="-45579"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14799564" y="2625757"/>
            <a:ext cx="2564892" cy="544011"/>
            <a:chOff x="0" y="0"/>
            <a:chExt cx="3419856" cy="72534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419856" cy="725348"/>
            </a:xfrm>
            <a:custGeom>
              <a:avLst/>
              <a:gdLst/>
              <a:ahLst/>
              <a:cxnLst/>
              <a:rect l="l" t="t" r="r" b="b"/>
              <a:pathLst>
                <a:path w="3419856" h="725348">
                  <a:moveTo>
                    <a:pt x="0" y="0"/>
                  </a:moveTo>
                  <a:lnTo>
                    <a:pt x="3419856" y="0"/>
                  </a:lnTo>
                  <a:lnTo>
                    <a:pt x="3419856" y="725348"/>
                  </a:lnTo>
                  <a:lnTo>
                    <a:pt x="0" y="7253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867" b="-41867"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-28575"/>
              <a:ext cx="3419856" cy="7539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Peak hourly avg (5 PM)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 rot="-10800000">
            <a:off x="12735306" y="4774578"/>
            <a:ext cx="384048" cy="200216"/>
            <a:chOff x="0" y="0"/>
            <a:chExt cx="512064" cy="26695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12064" cy="266954"/>
            </a:xfrm>
            <a:custGeom>
              <a:avLst/>
              <a:gdLst/>
              <a:ahLst/>
              <a:cxnLst/>
              <a:rect l="l" t="t" r="r" b="b"/>
              <a:pathLst>
                <a:path w="512064" h="266954">
                  <a:moveTo>
                    <a:pt x="0" y="266954"/>
                  </a:moveTo>
                  <a:lnTo>
                    <a:pt x="256032" y="0"/>
                  </a:lnTo>
                  <a:lnTo>
                    <a:pt x="512064" y="266954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11452860" y="4961077"/>
            <a:ext cx="2948940" cy="662464"/>
            <a:chOff x="0" y="0"/>
            <a:chExt cx="3931920" cy="883285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931920" cy="883285"/>
            </a:xfrm>
            <a:custGeom>
              <a:avLst/>
              <a:gdLst/>
              <a:ahLst/>
              <a:cxnLst/>
              <a:rect l="l" t="t" r="r" b="b"/>
              <a:pathLst>
                <a:path w="3931920" h="883285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822192" y="0"/>
                  </a:lnTo>
                  <a:cubicBezTo>
                    <a:pt x="3882771" y="0"/>
                    <a:pt x="3931920" y="49149"/>
                    <a:pt x="3931920" y="109728"/>
                  </a:cubicBezTo>
                  <a:lnTo>
                    <a:pt x="3931920" y="773557"/>
                  </a:lnTo>
                  <a:cubicBezTo>
                    <a:pt x="3931920" y="834136"/>
                    <a:pt x="3882771" y="883285"/>
                    <a:pt x="3822192" y="883285"/>
                  </a:cubicBezTo>
                  <a:lnTo>
                    <a:pt x="109728" y="883285"/>
                  </a:lnTo>
                  <a:cubicBezTo>
                    <a:pt x="49149" y="883285"/>
                    <a:pt x="0" y="834136"/>
                    <a:pt x="0" y="773557"/>
                  </a:cubicBez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11570970" y="4311720"/>
            <a:ext cx="2674620" cy="1980248"/>
            <a:chOff x="0" y="0"/>
            <a:chExt cx="3566160" cy="264033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3566160" cy="2640330"/>
            </a:xfrm>
            <a:custGeom>
              <a:avLst/>
              <a:gdLst/>
              <a:ahLst/>
              <a:cxnLst/>
              <a:rect l="l" t="t" r="r" b="b"/>
              <a:pathLst>
                <a:path w="3566160" h="2640330">
                  <a:moveTo>
                    <a:pt x="0" y="0"/>
                  </a:moveTo>
                  <a:lnTo>
                    <a:pt x="3566160" y="0"/>
                  </a:lnTo>
                  <a:lnTo>
                    <a:pt x="3566160" y="2640330"/>
                  </a:lnTo>
                  <a:lnTo>
                    <a:pt x="0" y="26403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060" r="-45060"/>
              </a:stretch>
            </a:blipFill>
          </p:spPr>
        </p:sp>
      </p:grpSp>
      <p:grpSp>
        <p:nvGrpSpPr>
          <p:cNvPr id="77" name="Group 77"/>
          <p:cNvGrpSpPr/>
          <p:nvPr/>
        </p:nvGrpSpPr>
        <p:grpSpPr>
          <a:xfrm>
            <a:off x="11570970" y="4297432"/>
            <a:ext cx="2674620" cy="1994535"/>
            <a:chOff x="0" y="0"/>
            <a:chExt cx="3566160" cy="265938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566160" cy="2659385"/>
            </a:xfrm>
            <a:custGeom>
              <a:avLst/>
              <a:gdLst/>
              <a:ahLst/>
              <a:cxnLst/>
              <a:rect l="l" t="t" r="r" b="b"/>
              <a:pathLst>
                <a:path w="3566160" h="2659385">
                  <a:moveTo>
                    <a:pt x="0" y="0"/>
                  </a:moveTo>
                  <a:lnTo>
                    <a:pt x="3566160" y="0"/>
                  </a:lnTo>
                  <a:lnTo>
                    <a:pt x="3566160" y="2659385"/>
                  </a:lnTo>
                  <a:lnTo>
                    <a:pt x="0" y="26593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5679" r="-45679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19050"/>
              <a:ext cx="3566160" cy="2678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64.14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4813280" y="3383737"/>
            <a:ext cx="2674620" cy="662483"/>
            <a:chOff x="0" y="0"/>
            <a:chExt cx="3566160" cy="88331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3566160" cy="883285"/>
            </a:xfrm>
            <a:custGeom>
              <a:avLst/>
              <a:gdLst/>
              <a:ahLst/>
              <a:cxnLst/>
              <a:rect l="l" t="t" r="r" b="b"/>
              <a:pathLst>
                <a:path w="3566160" h="883285">
                  <a:moveTo>
                    <a:pt x="0" y="0"/>
                  </a:moveTo>
                  <a:lnTo>
                    <a:pt x="3566160" y="0"/>
                  </a:lnTo>
                  <a:lnTo>
                    <a:pt x="3566160" y="883285"/>
                  </a:lnTo>
                  <a:lnTo>
                    <a:pt x="0" y="8832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12" b="-28615"/>
              </a:stretch>
            </a:blipFill>
          </p:spPr>
        </p:sp>
      </p:grpSp>
      <p:grpSp>
        <p:nvGrpSpPr>
          <p:cNvPr id="82" name="Group 82"/>
          <p:cNvGrpSpPr/>
          <p:nvPr/>
        </p:nvGrpSpPr>
        <p:grpSpPr>
          <a:xfrm>
            <a:off x="14813280" y="3369450"/>
            <a:ext cx="2674620" cy="676770"/>
            <a:chOff x="0" y="0"/>
            <a:chExt cx="3566160" cy="90236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3566160" cy="902361"/>
            </a:xfrm>
            <a:custGeom>
              <a:avLst/>
              <a:gdLst/>
              <a:ahLst/>
              <a:cxnLst/>
              <a:rect l="l" t="t" r="r" b="b"/>
              <a:pathLst>
                <a:path w="3566160" h="902361">
                  <a:moveTo>
                    <a:pt x="0" y="0"/>
                  </a:moveTo>
                  <a:lnTo>
                    <a:pt x="3566160" y="0"/>
                  </a:lnTo>
                  <a:lnTo>
                    <a:pt x="3566160" y="902361"/>
                  </a:lnTo>
                  <a:lnTo>
                    <a:pt x="0" y="9023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7005" b="-27005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19050"/>
              <a:ext cx="3566160" cy="921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140.2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4607540" y="4183380"/>
            <a:ext cx="3017520" cy="604838"/>
            <a:chOff x="0" y="0"/>
            <a:chExt cx="4023360" cy="80645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4023360" cy="806450"/>
            </a:xfrm>
            <a:custGeom>
              <a:avLst/>
              <a:gdLst/>
              <a:ahLst/>
              <a:cxnLst/>
              <a:rect l="l" t="t" r="r" b="b"/>
              <a:pathLst>
                <a:path w="4023360" h="80645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913632" y="0"/>
                  </a:lnTo>
                  <a:cubicBezTo>
                    <a:pt x="3974211" y="0"/>
                    <a:pt x="4023360" y="49149"/>
                    <a:pt x="4023360" y="109728"/>
                  </a:cubicBezTo>
                  <a:lnTo>
                    <a:pt x="4023360" y="696722"/>
                  </a:lnTo>
                  <a:cubicBezTo>
                    <a:pt x="4023360" y="757301"/>
                    <a:pt x="3974211" y="806450"/>
                    <a:pt x="3913632" y="806450"/>
                  </a:cubicBezTo>
                  <a:lnTo>
                    <a:pt x="109728" y="806450"/>
                  </a:lnTo>
                  <a:cubicBezTo>
                    <a:pt x="49149" y="806450"/>
                    <a:pt x="0" y="757428"/>
                    <a:pt x="0" y="696722"/>
                  </a:cubicBezTo>
                  <a:close/>
                </a:path>
              </a:pathLst>
            </a:custGeom>
            <a:solidFill>
              <a:srgbClr val="FCEEDA"/>
            </a:solidFill>
          </p:spPr>
        </p:sp>
      </p:grpSp>
      <p:grpSp>
        <p:nvGrpSpPr>
          <p:cNvPr id="87" name="Group 87"/>
          <p:cNvGrpSpPr/>
          <p:nvPr/>
        </p:nvGrpSpPr>
        <p:grpSpPr>
          <a:xfrm>
            <a:off x="14799564" y="4224528"/>
            <a:ext cx="2633472" cy="522580"/>
            <a:chOff x="0" y="0"/>
            <a:chExt cx="3511296" cy="696773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3511296" cy="696722"/>
            </a:xfrm>
            <a:custGeom>
              <a:avLst/>
              <a:gdLst/>
              <a:ahLst/>
              <a:cxnLst/>
              <a:rect l="l" t="t" r="r" b="b"/>
              <a:pathLst>
                <a:path w="3511296" h="696722">
                  <a:moveTo>
                    <a:pt x="0" y="0"/>
                  </a:moveTo>
                  <a:lnTo>
                    <a:pt x="3511296" y="0"/>
                  </a:lnTo>
                  <a:lnTo>
                    <a:pt x="3511296" y="696722"/>
                  </a:lnTo>
                  <a:lnTo>
                    <a:pt x="0" y="6967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127" b="-48135"/>
              </a:stretch>
            </a:blipFill>
          </p:spPr>
        </p:sp>
      </p:grpSp>
      <p:grpSp>
        <p:nvGrpSpPr>
          <p:cNvPr id="89" name="Group 89"/>
          <p:cNvGrpSpPr/>
          <p:nvPr/>
        </p:nvGrpSpPr>
        <p:grpSpPr>
          <a:xfrm>
            <a:off x="14799564" y="4203097"/>
            <a:ext cx="2633472" cy="544011"/>
            <a:chOff x="0" y="0"/>
            <a:chExt cx="3511296" cy="725348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511296" cy="725348"/>
            </a:xfrm>
            <a:custGeom>
              <a:avLst/>
              <a:gdLst/>
              <a:ahLst/>
              <a:cxnLst/>
              <a:rect l="l" t="t" r="r" b="b"/>
              <a:pathLst>
                <a:path w="3511296" h="725348">
                  <a:moveTo>
                    <a:pt x="0" y="0"/>
                  </a:moveTo>
                  <a:lnTo>
                    <a:pt x="3511296" y="0"/>
                  </a:lnTo>
                  <a:lnTo>
                    <a:pt x="3511296" y="725348"/>
                  </a:lnTo>
                  <a:lnTo>
                    <a:pt x="0" y="7253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324" b="-44323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28575"/>
              <a:ext cx="3511296" cy="7539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Forecast avg (rentals/day)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 rot="-10800000">
            <a:off x="15924276" y="4774578"/>
            <a:ext cx="384048" cy="200216"/>
            <a:chOff x="0" y="0"/>
            <a:chExt cx="512064" cy="266954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512064" cy="266954"/>
            </a:xfrm>
            <a:custGeom>
              <a:avLst/>
              <a:gdLst/>
              <a:ahLst/>
              <a:cxnLst/>
              <a:rect l="l" t="t" r="r" b="b"/>
              <a:pathLst>
                <a:path w="512064" h="266954">
                  <a:moveTo>
                    <a:pt x="0" y="266954"/>
                  </a:moveTo>
                  <a:lnTo>
                    <a:pt x="256032" y="0"/>
                  </a:lnTo>
                  <a:lnTo>
                    <a:pt x="512064" y="266954"/>
                  </a:lnTo>
                  <a:close/>
                </a:path>
              </a:pathLst>
            </a:custGeom>
            <a:solidFill>
              <a:srgbClr val="E9A23B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14607540" y="4961077"/>
            <a:ext cx="3017520" cy="662464"/>
            <a:chOff x="0" y="0"/>
            <a:chExt cx="4023360" cy="883285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4023360" cy="883285"/>
            </a:xfrm>
            <a:custGeom>
              <a:avLst/>
              <a:gdLst/>
              <a:ahLst/>
              <a:cxnLst/>
              <a:rect l="l" t="t" r="r" b="b"/>
              <a:pathLst>
                <a:path w="4023360" h="883285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913632" y="0"/>
                  </a:lnTo>
                  <a:cubicBezTo>
                    <a:pt x="3974211" y="0"/>
                    <a:pt x="4023360" y="49149"/>
                    <a:pt x="4023360" y="109728"/>
                  </a:cubicBezTo>
                  <a:lnTo>
                    <a:pt x="4023360" y="773557"/>
                  </a:lnTo>
                  <a:cubicBezTo>
                    <a:pt x="4023360" y="834136"/>
                    <a:pt x="3974211" y="883285"/>
                    <a:pt x="3913632" y="883285"/>
                  </a:cubicBezTo>
                  <a:lnTo>
                    <a:pt x="109728" y="883285"/>
                  </a:lnTo>
                  <a:cubicBezTo>
                    <a:pt x="49149" y="883285"/>
                    <a:pt x="0" y="834136"/>
                    <a:pt x="0" y="773557"/>
                  </a:cubicBezTo>
                  <a:close/>
                </a:path>
              </a:pathLst>
            </a:custGeom>
            <a:solidFill>
              <a:srgbClr val="E9A23B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14744700" y="4961077"/>
            <a:ext cx="2743200" cy="662483"/>
            <a:chOff x="0" y="0"/>
            <a:chExt cx="3657600" cy="88331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3657600" cy="883285"/>
            </a:xfrm>
            <a:custGeom>
              <a:avLst/>
              <a:gdLst/>
              <a:ahLst/>
              <a:cxnLst/>
              <a:rect l="l" t="t" r="r" b="b"/>
              <a:pathLst>
                <a:path w="3657600" h="883285">
                  <a:moveTo>
                    <a:pt x="0" y="0"/>
                  </a:moveTo>
                  <a:lnTo>
                    <a:pt x="3657600" y="0"/>
                  </a:lnTo>
                  <a:lnTo>
                    <a:pt x="3657600" y="883285"/>
                  </a:lnTo>
                  <a:lnTo>
                    <a:pt x="0" y="8832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628" b="-30631"/>
              </a:stretch>
            </a:blipFill>
          </p:spPr>
        </p:sp>
      </p:grpSp>
      <p:grpSp>
        <p:nvGrpSpPr>
          <p:cNvPr id="98" name="Group 98"/>
          <p:cNvGrpSpPr/>
          <p:nvPr/>
        </p:nvGrpSpPr>
        <p:grpSpPr>
          <a:xfrm>
            <a:off x="14744700" y="4946790"/>
            <a:ext cx="2743200" cy="676770"/>
            <a:chOff x="0" y="0"/>
            <a:chExt cx="3657600" cy="90236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3657600" cy="902361"/>
            </a:xfrm>
            <a:custGeom>
              <a:avLst/>
              <a:gdLst/>
              <a:ahLst/>
              <a:cxnLst/>
              <a:rect l="l" t="t" r="r" b="b"/>
              <a:pathLst>
                <a:path w="3657600" h="902361">
                  <a:moveTo>
                    <a:pt x="0" y="0"/>
                  </a:moveTo>
                  <a:lnTo>
                    <a:pt x="3657600" y="0"/>
                  </a:lnTo>
                  <a:lnTo>
                    <a:pt x="3657600" y="902361"/>
                  </a:lnTo>
                  <a:lnTo>
                    <a:pt x="0" y="9023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980" b="-28980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19050"/>
              <a:ext cx="3657600" cy="921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1,500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1452860" y="5897880"/>
            <a:ext cx="6172200" cy="411480"/>
            <a:chOff x="0" y="0"/>
            <a:chExt cx="8229600" cy="54864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071" b="-242071"/>
              </a:stretch>
            </a:blipFill>
          </p:spPr>
        </p:sp>
      </p:grpSp>
      <p:grpSp>
        <p:nvGrpSpPr>
          <p:cNvPr id="103" name="Group 103"/>
          <p:cNvGrpSpPr/>
          <p:nvPr/>
        </p:nvGrpSpPr>
        <p:grpSpPr>
          <a:xfrm>
            <a:off x="11452860" y="5876449"/>
            <a:ext cx="6172200" cy="432911"/>
            <a:chOff x="0" y="0"/>
            <a:chExt cx="8229600" cy="577215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8229600" cy="577215"/>
            </a:xfrm>
            <a:custGeom>
              <a:avLst/>
              <a:gdLst/>
              <a:ahLst/>
              <a:cxnLst/>
              <a:rect l="l" t="t" r="r" b="b"/>
              <a:pathLst>
                <a:path w="8229600" h="577215">
                  <a:moveTo>
                    <a:pt x="0" y="0"/>
                  </a:moveTo>
                  <a:lnTo>
                    <a:pt x="8229600" y="0"/>
                  </a:lnTo>
                  <a:lnTo>
                    <a:pt x="82296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7806" b="-227806"/>
              </a:stretch>
            </a:blipFill>
          </p:spPr>
        </p:sp>
        <p:sp>
          <p:nvSpPr>
            <p:cNvPr id="105" name="TextBox 105"/>
            <p:cNvSpPr txBox="1"/>
            <p:nvPr/>
          </p:nvSpPr>
          <p:spPr>
            <a:xfrm>
              <a:off x="0" y="-28575"/>
              <a:ext cx="82296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74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</a:t>
              </a:r>
            </a:p>
          </p:txBody>
        </p:sp>
      </p:grpSp>
      <p:sp>
        <p:nvSpPr>
          <p:cNvPr id="106" name="AutoShape 106"/>
          <p:cNvSpPr/>
          <p:nvPr/>
        </p:nvSpPr>
        <p:spPr>
          <a:xfrm rot="15840">
            <a:off x="11438534" y="6332030"/>
            <a:ext cx="6200842" cy="0"/>
          </a:xfrm>
          <a:prstGeom prst="line">
            <a:avLst/>
          </a:prstGeom>
          <a:ln w="9525" cap="rnd">
            <a:solidFill>
              <a:srgbClr val="E7ECF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7" name="Group 107"/>
          <p:cNvGrpSpPr/>
          <p:nvPr/>
        </p:nvGrpSpPr>
        <p:grpSpPr>
          <a:xfrm>
            <a:off x="11452860" y="6419088"/>
            <a:ext cx="6172200" cy="493776"/>
            <a:chOff x="0" y="0"/>
            <a:chExt cx="8229600" cy="658368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8229600" cy="658368"/>
            </a:xfrm>
            <a:custGeom>
              <a:avLst/>
              <a:gdLst/>
              <a:ahLst/>
              <a:cxnLst/>
              <a:rect l="l" t="t" r="r" b="b"/>
              <a:pathLst>
                <a:path w="8229600" h="658368">
                  <a:moveTo>
                    <a:pt x="0" y="0"/>
                  </a:moveTo>
                  <a:lnTo>
                    <a:pt x="8229600" y="0"/>
                  </a:lnTo>
                  <a:lnTo>
                    <a:pt x="8229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393" b="-193393"/>
              </a:stretch>
            </a:blipFill>
          </p:spPr>
        </p:sp>
      </p:grpSp>
      <p:grpSp>
        <p:nvGrpSpPr>
          <p:cNvPr id="109" name="Group 109"/>
          <p:cNvGrpSpPr/>
          <p:nvPr/>
        </p:nvGrpSpPr>
        <p:grpSpPr>
          <a:xfrm>
            <a:off x="11452860" y="6397657"/>
            <a:ext cx="6172200" cy="515207"/>
            <a:chOff x="0" y="0"/>
            <a:chExt cx="8229600" cy="686943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8229600" cy="686943"/>
            </a:xfrm>
            <a:custGeom>
              <a:avLst/>
              <a:gdLst/>
              <a:ahLst/>
              <a:cxnLst/>
              <a:rect l="l" t="t" r="r" b="b"/>
              <a:pathLst>
                <a:path w="8229600" h="686943">
                  <a:moveTo>
                    <a:pt x="0" y="0"/>
                  </a:moveTo>
                  <a:lnTo>
                    <a:pt x="8229600" y="0"/>
                  </a:lnTo>
                  <a:lnTo>
                    <a:pt x="8229600" y="686943"/>
                  </a:lnTo>
                  <a:lnTo>
                    <a:pt x="0" y="6869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3431" b="-183431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28575"/>
              <a:ext cx="8229600" cy="7155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44"/>
                </a:lnSpc>
              </a:pPr>
              <a:r>
                <a:rPr lang="en-US" sz="145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Covers only 1-Jan – 14-Feb 2011; February is partial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1452860" y="6912864"/>
            <a:ext cx="6172200" cy="493776"/>
            <a:chOff x="0" y="0"/>
            <a:chExt cx="8229600" cy="658368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8229600" cy="658368"/>
            </a:xfrm>
            <a:custGeom>
              <a:avLst/>
              <a:gdLst/>
              <a:ahLst/>
              <a:cxnLst/>
              <a:rect l="l" t="t" r="r" b="b"/>
              <a:pathLst>
                <a:path w="8229600" h="658368">
                  <a:moveTo>
                    <a:pt x="0" y="0"/>
                  </a:moveTo>
                  <a:lnTo>
                    <a:pt x="8229600" y="0"/>
                  </a:lnTo>
                  <a:lnTo>
                    <a:pt x="8229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393" b="-193393"/>
              </a:stretch>
            </a:blipFill>
          </p:spPr>
        </p:sp>
      </p:grpSp>
      <p:grpSp>
        <p:nvGrpSpPr>
          <p:cNvPr id="114" name="Group 114"/>
          <p:cNvGrpSpPr/>
          <p:nvPr/>
        </p:nvGrpSpPr>
        <p:grpSpPr>
          <a:xfrm>
            <a:off x="11452860" y="6891433"/>
            <a:ext cx="6172200" cy="515207"/>
            <a:chOff x="0" y="0"/>
            <a:chExt cx="8229600" cy="686943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8229600" cy="686943"/>
            </a:xfrm>
            <a:custGeom>
              <a:avLst/>
              <a:gdLst/>
              <a:ahLst/>
              <a:cxnLst/>
              <a:rect l="l" t="t" r="r" b="b"/>
              <a:pathLst>
                <a:path w="8229600" h="686943">
                  <a:moveTo>
                    <a:pt x="0" y="0"/>
                  </a:moveTo>
                  <a:lnTo>
                    <a:pt x="8229600" y="0"/>
                  </a:lnTo>
                  <a:lnTo>
                    <a:pt x="8229600" y="686943"/>
                  </a:lnTo>
                  <a:lnTo>
                    <a:pt x="0" y="6869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3431" b="-183431"/>
              </a:stretch>
            </a:blipFill>
          </p:spPr>
        </p:sp>
        <p:sp>
          <p:nvSpPr>
            <p:cNvPr id="116" name="TextBox 116"/>
            <p:cNvSpPr txBox="1"/>
            <p:nvPr/>
          </p:nvSpPr>
          <p:spPr>
            <a:xfrm>
              <a:off x="0" y="-28575"/>
              <a:ext cx="8229600" cy="7155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44"/>
                </a:lnSpc>
              </a:pPr>
              <a:r>
                <a:rPr lang="en-US" sz="145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Only one season (winter) is present in the data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11452860" y="7406640"/>
            <a:ext cx="6172200" cy="493776"/>
            <a:chOff x="0" y="0"/>
            <a:chExt cx="8229600" cy="658368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8229600" cy="658368"/>
            </a:xfrm>
            <a:custGeom>
              <a:avLst/>
              <a:gdLst/>
              <a:ahLst/>
              <a:cxnLst/>
              <a:rect l="l" t="t" r="r" b="b"/>
              <a:pathLst>
                <a:path w="8229600" h="658368">
                  <a:moveTo>
                    <a:pt x="0" y="0"/>
                  </a:moveTo>
                  <a:lnTo>
                    <a:pt x="8229600" y="0"/>
                  </a:lnTo>
                  <a:lnTo>
                    <a:pt x="8229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393" b="-193393"/>
              </a:stretch>
            </a:blipFill>
          </p:spPr>
        </p:sp>
      </p:grpSp>
      <p:grpSp>
        <p:nvGrpSpPr>
          <p:cNvPr id="119" name="Group 119"/>
          <p:cNvGrpSpPr/>
          <p:nvPr/>
        </p:nvGrpSpPr>
        <p:grpSpPr>
          <a:xfrm>
            <a:off x="11315700" y="7487487"/>
            <a:ext cx="6172200" cy="515207"/>
            <a:chOff x="0" y="0"/>
            <a:chExt cx="8229600" cy="686943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8229600" cy="686943"/>
            </a:xfrm>
            <a:custGeom>
              <a:avLst/>
              <a:gdLst/>
              <a:ahLst/>
              <a:cxnLst/>
              <a:rect l="l" t="t" r="r" b="b"/>
              <a:pathLst>
                <a:path w="8229600" h="686943">
                  <a:moveTo>
                    <a:pt x="0" y="0"/>
                  </a:moveTo>
                  <a:lnTo>
                    <a:pt x="8229600" y="0"/>
                  </a:lnTo>
                  <a:lnTo>
                    <a:pt x="8229600" y="686943"/>
                  </a:lnTo>
                  <a:lnTo>
                    <a:pt x="0" y="6869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3431" b="-183431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-28575"/>
              <a:ext cx="8229600" cy="7155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14134" lvl="1" indent="-157067" algn="l">
                <a:lnSpc>
                  <a:spcPts val="1744"/>
                </a:lnSpc>
                <a:buFont typeface="Arial"/>
                <a:buChar char="•"/>
              </a:pPr>
              <a:r>
                <a:rPr lang="en-US" sz="145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Correlation does not prove cause and effect.</a:t>
              </a:r>
            </a:p>
            <a:p>
              <a:pPr algn="l">
                <a:lnSpc>
                  <a:spcPts val="1744"/>
                </a:lnSpc>
              </a:pPr>
              <a:endParaRPr lang="en-US" sz="1455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1452860" y="7900416"/>
            <a:ext cx="6172200" cy="493776"/>
            <a:chOff x="0" y="0"/>
            <a:chExt cx="8229600" cy="658368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8229600" cy="658368"/>
            </a:xfrm>
            <a:custGeom>
              <a:avLst/>
              <a:gdLst/>
              <a:ahLst/>
              <a:cxnLst/>
              <a:rect l="l" t="t" r="r" b="b"/>
              <a:pathLst>
                <a:path w="8229600" h="658368">
                  <a:moveTo>
                    <a:pt x="0" y="0"/>
                  </a:moveTo>
                  <a:lnTo>
                    <a:pt x="8229600" y="0"/>
                  </a:lnTo>
                  <a:lnTo>
                    <a:pt x="8229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393" b="-193393"/>
              </a:stretch>
            </a:blipFill>
          </p:spPr>
        </p:sp>
      </p:grpSp>
      <p:grpSp>
        <p:nvGrpSpPr>
          <p:cNvPr id="124" name="Group 124"/>
          <p:cNvGrpSpPr/>
          <p:nvPr/>
        </p:nvGrpSpPr>
        <p:grpSpPr>
          <a:xfrm>
            <a:off x="11452860" y="7878985"/>
            <a:ext cx="6172200" cy="515207"/>
            <a:chOff x="0" y="0"/>
            <a:chExt cx="8229600" cy="686943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8229600" cy="686943"/>
            </a:xfrm>
            <a:custGeom>
              <a:avLst/>
              <a:gdLst/>
              <a:ahLst/>
              <a:cxnLst/>
              <a:rect l="l" t="t" r="r" b="b"/>
              <a:pathLst>
                <a:path w="8229600" h="686943">
                  <a:moveTo>
                    <a:pt x="0" y="0"/>
                  </a:moveTo>
                  <a:lnTo>
                    <a:pt x="8229600" y="0"/>
                  </a:lnTo>
                  <a:lnTo>
                    <a:pt x="8229600" y="686943"/>
                  </a:lnTo>
                  <a:lnTo>
                    <a:pt x="0" y="6869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3431" b="-183431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28575"/>
              <a:ext cx="8229600" cy="7155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44"/>
                </a:lnSpc>
              </a:pPr>
              <a:r>
                <a:rPr lang="en-US" sz="145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Heavy Rain category has only 1 observation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1452860" y="8394192"/>
            <a:ext cx="6172200" cy="493776"/>
            <a:chOff x="0" y="0"/>
            <a:chExt cx="8229600" cy="658368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8229600" cy="658368"/>
            </a:xfrm>
            <a:custGeom>
              <a:avLst/>
              <a:gdLst/>
              <a:ahLst/>
              <a:cxnLst/>
              <a:rect l="l" t="t" r="r" b="b"/>
              <a:pathLst>
                <a:path w="8229600" h="658368">
                  <a:moveTo>
                    <a:pt x="0" y="0"/>
                  </a:moveTo>
                  <a:lnTo>
                    <a:pt x="8229600" y="0"/>
                  </a:lnTo>
                  <a:lnTo>
                    <a:pt x="8229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393" b="-193393"/>
              </a:stretch>
            </a:blipFill>
          </p:spPr>
        </p:sp>
      </p:grpSp>
      <p:grpSp>
        <p:nvGrpSpPr>
          <p:cNvPr id="129" name="Group 129"/>
          <p:cNvGrpSpPr/>
          <p:nvPr/>
        </p:nvGrpSpPr>
        <p:grpSpPr>
          <a:xfrm>
            <a:off x="11452860" y="8372761"/>
            <a:ext cx="6172200" cy="515207"/>
            <a:chOff x="0" y="0"/>
            <a:chExt cx="8229600" cy="686943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8229600" cy="686943"/>
            </a:xfrm>
            <a:custGeom>
              <a:avLst/>
              <a:gdLst/>
              <a:ahLst/>
              <a:cxnLst/>
              <a:rect l="l" t="t" r="r" b="b"/>
              <a:pathLst>
                <a:path w="8229600" h="686943">
                  <a:moveTo>
                    <a:pt x="0" y="0"/>
                  </a:moveTo>
                  <a:lnTo>
                    <a:pt x="8229600" y="0"/>
                  </a:lnTo>
                  <a:lnTo>
                    <a:pt x="8229600" y="686943"/>
                  </a:lnTo>
                  <a:lnTo>
                    <a:pt x="0" y="6869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3431" b="-183431"/>
              </a:stretch>
            </a:blipFill>
          </p:spPr>
        </p:sp>
        <p:sp>
          <p:nvSpPr>
            <p:cNvPr id="131" name="TextBox 131"/>
            <p:cNvSpPr txBox="1"/>
            <p:nvPr/>
          </p:nvSpPr>
          <p:spPr>
            <a:xfrm>
              <a:off x="0" y="-28575"/>
              <a:ext cx="8229600" cy="7155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44"/>
                </a:lnSpc>
              </a:pPr>
              <a:r>
                <a:rPr lang="en-US" sz="1455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The 14-Feb anomaly is a partial day (data ends at 07:00)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676275" y="9789414"/>
            <a:ext cx="10972800" cy="411480"/>
            <a:chOff x="0" y="0"/>
            <a:chExt cx="14630400" cy="548640"/>
          </a:xfrm>
        </p:grpSpPr>
        <p:sp>
          <p:nvSpPr>
            <p:cNvPr id="133" name="Freeform 133"/>
            <p:cNvSpPr/>
            <p:nvPr/>
          </p:nvSpPr>
          <p:spPr>
            <a:xfrm>
              <a:off x="0" y="0"/>
              <a:ext cx="14630400" cy="548640"/>
            </a:xfrm>
            <a:custGeom>
              <a:avLst/>
              <a:gdLst/>
              <a:ahLst/>
              <a:cxnLst/>
              <a:rect l="l" t="t" r="r" b="b"/>
              <a:pathLst>
                <a:path w="14630400" h="54864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240" b="-469238"/>
              </a:stretch>
            </a:blipFill>
          </p:spPr>
        </p:sp>
      </p:grpSp>
      <p:grpSp>
        <p:nvGrpSpPr>
          <p:cNvPr id="134" name="Group 134"/>
          <p:cNvGrpSpPr/>
          <p:nvPr/>
        </p:nvGrpSpPr>
        <p:grpSpPr>
          <a:xfrm>
            <a:off x="676275" y="9767983"/>
            <a:ext cx="10972800" cy="432911"/>
            <a:chOff x="0" y="0"/>
            <a:chExt cx="14630400" cy="577215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14630400" cy="577215"/>
            </a:xfrm>
            <a:custGeom>
              <a:avLst/>
              <a:gdLst/>
              <a:ahLst/>
              <a:cxnLst/>
              <a:rect l="l" t="t" r="r" b="b"/>
              <a:pathLst>
                <a:path w="14630400" h="577215">
                  <a:moveTo>
                    <a:pt x="0" y="0"/>
                  </a:moveTo>
                  <a:lnTo>
                    <a:pt x="14630400" y="0"/>
                  </a:lnTo>
                  <a:lnTo>
                    <a:pt x="14630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3878" b="-443878"/>
              </a:stretch>
            </a:blipFill>
          </p:spPr>
        </p:sp>
        <p:sp>
          <p:nvSpPr>
            <p:cNvPr id="136" name="TextBox 136"/>
            <p:cNvSpPr txBox="1"/>
            <p:nvPr/>
          </p:nvSpPr>
          <p:spPr>
            <a:xfrm>
              <a:off x="0" y="-28575"/>
              <a:ext cx="14630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Bike Sharing Demand Analysis  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962454" y="2601229"/>
            <a:ext cx="10081260" cy="540572"/>
            <a:chOff x="0" y="0"/>
            <a:chExt cx="13441680" cy="720763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13441680" cy="720725"/>
            </a:xfrm>
            <a:custGeom>
              <a:avLst/>
              <a:gdLst/>
              <a:ahLst/>
              <a:cxnLst/>
              <a:rect l="l" t="t" r="r" b="b"/>
              <a:pathLst>
                <a:path w="13441680" h="720725">
                  <a:moveTo>
                    <a:pt x="0" y="0"/>
                  </a:moveTo>
                  <a:lnTo>
                    <a:pt x="13441680" y="0"/>
                  </a:lnTo>
                  <a:lnTo>
                    <a:pt x="13441680" y="720725"/>
                  </a:lnTo>
                  <a:lnTo>
                    <a:pt x="0" y="7207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12921" b="-312925"/>
              </a:stretch>
            </a:blipFill>
          </p:spPr>
        </p:sp>
      </p:grpSp>
      <p:grpSp>
        <p:nvGrpSpPr>
          <p:cNvPr id="139" name="Group 139"/>
          <p:cNvGrpSpPr/>
          <p:nvPr/>
        </p:nvGrpSpPr>
        <p:grpSpPr>
          <a:xfrm>
            <a:off x="553555" y="2905152"/>
            <a:ext cx="123444" cy="127797"/>
            <a:chOff x="0" y="0"/>
            <a:chExt cx="164592" cy="170396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164592" cy="170434"/>
            </a:xfrm>
            <a:custGeom>
              <a:avLst/>
              <a:gdLst/>
              <a:ahLst/>
              <a:cxnLst/>
              <a:rect l="l" t="t" r="r" b="b"/>
              <a:pathLst>
                <a:path w="164592" h="170434">
                  <a:moveTo>
                    <a:pt x="0" y="85217"/>
                  </a:moveTo>
                  <a:cubicBezTo>
                    <a:pt x="0" y="38100"/>
                    <a:pt x="36830" y="0"/>
                    <a:pt x="82296" y="0"/>
                  </a:cubicBezTo>
                  <a:cubicBezTo>
                    <a:pt x="127762" y="0"/>
                    <a:pt x="164592" y="38100"/>
                    <a:pt x="164592" y="85217"/>
                  </a:cubicBezTo>
                  <a:cubicBezTo>
                    <a:pt x="164592" y="132334"/>
                    <a:pt x="127762" y="170434"/>
                    <a:pt x="82296" y="170434"/>
                  </a:cubicBezTo>
                  <a:cubicBezTo>
                    <a:pt x="36830" y="170434"/>
                    <a:pt x="0" y="132207"/>
                    <a:pt x="0" y="85217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141" name="Group 141"/>
          <p:cNvGrpSpPr/>
          <p:nvPr/>
        </p:nvGrpSpPr>
        <p:grpSpPr>
          <a:xfrm>
            <a:off x="914800" y="2679768"/>
            <a:ext cx="10081260" cy="613841"/>
            <a:chOff x="0" y="0"/>
            <a:chExt cx="13441680" cy="818455"/>
          </a:xfrm>
        </p:grpSpPr>
        <p:sp>
          <p:nvSpPr>
            <p:cNvPr id="142" name="Freeform 142"/>
            <p:cNvSpPr/>
            <p:nvPr/>
          </p:nvSpPr>
          <p:spPr>
            <a:xfrm>
              <a:off x="0" y="0"/>
              <a:ext cx="13441680" cy="818441"/>
            </a:xfrm>
            <a:custGeom>
              <a:avLst/>
              <a:gdLst/>
              <a:ahLst/>
              <a:cxnLst/>
              <a:rect l="l" t="t" r="r" b="b"/>
              <a:pathLst>
                <a:path w="13441680" h="818441">
                  <a:moveTo>
                    <a:pt x="0" y="0"/>
                  </a:moveTo>
                  <a:lnTo>
                    <a:pt x="13441680" y="0"/>
                  </a:lnTo>
                  <a:lnTo>
                    <a:pt x="13441680" y="818441"/>
                  </a:lnTo>
                  <a:lnTo>
                    <a:pt x="0" y="81844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69591" b="-269594"/>
              </a:stretch>
            </a:blipFill>
          </p:spPr>
        </p:sp>
      </p:grpSp>
      <p:grpSp>
        <p:nvGrpSpPr>
          <p:cNvPr id="143" name="Group 143"/>
          <p:cNvGrpSpPr/>
          <p:nvPr/>
        </p:nvGrpSpPr>
        <p:grpSpPr>
          <a:xfrm>
            <a:off x="867175" y="2672573"/>
            <a:ext cx="10081260" cy="645814"/>
            <a:chOff x="0" y="0"/>
            <a:chExt cx="13441680" cy="861086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13441680" cy="861124"/>
            </a:xfrm>
            <a:custGeom>
              <a:avLst/>
              <a:gdLst/>
              <a:ahLst/>
              <a:cxnLst/>
              <a:rect l="l" t="t" r="r" b="b"/>
              <a:pathLst>
                <a:path w="13441680" h="861124">
                  <a:moveTo>
                    <a:pt x="0" y="0"/>
                  </a:moveTo>
                  <a:lnTo>
                    <a:pt x="13441680" y="0"/>
                  </a:lnTo>
                  <a:lnTo>
                    <a:pt x="13441680" y="861124"/>
                  </a:lnTo>
                  <a:lnTo>
                    <a:pt x="0" y="8611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942" b="-253936"/>
              </a:stretch>
            </a:blipFill>
          </p:spPr>
        </p:sp>
      </p:grpSp>
      <p:grpSp>
        <p:nvGrpSpPr>
          <p:cNvPr id="145" name="Group 145"/>
          <p:cNvGrpSpPr/>
          <p:nvPr/>
        </p:nvGrpSpPr>
        <p:grpSpPr>
          <a:xfrm>
            <a:off x="867175" y="2641691"/>
            <a:ext cx="10081260" cy="918646"/>
            <a:chOff x="0" y="0"/>
            <a:chExt cx="13441680" cy="1224862"/>
          </a:xfrm>
        </p:grpSpPr>
        <p:sp>
          <p:nvSpPr>
            <p:cNvPr id="146" name="Freeform 146"/>
            <p:cNvSpPr/>
            <p:nvPr/>
          </p:nvSpPr>
          <p:spPr>
            <a:xfrm>
              <a:off x="0" y="0"/>
              <a:ext cx="13441680" cy="1224866"/>
            </a:xfrm>
            <a:custGeom>
              <a:avLst/>
              <a:gdLst/>
              <a:ahLst/>
              <a:cxnLst/>
              <a:rect l="l" t="t" r="r" b="b"/>
              <a:pathLst>
                <a:path w="13441680" h="1224866">
                  <a:moveTo>
                    <a:pt x="0" y="0"/>
                  </a:moveTo>
                  <a:lnTo>
                    <a:pt x="13441680" y="0"/>
                  </a:lnTo>
                  <a:lnTo>
                    <a:pt x="13441680" y="1224866"/>
                  </a:lnTo>
                  <a:lnTo>
                    <a:pt x="0" y="12248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9749" b="-147908"/>
              </a:stretch>
            </a:blipFill>
          </p:spPr>
        </p:sp>
        <p:sp>
          <p:nvSpPr>
            <p:cNvPr id="147" name="TextBox 147"/>
            <p:cNvSpPr txBox="1"/>
            <p:nvPr/>
          </p:nvSpPr>
          <p:spPr>
            <a:xfrm>
              <a:off x="0" y="-38100"/>
              <a:ext cx="13441680" cy="1262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9"/>
                </a:lnSpc>
              </a:pPr>
              <a:r>
                <a:rPr lang="en-US" sz="1824" dirty="0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There were 58,304 rentals across 1,000 hourly records, with 91.6% from registered riders and 8.4% from casual riders.</a:t>
              </a:r>
            </a:p>
            <a:p>
              <a:pPr algn="l">
                <a:lnSpc>
                  <a:spcPts val="2189"/>
                </a:lnSpc>
              </a:pPr>
              <a:endParaRPr lang="en-US" sz="1824" dirty="0">
                <a:solidFill>
                  <a:srgbClr val="263238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48" name="Group 148"/>
          <p:cNvGrpSpPr/>
          <p:nvPr/>
        </p:nvGrpSpPr>
        <p:grpSpPr>
          <a:xfrm>
            <a:off x="553555" y="3530443"/>
            <a:ext cx="123444" cy="138114"/>
            <a:chOff x="0" y="0"/>
            <a:chExt cx="164592" cy="184153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164592" cy="184191"/>
            </a:xfrm>
            <a:custGeom>
              <a:avLst/>
              <a:gdLst/>
              <a:ahLst/>
              <a:cxnLst/>
              <a:rect l="l" t="t" r="r" b="b"/>
              <a:pathLst>
                <a:path w="164592" h="184191">
                  <a:moveTo>
                    <a:pt x="0" y="92097"/>
                  </a:moveTo>
                  <a:cubicBezTo>
                    <a:pt x="0" y="41176"/>
                    <a:pt x="36830" y="0"/>
                    <a:pt x="82296" y="0"/>
                  </a:cubicBezTo>
                  <a:cubicBezTo>
                    <a:pt x="127762" y="0"/>
                    <a:pt x="164592" y="41176"/>
                    <a:pt x="164592" y="92097"/>
                  </a:cubicBezTo>
                  <a:cubicBezTo>
                    <a:pt x="164592" y="143018"/>
                    <a:pt x="127762" y="184191"/>
                    <a:pt x="82296" y="184191"/>
                  </a:cubicBezTo>
                  <a:cubicBezTo>
                    <a:pt x="36830" y="184191"/>
                    <a:pt x="0" y="142881"/>
                    <a:pt x="0" y="92097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150" name="Group 150"/>
          <p:cNvGrpSpPr/>
          <p:nvPr/>
        </p:nvGrpSpPr>
        <p:grpSpPr>
          <a:xfrm>
            <a:off x="571891" y="4245021"/>
            <a:ext cx="123444" cy="138114"/>
            <a:chOff x="0" y="0"/>
            <a:chExt cx="164592" cy="184153"/>
          </a:xfrm>
        </p:grpSpPr>
        <p:sp>
          <p:nvSpPr>
            <p:cNvPr id="151" name="Freeform 151"/>
            <p:cNvSpPr/>
            <p:nvPr/>
          </p:nvSpPr>
          <p:spPr>
            <a:xfrm>
              <a:off x="0" y="0"/>
              <a:ext cx="164592" cy="184191"/>
            </a:xfrm>
            <a:custGeom>
              <a:avLst/>
              <a:gdLst/>
              <a:ahLst/>
              <a:cxnLst/>
              <a:rect l="l" t="t" r="r" b="b"/>
              <a:pathLst>
                <a:path w="164592" h="184191">
                  <a:moveTo>
                    <a:pt x="0" y="92097"/>
                  </a:moveTo>
                  <a:cubicBezTo>
                    <a:pt x="0" y="41176"/>
                    <a:pt x="36830" y="0"/>
                    <a:pt x="82296" y="0"/>
                  </a:cubicBezTo>
                  <a:cubicBezTo>
                    <a:pt x="127762" y="0"/>
                    <a:pt x="164592" y="41176"/>
                    <a:pt x="164592" y="92097"/>
                  </a:cubicBezTo>
                  <a:cubicBezTo>
                    <a:pt x="164592" y="143018"/>
                    <a:pt x="127762" y="184191"/>
                    <a:pt x="82296" y="184191"/>
                  </a:cubicBezTo>
                  <a:cubicBezTo>
                    <a:pt x="36830" y="184191"/>
                    <a:pt x="0" y="142881"/>
                    <a:pt x="0" y="92097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152" name="Group 152"/>
          <p:cNvGrpSpPr/>
          <p:nvPr/>
        </p:nvGrpSpPr>
        <p:grpSpPr>
          <a:xfrm>
            <a:off x="571891" y="4778343"/>
            <a:ext cx="123444" cy="138114"/>
            <a:chOff x="0" y="0"/>
            <a:chExt cx="164592" cy="184153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164592" cy="184191"/>
            </a:xfrm>
            <a:custGeom>
              <a:avLst/>
              <a:gdLst/>
              <a:ahLst/>
              <a:cxnLst/>
              <a:rect l="l" t="t" r="r" b="b"/>
              <a:pathLst>
                <a:path w="164592" h="184191">
                  <a:moveTo>
                    <a:pt x="0" y="92097"/>
                  </a:moveTo>
                  <a:cubicBezTo>
                    <a:pt x="0" y="41176"/>
                    <a:pt x="36830" y="0"/>
                    <a:pt x="82296" y="0"/>
                  </a:cubicBezTo>
                  <a:cubicBezTo>
                    <a:pt x="127762" y="0"/>
                    <a:pt x="164592" y="41176"/>
                    <a:pt x="164592" y="92097"/>
                  </a:cubicBezTo>
                  <a:cubicBezTo>
                    <a:pt x="164592" y="143018"/>
                    <a:pt x="127762" y="184191"/>
                    <a:pt x="82296" y="184191"/>
                  </a:cubicBezTo>
                  <a:cubicBezTo>
                    <a:pt x="36830" y="184191"/>
                    <a:pt x="0" y="142881"/>
                    <a:pt x="0" y="92097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154" name="Group 154"/>
          <p:cNvGrpSpPr/>
          <p:nvPr/>
        </p:nvGrpSpPr>
        <p:grpSpPr>
          <a:xfrm>
            <a:off x="571891" y="5311664"/>
            <a:ext cx="123444" cy="138114"/>
            <a:chOff x="0" y="0"/>
            <a:chExt cx="164592" cy="184153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164592" cy="184191"/>
            </a:xfrm>
            <a:custGeom>
              <a:avLst/>
              <a:gdLst/>
              <a:ahLst/>
              <a:cxnLst/>
              <a:rect l="l" t="t" r="r" b="b"/>
              <a:pathLst>
                <a:path w="164592" h="184191">
                  <a:moveTo>
                    <a:pt x="0" y="92097"/>
                  </a:moveTo>
                  <a:cubicBezTo>
                    <a:pt x="0" y="41176"/>
                    <a:pt x="36830" y="0"/>
                    <a:pt x="82296" y="0"/>
                  </a:cubicBezTo>
                  <a:cubicBezTo>
                    <a:pt x="127762" y="0"/>
                    <a:pt x="164592" y="41176"/>
                    <a:pt x="164592" y="92097"/>
                  </a:cubicBezTo>
                  <a:cubicBezTo>
                    <a:pt x="164592" y="143018"/>
                    <a:pt x="127762" y="184191"/>
                    <a:pt x="82296" y="184191"/>
                  </a:cubicBezTo>
                  <a:cubicBezTo>
                    <a:pt x="36830" y="184191"/>
                    <a:pt x="0" y="142881"/>
                    <a:pt x="0" y="92097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156" name="Group 156"/>
          <p:cNvGrpSpPr/>
          <p:nvPr/>
        </p:nvGrpSpPr>
        <p:grpSpPr>
          <a:xfrm>
            <a:off x="571891" y="5948749"/>
            <a:ext cx="123444" cy="138114"/>
            <a:chOff x="0" y="0"/>
            <a:chExt cx="164592" cy="184153"/>
          </a:xfrm>
        </p:grpSpPr>
        <p:sp>
          <p:nvSpPr>
            <p:cNvPr id="157" name="Freeform 157"/>
            <p:cNvSpPr/>
            <p:nvPr/>
          </p:nvSpPr>
          <p:spPr>
            <a:xfrm>
              <a:off x="0" y="0"/>
              <a:ext cx="164592" cy="184191"/>
            </a:xfrm>
            <a:custGeom>
              <a:avLst/>
              <a:gdLst/>
              <a:ahLst/>
              <a:cxnLst/>
              <a:rect l="l" t="t" r="r" b="b"/>
              <a:pathLst>
                <a:path w="164592" h="184191">
                  <a:moveTo>
                    <a:pt x="0" y="92097"/>
                  </a:moveTo>
                  <a:cubicBezTo>
                    <a:pt x="0" y="41176"/>
                    <a:pt x="36830" y="0"/>
                    <a:pt x="82296" y="0"/>
                  </a:cubicBezTo>
                  <a:cubicBezTo>
                    <a:pt x="127762" y="0"/>
                    <a:pt x="164592" y="41176"/>
                    <a:pt x="164592" y="92097"/>
                  </a:cubicBezTo>
                  <a:cubicBezTo>
                    <a:pt x="164592" y="143018"/>
                    <a:pt x="127762" y="184191"/>
                    <a:pt x="82296" y="184191"/>
                  </a:cubicBezTo>
                  <a:cubicBezTo>
                    <a:pt x="36830" y="184191"/>
                    <a:pt x="0" y="142881"/>
                    <a:pt x="0" y="92097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158" name="Group 158"/>
          <p:cNvGrpSpPr/>
          <p:nvPr/>
        </p:nvGrpSpPr>
        <p:grpSpPr>
          <a:xfrm>
            <a:off x="867175" y="3946331"/>
            <a:ext cx="10081260" cy="645814"/>
            <a:chOff x="0" y="0"/>
            <a:chExt cx="13441680" cy="861086"/>
          </a:xfrm>
        </p:grpSpPr>
        <p:sp>
          <p:nvSpPr>
            <p:cNvPr id="159" name="Freeform 159"/>
            <p:cNvSpPr/>
            <p:nvPr/>
          </p:nvSpPr>
          <p:spPr>
            <a:xfrm>
              <a:off x="0" y="0"/>
              <a:ext cx="13441680" cy="861124"/>
            </a:xfrm>
            <a:custGeom>
              <a:avLst/>
              <a:gdLst/>
              <a:ahLst/>
              <a:cxnLst/>
              <a:rect l="l" t="t" r="r" b="b"/>
              <a:pathLst>
                <a:path w="13441680" h="861124">
                  <a:moveTo>
                    <a:pt x="0" y="0"/>
                  </a:moveTo>
                  <a:lnTo>
                    <a:pt x="13441680" y="0"/>
                  </a:lnTo>
                  <a:lnTo>
                    <a:pt x="13441680" y="861124"/>
                  </a:lnTo>
                  <a:lnTo>
                    <a:pt x="0" y="8611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942" b="-253936"/>
              </a:stretch>
            </a:blipFill>
          </p:spPr>
        </p:sp>
      </p:grpSp>
      <p:grpSp>
        <p:nvGrpSpPr>
          <p:cNvPr id="160" name="Group 160"/>
          <p:cNvGrpSpPr/>
          <p:nvPr/>
        </p:nvGrpSpPr>
        <p:grpSpPr>
          <a:xfrm>
            <a:off x="867175" y="3973370"/>
            <a:ext cx="10081260" cy="676699"/>
            <a:chOff x="0" y="0"/>
            <a:chExt cx="13441680" cy="902266"/>
          </a:xfrm>
        </p:grpSpPr>
        <p:sp>
          <p:nvSpPr>
            <p:cNvPr id="161" name="Freeform 161"/>
            <p:cNvSpPr/>
            <p:nvPr/>
          </p:nvSpPr>
          <p:spPr>
            <a:xfrm>
              <a:off x="0" y="0"/>
              <a:ext cx="13441680" cy="902270"/>
            </a:xfrm>
            <a:custGeom>
              <a:avLst/>
              <a:gdLst/>
              <a:ahLst/>
              <a:cxnLst/>
              <a:rect l="l" t="t" r="r" b="b"/>
              <a:pathLst>
                <a:path w="13441680" h="902270">
                  <a:moveTo>
                    <a:pt x="0" y="0"/>
                  </a:moveTo>
                  <a:lnTo>
                    <a:pt x="13441680" y="0"/>
                  </a:lnTo>
                  <a:lnTo>
                    <a:pt x="13441680" y="902270"/>
                  </a:lnTo>
                  <a:lnTo>
                    <a:pt x="0" y="9022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4016" b="-236545"/>
              </a:stretch>
            </a:blipFill>
          </p:spPr>
        </p:sp>
        <p:sp>
          <p:nvSpPr>
            <p:cNvPr id="162" name="TextBox 162"/>
            <p:cNvSpPr txBox="1"/>
            <p:nvPr/>
          </p:nvSpPr>
          <p:spPr>
            <a:xfrm>
              <a:off x="0" y="-38100"/>
              <a:ext cx="13441680" cy="9403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Rental demand was higher in clear weather (61.67 rentals/hour) than during light rain (33.20 rentals/hour).</a:t>
              </a:r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867175" y="4495011"/>
            <a:ext cx="10081260" cy="645814"/>
            <a:chOff x="0" y="0"/>
            <a:chExt cx="13441680" cy="861086"/>
          </a:xfrm>
        </p:grpSpPr>
        <p:sp>
          <p:nvSpPr>
            <p:cNvPr id="164" name="Freeform 164"/>
            <p:cNvSpPr/>
            <p:nvPr/>
          </p:nvSpPr>
          <p:spPr>
            <a:xfrm>
              <a:off x="0" y="0"/>
              <a:ext cx="13441680" cy="861124"/>
            </a:xfrm>
            <a:custGeom>
              <a:avLst/>
              <a:gdLst/>
              <a:ahLst/>
              <a:cxnLst/>
              <a:rect l="l" t="t" r="r" b="b"/>
              <a:pathLst>
                <a:path w="13441680" h="861124">
                  <a:moveTo>
                    <a:pt x="0" y="0"/>
                  </a:moveTo>
                  <a:lnTo>
                    <a:pt x="13441680" y="0"/>
                  </a:lnTo>
                  <a:lnTo>
                    <a:pt x="13441680" y="861124"/>
                  </a:lnTo>
                  <a:lnTo>
                    <a:pt x="0" y="8611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942" b="-253936"/>
              </a:stretch>
            </a:blipFill>
          </p:spPr>
        </p:sp>
      </p:grpSp>
      <p:grpSp>
        <p:nvGrpSpPr>
          <p:cNvPr id="165" name="Group 165"/>
          <p:cNvGrpSpPr/>
          <p:nvPr/>
        </p:nvGrpSpPr>
        <p:grpSpPr>
          <a:xfrm>
            <a:off x="867175" y="4464129"/>
            <a:ext cx="10081260" cy="676699"/>
            <a:chOff x="0" y="0"/>
            <a:chExt cx="13441680" cy="902266"/>
          </a:xfrm>
        </p:grpSpPr>
        <p:sp>
          <p:nvSpPr>
            <p:cNvPr id="166" name="Freeform 166"/>
            <p:cNvSpPr/>
            <p:nvPr/>
          </p:nvSpPr>
          <p:spPr>
            <a:xfrm>
              <a:off x="0" y="0"/>
              <a:ext cx="13441680" cy="902270"/>
            </a:xfrm>
            <a:custGeom>
              <a:avLst/>
              <a:gdLst/>
              <a:ahLst/>
              <a:cxnLst/>
              <a:rect l="l" t="t" r="r" b="b"/>
              <a:pathLst>
                <a:path w="13441680" h="902270">
                  <a:moveTo>
                    <a:pt x="0" y="0"/>
                  </a:moveTo>
                  <a:lnTo>
                    <a:pt x="13441680" y="0"/>
                  </a:lnTo>
                  <a:lnTo>
                    <a:pt x="13441680" y="902270"/>
                  </a:lnTo>
                  <a:lnTo>
                    <a:pt x="0" y="9022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4016" b="-236545"/>
              </a:stretch>
            </a:blipFill>
          </p:spPr>
        </p:sp>
        <p:sp>
          <p:nvSpPr>
            <p:cNvPr id="167" name="TextBox 167"/>
            <p:cNvSpPr txBox="1"/>
            <p:nvPr/>
          </p:nvSpPr>
          <p:spPr>
            <a:xfrm>
              <a:off x="0" y="-38100"/>
              <a:ext cx="13441680" cy="9403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Temperature had a stronger relationship with casual rentals (+0.470) than registered rentals (+0.169).</a:t>
              </a:r>
            </a:p>
          </p:txBody>
        </p:sp>
      </p:grpSp>
      <p:grpSp>
        <p:nvGrpSpPr>
          <p:cNvPr id="168" name="Group 168"/>
          <p:cNvGrpSpPr/>
          <p:nvPr/>
        </p:nvGrpSpPr>
        <p:grpSpPr>
          <a:xfrm>
            <a:off x="867175" y="5032110"/>
            <a:ext cx="10081260" cy="645814"/>
            <a:chOff x="0" y="0"/>
            <a:chExt cx="13441680" cy="861086"/>
          </a:xfrm>
        </p:grpSpPr>
        <p:sp>
          <p:nvSpPr>
            <p:cNvPr id="169" name="Freeform 169"/>
            <p:cNvSpPr/>
            <p:nvPr/>
          </p:nvSpPr>
          <p:spPr>
            <a:xfrm>
              <a:off x="0" y="0"/>
              <a:ext cx="13441680" cy="861124"/>
            </a:xfrm>
            <a:custGeom>
              <a:avLst/>
              <a:gdLst/>
              <a:ahLst/>
              <a:cxnLst/>
              <a:rect l="l" t="t" r="r" b="b"/>
              <a:pathLst>
                <a:path w="13441680" h="861124">
                  <a:moveTo>
                    <a:pt x="0" y="0"/>
                  </a:moveTo>
                  <a:lnTo>
                    <a:pt x="13441680" y="0"/>
                  </a:lnTo>
                  <a:lnTo>
                    <a:pt x="13441680" y="861124"/>
                  </a:lnTo>
                  <a:lnTo>
                    <a:pt x="0" y="8611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942" b="-253936"/>
              </a:stretch>
            </a:blipFill>
          </p:spPr>
        </p:sp>
      </p:grpSp>
      <p:grpSp>
        <p:nvGrpSpPr>
          <p:cNvPr id="170" name="Group 170"/>
          <p:cNvGrpSpPr/>
          <p:nvPr/>
        </p:nvGrpSpPr>
        <p:grpSpPr>
          <a:xfrm>
            <a:off x="867175" y="5001228"/>
            <a:ext cx="10081260" cy="676699"/>
            <a:chOff x="0" y="0"/>
            <a:chExt cx="13441680" cy="902266"/>
          </a:xfrm>
        </p:grpSpPr>
        <p:sp>
          <p:nvSpPr>
            <p:cNvPr id="171" name="Freeform 171"/>
            <p:cNvSpPr/>
            <p:nvPr/>
          </p:nvSpPr>
          <p:spPr>
            <a:xfrm>
              <a:off x="0" y="0"/>
              <a:ext cx="13441680" cy="902270"/>
            </a:xfrm>
            <a:custGeom>
              <a:avLst/>
              <a:gdLst/>
              <a:ahLst/>
              <a:cxnLst/>
              <a:rect l="l" t="t" r="r" b="b"/>
              <a:pathLst>
                <a:path w="13441680" h="902270">
                  <a:moveTo>
                    <a:pt x="0" y="0"/>
                  </a:moveTo>
                  <a:lnTo>
                    <a:pt x="13441680" y="0"/>
                  </a:lnTo>
                  <a:lnTo>
                    <a:pt x="13441680" y="902270"/>
                  </a:lnTo>
                  <a:lnTo>
                    <a:pt x="0" y="9022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4016" b="-236545"/>
              </a:stretch>
            </a:blipFill>
          </p:spPr>
        </p:sp>
        <p:sp>
          <p:nvSpPr>
            <p:cNvPr id="172" name="TextBox 172"/>
            <p:cNvSpPr txBox="1"/>
            <p:nvPr/>
          </p:nvSpPr>
          <p:spPr>
            <a:xfrm>
              <a:off x="0" y="-38100"/>
              <a:ext cx="13441680" cy="9403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Higher humidity was linked to lower rental demand (−0.254 correlation).</a:t>
              </a:r>
            </a:p>
          </p:txBody>
        </p:sp>
      </p:grpSp>
      <p:grpSp>
        <p:nvGrpSpPr>
          <p:cNvPr id="173" name="Group 173"/>
          <p:cNvGrpSpPr/>
          <p:nvPr/>
        </p:nvGrpSpPr>
        <p:grpSpPr>
          <a:xfrm>
            <a:off x="867175" y="5618713"/>
            <a:ext cx="10081260" cy="645814"/>
            <a:chOff x="0" y="0"/>
            <a:chExt cx="13441680" cy="861086"/>
          </a:xfrm>
        </p:grpSpPr>
        <p:sp>
          <p:nvSpPr>
            <p:cNvPr id="174" name="Freeform 174"/>
            <p:cNvSpPr/>
            <p:nvPr/>
          </p:nvSpPr>
          <p:spPr>
            <a:xfrm>
              <a:off x="0" y="0"/>
              <a:ext cx="13441680" cy="861124"/>
            </a:xfrm>
            <a:custGeom>
              <a:avLst/>
              <a:gdLst/>
              <a:ahLst/>
              <a:cxnLst/>
              <a:rect l="l" t="t" r="r" b="b"/>
              <a:pathLst>
                <a:path w="13441680" h="861124">
                  <a:moveTo>
                    <a:pt x="0" y="0"/>
                  </a:moveTo>
                  <a:lnTo>
                    <a:pt x="13441680" y="0"/>
                  </a:lnTo>
                  <a:lnTo>
                    <a:pt x="13441680" y="861124"/>
                  </a:lnTo>
                  <a:lnTo>
                    <a:pt x="0" y="8611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942" b="-253936"/>
              </a:stretch>
            </a:blipFill>
          </p:spPr>
        </p:sp>
      </p:grpSp>
      <p:grpSp>
        <p:nvGrpSpPr>
          <p:cNvPr id="175" name="Group 175"/>
          <p:cNvGrpSpPr/>
          <p:nvPr/>
        </p:nvGrpSpPr>
        <p:grpSpPr>
          <a:xfrm>
            <a:off x="867175" y="5587831"/>
            <a:ext cx="10081260" cy="676699"/>
            <a:chOff x="0" y="0"/>
            <a:chExt cx="13441680" cy="902266"/>
          </a:xfrm>
        </p:grpSpPr>
        <p:sp>
          <p:nvSpPr>
            <p:cNvPr id="176" name="Freeform 176"/>
            <p:cNvSpPr/>
            <p:nvPr/>
          </p:nvSpPr>
          <p:spPr>
            <a:xfrm>
              <a:off x="0" y="0"/>
              <a:ext cx="13441680" cy="902270"/>
            </a:xfrm>
            <a:custGeom>
              <a:avLst/>
              <a:gdLst/>
              <a:ahLst/>
              <a:cxnLst/>
              <a:rect l="l" t="t" r="r" b="b"/>
              <a:pathLst>
                <a:path w="13441680" h="902270">
                  <a:moveTo>
                    <a:pt x="0" y="0"/>
                  </a:moveTo>
                  <a:lnTo>
                    <a:pt x="13441680" y="0"/>
                  </a:lnTo>
                  <a:lnTo>
                    <a:pt x="13441680" y="902270"/>
                  </a:lnTo>
                  <a:lnTo>
                    <a:pt x="0" y="9022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4016" b="-236545"/>
              </a:stretch>
            </a:blipFill>
          </p:spPr>
        </p:sp>
        <p:sp>
          <p:nvSpPr>
            <p:cNvPr id="177" name="TextBox 177"/>
            <p:cNvSpPr txBox="1"/>
            <p:nvPr/>
          </p:nvSpPr>
          <p:spPr>
            <a:xfrm>
              <a:off x="0" y="-38100"/>
              <a:ext cx="13441680" cy="9403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forecast predicts an average of 1,500.49 rentals per day for the first 7 days.</a:t>
              </a:r>
            </a:p>
          </p:txBody>
        </p:sp>
      </p:grpSp>
      <p:grpSp>
        <p:nvGrpSpPr>
          <p:cNvPr id="178" name="Group 178"/>
          <p:cNvGrpSpPr/>
          <p:nvPr/>
        </p:nvGrpSpPr>
        <p:grpSpPr>
          <a:xfrm>
            <a:off x="633419" y="6564774"/>
            <a:ext cx="10424160" cy="461151"/>
            <a:chOff x="0" y="0"/>
            <a:chExt cx="13898880" cy="614868"/>
          </a:xfrm>
        </p:grpSpPr>
        <p:sp>
          <p:nvSpPr>
            <p:cNvPr id="179" name="Freeform 179"/>
            <p:cNvSpPr/>
            <p:nvPr/>
          </p:nvSpPr>
          <p:spPr>
            <a:xfrm>
              <a:off x="0" y="0"/>
              <a:ext cx="13898880" cy="614868"/>
            </a:xfrm>
            <a:custGeom>
              <a:avLst/>
              <a:gdLst/>
              <a:ahLst/>
              <a:cxnLst/>
              <a:rect l="l" t="t" r="r" b="b"/>
              <a:pathLst>
                <a:path w="13898880" h="614868">
                  <a:moveTo>
                    <a:pt x="0" y="0"/>
                  </a:moveTo>
                  <a:lnTo>
                    <a:pt x="13898880" y="0"/>
                  </a:lnTo>
                  <a:lnTo>
                    <a:pt x="13898880" y="614868"/>
                  </a:lnTo>
                  <a:lnTo>
                    <a:pt x="0" y="6148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0146" b="-390146"/>
              </a:stretch>
            </a:blipFill>
          </p:spPr>
        </p:sp>
      </p:grpSp>
      <p:grpSp>
        <p:nvGrpSpPr>
          <p:cNvPr id="180" name="Group 180"/>
          <p:cNvGrpSpPr/>
          <p:nvPr/>
        </p:nvGrpSpPr>
        <p:grpSpPr>
          <a:xfrm>
            <a:off x="633419" y="6540756"/>
            <a:ext cx="10424160" cy="485169"/>
            <a:chOff x="0" y="0"/>
            <a:chExt cx="13898880" cy="646893"/>
          </a:xfrm>
        </p:grpSpPr>
        <p:sp>
          <p:nvSpPr>
            <p:cNvPr id="181" name="Freeform 181"/>
            <p:cNvSpPr/>
            <p:nvPr/>
          </p:nvSpPr>
          <p:spPr>
            <a:xfrm>
              <a:off x="0" y="0"/>
              <a:ext cx="13898880" cy="646893"/>
            </a:xfrm>
            <a:custGeom>
              <a:avLst/>
              <a:gdLst/>
              <a:ahLst/>
              <a:cxnLst/>
              <a:rect l="l" t="t" r="r" b="b"/>
              <a:pathLst>
                <a:path w="13898880" h="646893">
                  <a:moveTo>
                    <a:pt x="0" y="0"/>
                  </a:moveTo>
                  <a:lnTo>
                    <a:pt x="13898880" y="0"/>
                  </a:lnTo>
                  <a:lnTo>
                    <a:pt x="13898880" y="646893"/>
                  </a:lnTo>
                  <a:lnTo>
                    <a:pt x="0" y="6468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74033" b="-363262"/>
              </a:stretch>
            </a:blipFill>
          </p:spPr>
        </p:sp>
        <p:sp>
          <p:nvSpPr>
            <p:cNvPr id="182" name="TextBox 182"/>
            <p:cNvSpPr txBox="1"/>
            <p:nvPr/>
          </p:nvSpPr>
          <p:spPr>
            <a:xfrm>
              <a:off x="0" y="-38100"/>
              <a:ext cx="13898880" cy="684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9"/>
                </a:lnSpc>
              </a:pPr>
              <a:r>
                <a:rPr lang="en-US" sz="1749" b="1" spc="78">
                  <a:solidFill>
                    <a:srgbClr val="173F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RECOMMENDATIONS </a:t>
              </a:r>
            </a:p>
          </p:txBody>
        </p:sp>
      </p:grpSp>
      <p:sp>
        <p:nvSpPr>
          <p:cNvPr id="183" name="AutoShape 183"/>
          <p:cNvSpPr/>
          <p:nvPr/>
        </p:nvSpPr>
        <p:spPr>
          <a:xfrm>
            <a:off x="619132" y="6949776"/>
            <a:ext cx="10452734" cy="32100"/>
          </a:xfrm>
          <a:prstGeom prst="line">
            <a:avLst/>
          </a:prstGeom>
          <a:ln w="9525" cap="rnd">
            <a:solidFill>
              <a:srgbClr val="E7ECF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4" name="Group 184"/>
          <p:cNvGrpSpPr/>
          <p:nvPr/>
        </p:nvGrpSpPr>
        <p:grpSpPr>
          <a:xfrm>
            <a:off x="614553" y="7351181"/>
            <a:ext cx="123444" cy="136306"/>
            <a:chOff x="0" y="0"/>
            <a:chExt cx="164592" cy="181742"/>
          </a:xfrm>
        </p:grpSpPr>
        <p:sp>
          <p:nvSpPr>
            <p:cNvPr id="185" name="Freeform 185"/>
            <p:cNvSpPr/>
            <p:nvPr/>
          </p:nvSpPr>
          <p:spPr>
            <a:xfrm>
              <a:off x="0" y="0"/>
              <a:ext cx="164592" cy="181614"/>
            </a:xfrm>
            <a:custGeom>
              <a:avLst/>
              <a:gdLst/>
              <a:ahLst/>
              <a:cxnLst/>
              <a:rect l="l" t="t" r="r" b="b"/>
              <a:pathLst>
                <a:path w="164592" h="181614">
                  <a:moveTo>
                    <a:pt x="0" y="90807"/>
                  </a:moveTo>
                  <a:cubicBezTo>
                    <a:pt x="0" y="40707"/>
                    <a:pt x="36830" y="0"/>
                    <a:pt x="82296" y="0"/>
                  </a:cubicBezTo>
                  <a:cubicBezTo>
                    <a:pt x="127762" y="0"/>
                    <a:pt x="164592" y="40707"/>
                    <a:pt x="164592" y="90807"/>
                  </a:cubicBezTo>
                  <a:cubicBezTo>
                    <a:pt x="164592" y="140907"/>
                    <a:pt x="127762" y="181614"/>
                    <a:pt x="82296" y="181614"/>
                  </a:cubicBezTo>
                  <a:cubicBezTo>
                    <a:pt x="36830" y="181614"/>
                    <a:pt x="0" y="141050"/>
                    <a:pt x="0" y="90807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186" name="Group 186"/>
          <p:cNvGrpSpPr/>
          <p:nvPr/>
        </p:nvGrpSpPr>
        <p:grpSpPr>
          <a:xfrm>
            <a:off x="919169" y="7132193"/>
            <a:ext cx="10081260" cy="605827"/>
            <a:chOff x="0" y="0"/>
            <a:chExt cx="13441680" cy="807769"/>
          </a:xfrm>
        </p:grpSpPr>
        <p:sp>
          <p:nvSpPr>
            <p:cNvPr id="187" name="Freeform 187"/>
            <p:cNvSpPr/>
            <p:nvPr/>
          </p:nvSpPr>
          <p:spPr>
            <a:xfrm>
              <a:off x="0" y="0"/>
              <a:ext cx="13441680" cy="807726"/>
            </a:xfrm>
            <a:custGeom>
              <a:avLst/>
              <a:gdLst/>
              <a:ahLst/>
              <a:cxnLst/>
              <a:rect l="l" t="t" r="r" b="b"/>
              <a:pathLst>
                <a:path w="13441680" h="807726">
                  <a:moveTo>
                    <a:pt x="0" y="0"/>
                  </a:moveTo>
                  <a:lnTo>
                    <a:pt x="13441680" y="0"/>
                  </a:lnTo>
                  <a:lnTo>
                    <a:pt x="13441680" y="807726"/>
                  </a:lnTo>
                  <a:lnTo>
                    <a:pt x="0" y="8077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73830" b="-273833"/>
              </a:stretch>
            </a:blipFill>
          </p:spPr>
        </p:sp>
      </p:grpSp>
      <p:grpSp>
        <p:nvGrpSpPr>
          <p:cNvPr id="188" name="Group 188"/>
          <p:cNvGrpSpPr/>
          <p:nvPr/>
        </p:nvGrpSpPr>
        <p:grpSpPr>
          <a:xfrm>
            <a:off x="919169" y="7100649"/>
            <a:ext cx="10081260" cy="637371"/>
            <a:chOff x="0" y="0"/>
            <a:chExt cx="13441680" cy="849828"/>
          </a:xfrm>
        </p:grpSpPr>
        <p:sp>
          <p:nvSpPr>
            <p:cNvPr id="189" name="Freeform 189"/>
            <p:cNvSpPr/>
            <p:nvPr/>
          </p:nvSpPr>
          <p:spPr>
            <a:xfrm>
              <a:off x="0" y="0"/>
              <a:ext cx="13441680" cy="849853"/>
            </a:xfrm>
            <a:custGeom>
              <a:avLst/>
              <a:gdLst/>
              <a:ahLst/>
              <a:cxnLst/>
              <a:rect l="l" t="t" r="r" b="b"/>
              <a:pathLst>
                <a:path w="13441680" h="849853">
                  <a:moveTo>
                    <a:pt x="0" y="0"/>
                  </a:moveTo>
                  <a:lnTo>
                    <a:pt x="13441680" y="0"/>
                  </a:lnTo>
                  <a:lnTo>
                    <a:pt x="13441680" y="849853"/>
                  </a:lnTo>
                  <a:lnTo>
                    <a:pt x="0" y="8498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7971" b="-257968"/>
              </a:stretch>
            </a:blipFill>
          </p:spPr>
        </p:sp>
      </p:grpSp>
      <p:grpSp>
        <p:nvGrpSpPr>
          <p:cNvPr id="190" name="Group 190"/>
          <p:cNvGrpSpPr/>
          <p:nvPr/>
        </p:nvGrpSpPr>
        <p:grpSpPr>
          <a:xfrm>
            <a:off x="919169" y="7102125"/>
            <a:ext cx="10081260" cy="669400"/>
            <a:chOff x="0" y="0"/>
            <a:chExt cx="13441680" cy="892533"/>
          </a:xfrm>
        </p:grpSpPr>
        <p:sp>
          <p:nvSpPr>
            <p:cNvPr id="191" name="Freeform 191"/>
            <p:cNvSpPr/>
            <p:nvPr/>
          </p:nvSpPr>
          <p:spPr>
            <a:xfrm>
              <a:off x="0" y="0"/>
              <a:ext cx="13441680" cy="892539"/>
            </a:xfrm>
            <a:custGeom>
              <a:avLst/>
              <a:gdLst/>
              <a:ahLst/>
              <a:cxnLst/>
              <a:rect l="l" t="t" r="r" b="b"/>
              <a:pathLst>
                <a:path w="13441680" h="892539">
                  <a:moveTo>
                    <a:pt x="0" y="0"/>
                  </a:moveTo>
                  <a:lnTo>
                    <a:pt x="13441680" y="0"/>
                  </a:lnTo>
                  <a:lnTo>
                    <a:pt x="13441680" y="892539"/>
                  </a:lnTo>
                  <a:lnTo>
                    <a:pt x="0" y="892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8831" b="-238059"/>
              </a:stretch>
            </a:blipFill>
          </p:spPr>
        </p:sp>
        <p:sp>
          <p:nvSpPr>
            <p:cNvPr id="192" name="TextBox 192"/>
            <p:cNvSpPr txBox="1"/>
            <p:nvPr/>
          </p:nvSpPr>
          <p:spPr>
            <a:xfrm>
              <a:off x="0" y="-38100"/>
              <a:ext cx="13441680" cy="9306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Commuter peaks: Rentals are at their height around 8am and 5pm, so there should be more bikes available during that time.</a:t>
              </a:r>
            </a:p>
          </p:txBody>
        </p:sp>
      </p:grpSp>
      <p:grpSp>
        <p:nvGrpSpPr>
          <p:cNvPr id="193" name="Group 193"/>
          <p:cNvGrpSpPr/>
          <p:nvPr/>
        </p:nvGrpSpPr>
        <p:grpSpPr>
          <a:xfrm>
            <a:off x="623885" y="7939762"/>
            <a:ext cx="123444" cy="136306"/>
            <a:chOff x="0" y="0"/>
            <a:chExt cx="164592" cy="181742"/>
          </a:xfrm>
        </p:grpSpPr>
        <p:sp>
          <p:nvSpPr>
            <p:cNvPr id="194" name="Freeform 194"/>
            <p:cNvSpPr/>
            <p:nvPr/>
          </p:nvSpPr>
          <p:spPr>
            <a:xfrm>
              <a:off x="0" y="0"/>
              <a:ext cx="164592" cy="181614"/>
            </a:xfrm>
            <a:custGeom>
              <a:avLst/>
              <a:gdLst/>
              <a:ahLst/>
              <a:cxnLst/>
              <a:rect l="l" t="t" r="r" b="b"/>
              <a:pathLst>
                <a:path w="164592" h="181614">
                  <a:moveTo>
                    <a:pt x="0" y="90807"/>
                  </a:moveTo>
                  <a:cubicBezTo>
                    <a:pt x="0" y="40707"/>
                    <a:pt x="36830" y="0"/>
                    <a:pt x="82296" y="0"/>
                  </a:cubicBezTo>
                  <a:cubicBezTo>
                    <a:pt x="127762" y="0"/>
                    <a:pt x="164592" y="40707"/>
                    <a:pt x="164592" y="90807"/>
                  </a:cubicBezTo>
                  <a:cubicBezTo>
                    <a:pt x="164592" y="140907"/>
                    <a:pt x="127762" y="181614"/>
                    <a:pt x="82296" y="181614"/>
                  </a:cubicBezTo>
                  <a:cubicBezTo>
                    <a:pt x="36830" y="181614"/>
                    <a:pt x="0" y="141050"/>
                    <a:pt x="0" y="90807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195" name="Group 195"/>
          <p:cNvGrpSpPr/>
          <p:nvPr/>
        </p:nvGrpSpPr>
        <p:grpSpPr>
          <a:xfrm>
            <a:off x="928704" y="7721591"/>
            <a:ext cx="10081260" cy="605827"/>
            <a:chOff x="0" y="0"/>
            <a:chExt cx="13441680" cy="807769"/>
          </a:xfrm>
        </p:grpSpPr>
        <p:sp>
          <p:nvSpPr>
            <p:cNvPr id="196" name="Freeform 196"/>
            <p:cNvSpPr/>
            <p:nvPr/>
          </p:nvSpPr>
          <p:spPr>
            <a:xfrm>
              <a:off x="0" y="0"/>
              <a:ext cx="13441680" cy="807726"/>
            </a:xfrm>
            <a:custGeom>
              <a:avLst/>
              <a:gdLst/>
              <a:ahLst/>
              <a:cxnLst/>
              <a:rect l="l" t="t" r="r" b="b"/>
              <a:pathLst>
                <a:path w="13441680" h="807726">
                  <a:moveTo>
                    <a:pt x="0" y="0"/>
                  </a:moveTo>
                  <a:lnTo>
                    <a:pt x="13441680" y="0"/>
                  </a:lnTo>
                  <a:lnTo>
                    <a:pt x="13441680" y="807726"/>
                  </a:lnTo>
                  <a:lnTo>
                    <a:pt x="0" y="8077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73830" b="-273833"/>
              </a:stretch>
            </a:blipFill>
          </p:spPr>
        </p:sp>
      </p:grpSp>
      <p:grpSp>
        <p:nvGrpSpPr>
          <p:cNvPr id="197" name="Group 197"/>
          <p:cNvGrpSpPr/>
          <p:nvPr/>
        </p:nvGrpSpPr>
        <p:grpSpPr>
          <a:xfrm>
            <a:off x="928704" y="7791393"/>
            <a:ext cx="10081260" cy="959963"/>
            <a:chOff x="0" y="0"/>
            <a:chExt cx="13441680" cy="1279951"/>
          </a:xfrm>
        </p:grpSpPr>
        <p:sp>
          <p:nvSpPr>
            <p:cNvPr id="198" name="Freeform 198"/>
            <p:cNvSpPr/>
            <p:nvPr/>
          </p:nvSpPr>
          <p:spPr>
            <a:xfrm>
              <a:off x="0" y="0"/>
              <a:ext cx="13441680" cy="1279976"/>
            </a:xfrm>
            <a:custGeom>
              <a:avLst/>
              <a:gdLst/>
              <a:ahLst/>
              <a:cxnLst/>
              <a:rect l="l" t="t" r="r" b="b"/>
              <a:pathLst>
                <a:path w="13441680" h="1279976">
                  <a:moveTo>
                    <a:pt x="0" y="0"/>
                  </a:moveTo>
                  <a:lnTo>
                    <a:pt x="13441680" y="0"/>
                  </a:lnTo>
                  <a:lnTo>
                    <a:pt x="13441680" y="1279976"/>
                  </a:lnTo>
                  <a:lnTo>
                    <a:pt x="0" y="1279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480" b="-154478"/>
              </a:stretch>
            </a:blipFill>
          </p:spPr>
        </p:sp>
      </p:grpSp>
      <p:grpSp>
        <p:nvGrpSpPr>
          <p:cNvPr id="199" name="Group 199"/>
          <p:cNvGrpSpPr/>
          <p:nvPr/>
        </p:nvGrpSpPr>
        <p:grpSpPr>
          <a:xfrm>
            <a:off x="928704" y="7759369"/>
            <a:ext cx="10081260" cy="1029539"/>
            <a:chOff x="0" y="0"/>
            <a:chExt cx="13441680" cy="1372719"/>
          </a:xfrm>
        </p:grpSpPr>
        <p:sp>
          <p:nvSpPr>
            <p:cNvPr id="200" name="Freeform 200"/>
            <p:cNvSpPr/>
            <p:nvPr/>
          </p:nvSpPr>
          <p:spPr>
            <a:xfrm>
              <a:off x="0" y="0"/>
              <a:ext cx="13441680" cy="1372721"/>
            </a:xfrm>
            <a:custGeom>
              <a:avLst/>
              <a:gdLst/>
              <a:ahLst/>
              <a:cxnLst/>
              <a:rect l="l" t="t" r="r" b="b"/>
              <a:pathLst>
                <a:path w="13441680" h="1372721">
                  <a:moveTo>
                    <a:pt x="0" y="0"/>
                  </a:moveTo>
                  <a:lnTo>
                    <a:pt x="13441680" y="0"/>
                  </a:lnTo>
                  <a:lnTo>
                    <a:pt x="13441680" y="1372721"/>
                  </a:lnTo>
                  <a:lnTo>
                    <a:pt x="0" y="13727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7810" b="-133784"/>
              </a:stretch>
            </a:blipFill>
          </p:spPr>
        </p:sp>
        <p:sp>
          <p:nvSpPr>
            <p:cNvPr id="201" name="TextBox 201"/>
            <p:cNvSpPr txBox="1"/>
            <p:nvPr/>
          </p:nvSpPr>
          <p:spPr>
            <a:xfrm>
              <a:off x="0" y="-38100"/>
              <a:ext cx="13441680" cy="14108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 demand periods: Adjust bikes on weekends and during rainy weather, when fewer people use the service.</a:t>
              </a:r>
            </a:p>
          </p:txBody>
        </p:sp>
      </p:grpSp>
      <p:grpSp>
        <p:nvGrpSpPr>
          <p:cNvPr id="202" name="Group 202"/>
          <p:cNvGrpSpPr/>
          <p:nvPr/>
        </p:nvGrpSpPr>
        <p:grpSpPr>
          <a:xfrm>
            <a:off x="623885" y="8750620"/>
            <a:ext cx="123444" cy="136306"/>
            <a:chOff x="0" y="0"/>
            <a:chExt cx="164592" cy="181742"/>
          </a:xfrm>
        </p:grpSpPr>
        <p:sp>
          <p:nvSpPr>
            <p:cNvPr id="203" name="Freeform 203"/>
            <p:cNvSpPr/>
            <p:nvPr/>
          </p:nvSpPr>
          <p:spPr>
            <a:xfrm>
              <a:off x="0" y="0"/>
              <a:ext cx="164592" cy="181614"/>
            </a:xfrm>
            <a:custGeom>
              <a:avLst/>
              <a:gdLst/>
              <a:ahLst/>
              <a:cxnLst/>
              <a:rect l="l" t="t" r="r" b="b"/>
              <a:pathLst>
                <a:path w="164592" h="181614">
                  <a:moveTo>
                    <a:pt x="0" y="90807"/>
                  </a:moveTo>
                  <a:cubicBezTo>
                    <a:pt x="0" y="40707"/>
                    <a:pt x="36830" y="0"/>
                    <a:pt x="82296" y="0"/>
                  </a:cubicBezTo>
                  <a:cubicBezTo>
                    <a:pt x="127762" y="0"/>
                    <a:pt x="164592" y="40707"/>
                    <a:pt x="164592" y="90807"/>
                  </a:cubicBezTo>
                  <a:cubicBezTo>
                    <a:pt x="164592" y="140907"/>
                    <a:pt x="127762" y="181614"/>
                    <a:pt x="82296" y="181614"/>
                  </a:cubicBezTo>
                  <a:cubicBezTo>
                    <a:pt x="36830" y="181614"/>
                    <a:pt x="0" y="141050"/>
                    <a:pt x="0" y="90807"/>
                  </a:cubicBezTo>
                  <a:close/>
                </a:path>
              </a:pathLst>
            </a:custGeom>
            <a:solidFill>
              <a:srgbClr val="2A9D8F"/>
            </a:solidFill>
          </p:spPr>
        </p:sp>
      </p:grpSp>
      <p:grpSp>
        <p:nvGrpSpPr>
          <p:cNvPr id="204" name="Group 204"/>
          <p:cNvGrpSpPr/>
          <p:nvPr/>
        </p:nvGrpSpPr>
        <p:grpSpPr>
          <a:xfrm>
            <a:off x="919169" y="8570354"/>
            <a:ext cx="10081260" cy="671744"/>
            <a:chOff x="0" y="0"/>
            <a:chExt cx="13441680" cy="895658"/>
          </a:xfrm>
        </p:grpSpPr>
        <p:sp>
          <p:nvSpPr>
            <p:cNvPr id="205" name="Freeform 205"/>
            <p:cNvSpPr/>
            <p:nvPr/>
          </p:nvSpPr>
          <p:spPr>
            <a:xfrm>
              <a:off x="0" y="0"/>
              <a:ext cx="13441680" cy="895683"/>
            </a:xfrm>
            <a:custGeom>
              <a:avLst/>
              <a:gdLst/>
              <a:ahLst/>
              <a:cxnLst/>
              <a:rect l="l" t="t" r="r" b="b"/>
              <a:pathLst>
                <a:path w="13441680" h="895683">
                  <a:moveTo>
                    <a:pt x="0" y="0"/>
                  </a:moveTo>
                  <a:lnTo>
                    <a:pt x="13441680" y="0"/>
                  </a:lnTo>
                  <a:lnTo>
                    <a:pt x="13441680" y="895683"/>
                  </a:lnTo>
                  <a:lnTo>
                    <a:pt x="0" y="8956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13" b="-242210"/>
              </a:stretch>
            </a:blipFill>
          </p:spPr>
        </p:sp>
      </p:grpSp>
      <p:grpSp>
        <p:nvGrpSpPr>
          <p:cNvPr id="206" name="Group 206"/>
          <p:cNvGrpSpPr/>
          <p:nvPr/>
        </p:nvGrpSpPr>
        <p:grpSpPr>
          <a:xfrm>
            <a:off x="919169" y="8538330"/>
            <a:ext cx="10081260" cy="719970"/>
            <a:chOff x="0" y="0"/>
            <a:chExt cx="13441680" cy="959960"/>
          </a:xfrm>
        </p:grpSpPr>
        <p:sp>
          <p:nvSpPr>
            <p:cNvPr id="207" name="Freeform 207"/>
            <p:cNvSpPr/>
            <p:nvPr/>
          </p:nvSpPr>
          <p:spPr>
            <a:xfrm>
              <a:off x="0" y="0"/>
              <a:ext cx="13441680" cy="959962"/>
            </a:xfrm>
            <a:custGeom>
              <a:avLst/>
              <a:gdLst/>
              <a:ahLst/>
              <a:cxnLst/>
              <a:rect l="l" t="t" r="r" b="b"/>
              <a:pathLst>
                <a:path w="13441680" h="959962">
                  <a:moveTo>
                    <a:pt x="0" y="0"/>
                  </a:moveTo>
                  <a:lnTo>
                    <a:pt x="13441680" y="0"/>
                  </a:lnTo>
                  <a:lnTo>
                    <a:pt x="13441680" y="959962"/>
                  </a:lnTo>
                  <a:lnTo>
                    <a:pt x="0" y="9599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9224" b="-216445"/>
              </a:stretch>
            </a:blipFill>
          </p:spPr>
        </p:sp>
        <p:sp>
          <p:nvSpPr>
            <p:cNvPr id="208" name="TextBox 208"/>
            <p:cNvSpPr txBox="1"/>
            <p:nvPr/>
          </p:nvSpPr>
          <p:spPr>
            <a:xfrm>
              <a:off x="0" y="-38100"/>
              <a:ext cx="13441680" cy="998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26323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Forecast planning: Make plans based on weather forecasts, then verify the predictions using data from different seasons to see if they still hold.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/>
          <p:nvPr/>
        </p:nvGrpSpPr>
        <p:grpSpPr>
          <a:xfrm>
            <a:off x="15208758" y="6933438"/>
            <a:ext cx="4101084" cy="4101084"/>
            <a:chOff x="0" y="0"/>
            <a:chExt cx="5468112" cy="54681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68112" cy="5468112"/>
            </a:xfrm>
            <a:custGeom>
              <a:avLst/>
              <a:gdLst/>
              <a:ahLst/>
              <a:cxnLst/>
              <a:rect l="l" t="t" r="r" b="b"/>
              <a:pathLst>
                <a:path w="5468112" h="5468112">
                  <a:moveTo>
                    <a:pt x="0" y="2734056"/>
                  </a:moveTo>
                  <a:cubicBezTo>
                    <a:pt x="0" y="1224026"/>
                    <a:pt x="1224026" y="0"/>
                    <a:pt x="2734056" y="0"/>
                  </a:cubicBezTo>
                  <a:cubicBezTo>
                    <a:pt x="4244086" y="0"/>
                    <a:pt x="5468112" y="1224026"/>
                    <a:pt x="5468112" y="2734056"/>
                  </a:cubicBezTo>
                  <a:cubicBezTo>
                    <a:pt x="5468112" y="4244086"/>
                    <a:pt x="4244086" y="5468112"/>
                    <a:pt x="2734056" y="5468112"/>
                  </a:cubicBezTo>
                  <a:cubicBezTo>
                    <a:pt x="1224026" y="5468112"/>
                    <a:pt x="0" y="4244086"/>
                    <a:pt x="0" y="2734056"/>
                  </a:cubicBezTo>
                  <a:close/>
                </a:path>
              </a:pathLst>
            </a:custGeom>
            <a:solidFill>
              <a:srgbClr val="2A9D8F">
                <a:alpha val="3922"/>
              </a:srgbClr>
            </a:solidFill>
          </p:spPr>
        </p:sp>
      </p:grpSp>
      <p:grpSp>
        <p:nvGrpSpPr>
          <p:cNvPr id="2" name="Group 2"/>
          <p:cNvGrpSpPr/>
          <p:nvPr/>
        </p:nvGrpSpPr>
        <p:grpSpPr>
          <a:xfrm>
            <a:off x="-304800" y="0"/>
            <a:ext cx="18588228" cy="10287000"/>
            <a:chOff x="0" y="0"/>
            <a:chExt cx="24784304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84304" cy="13716000"/>
            </a:xfrm>
            <a:custGeom>
              <a:avLst/>
              <a:gdLst/>
              <a:ahLst/>
              <a:cxnLst/>
              <a:rect l="l" t="t" r="r" b="b"/>
              <a:pathLst>
                <a:path w="24784304" h="13716000">
                  <a:moveTo>
                    <a:pt x="0" y="0"/>
                  </a:moveTo>
                  <a:lnTo>
                    <a:pt x="24784304" y="0"/>
                  </a:lnTo>
                  <a:lnTo>
                    <a:pt x="247843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98046" y="0"/>
            <a:ext cx="18486046" cy="10287000"/>
            <a:chOff x="0" y="0"/>
            <a:chExt cx="24648061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48061" cy="13716000"/>
            </a:xfrm>
            <a:custGeom>
              <a:avLst/>
              <a:gdLst/>
              <a:ahLst/>
              <a:cxnLst/>
              <a:rect l="l" t="t" r="r" b="b"/>
              <a:pathLst>
                <a:path w="24648061" h="13716000">
                  <a:moveTo>
                    <a:pt x="0" y="0"/>
                  </a:moveTo>
                  <a:lnTo>
                    <a:pt x="24648061" y="0"/>
                  </a:lnTo>
                  <a:lnTo>
                    <a:pt x="24648061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3F5F"/>
            </a:solidFill>
          </p:spPr>
        </p:sp>
      </p:grpSp>
      <p:grpSp>
        <p:nvGrpSpPr>
          <p:cNvPr id="6" name="Group 6"/>
          <p:cNvGrpSpPr/>
          <p:nvPr/>
        </p:nvGrpSpPr>
        <p:grpSpPr>
          <a:xfrm rot="-10800000">
            <a:off x="0" y="0"/>
            <a:ext cx="371027" cy="10260806"/>
            <a:chOff x="0" y="0"/>
            <a:chExt cx="494703" cy="136810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4665" cy="13681075"/>
            </a:xfrm>
            <a:custGeom>
              <a:avLst/>
              <a:gdLst/>
              <a:ahLst/>
              <a:cxnLst/>
              <a:rect l="l" t="t" r="r" b="b"/>
              <a:pathLst>
                <a:path w="494665" h="13681075">
                  <a:moveTo>
                    <a:pt x="0" y="0"/>
                  </a:moveTo>
                  <a:lnTo>
                    <a:pt x="494665" y="0"/>
                  </a:lnTo>
                  <a:lnTo>
                    <a:pt x="494665" y="13681075"/>
                  </a:lnTo>
                  <a:lnTo>
                    <a:pt x="0" y="136810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A9D8F">
                <a:alpha val="4706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62629" y="765781"/>
            <a:ext cx="1514475" cy="866775"/>
            <a:chOff x="0" y="0"/>
            <a:chExt cx="2019300" cy="1155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19300" cy="1155700"/>
            </a:xfrm>
            <a:custGeom>
              <a:avLst/>
              <a:gdLst/>
              <a:ahLst/>
              <a:cxnLst/>
              <a:rect l="l" t="t" r="r" b="b"/>
              <a:pathLst>
                <a:path w="2019300" h="1155700">
                  <a:moveTo>
                    <a:pt x="0" y="0"/>
                  </a:moveTo>
                  <a:lnTo>
                    <a:pt x="2019300" y="0"/>
                  </a:lnTo>
                  <a:lnTo>
                    <a:pt x="2019300" y="1155700"/>
                  </a:lnTo>
                  <a:lnTo>
                    <a:pt x="0" y="1155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4027157" y="4255932"/>
            <a:ext cx="11038332" cy="189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19"/>
              </a:lnSpc>
            </a:pPr>
            <a:r>
              <a:rPr lang="en-US" sz="13333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Thank You!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9427" y="7993675"/>
            <a:ext cx="40767" cy="20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5"/>
              </a:lnSpc>
            </a:pPr>
            <a:r>
              <a:rPr lang="en-US" sz="1211" b="1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7104" y="989276"/>
            <a:ext cx="2368325" cy="20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5"/>
              </a:lnSpc>
            </a:pPr>
            <a:r>
              <a:rPr lang="en-US" sz="121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Bike Sharing Demand Analysis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4041250" y="5915025"/>
            <a:ext cx="5993892" cy="5993892"/>
            <a:chOff x="0" y="0"/>
            <a:chExt cx="7991856" cy="79918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991856" cy="7991856"/>
            </a:xfrm>
            <a:custGeom>
              <a:avLst/>
              <a:gdLst/>
              <a:ahLst/>
              <a:cxnLst/>
              <a:rect l="l" t="t" r="r" b="b"/>
              <a:pathLst>
                <a:path w="7991856" h="7991856">
                  <a:moveTo>
                    <a:pt x="0" y="3995928"/>
                  </a:moveTo>
                  <a:cubicBezTo>
                    <a:pt x="0" y="1789049"/>
                    <a:pt x="1789049" y="0"/>
                    <a:pt x="3995928" y="0"/>
                  </a:cubicBezTo>
                  <a:cubicBezTo>
                    <a:pt x="6202807" y="0"/>
                    <a:pt x="7991856" y="1789049"/>
                    <a:pt x="7991856" y="3995928"/>
                  </a:cubicBezTo>
                  <a:cubicBezTo>
                    <a:pt x="7991856" y="6202807"/>
                    <a:pt x="6202807" y="7991856"/>
                    <a:pt x="3995928" y="7991856"/>
                  </a:cubicBezTo>
                  <a:cubicBezTo>
                    <a:pt x="1789049" y="7991856"/>
                    <a:pt x="0" y="6202807"/>
                    <a:pt x="0" y="3995928"/>
                  </a:cubicBezTo>
                  <a:close/>
                </a:path>
              </a:pathLst>
            </a:custGeom>
            <a:solidFill>
              <a:srgbClr val="2A9D8F">
                <a:alpha val="0"/>
              </a:srgbClr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3520440" y="6155961"/>
            <a:ext cx="11247120" cy="37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C9D6E0"/>
                </a:solidFill>
                <a:latin typeface="Calibri (MS)"/>
                <a:ea typeface="Calibri (MS)"/>
                <a:cs typeface="Calibri (MS)"/>
                <a:sym typeface="Calibri (MS)"/>
              </a:rPr>
              <a:t>Bike Sharing Demand Analysis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112396" y="5919787"/>
            <a:ext cx="5986303" cy="9508"/>
          </a:xfrm>
          <a:prstGeom prst="line">
            <a:avLst/>
          </a:prstGeom>
          <a:ln w="9525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3520440" y="6727461"/>
            <a:ext cx="11247120" cy="37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By Aditi Kumar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7048988" y="9716929"/>
            <a:ext cx="685800" cy="432911"/>
            <a:chOff x="0" y="0"/>
            <a:chExt cx="914400" cy="57721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0" cy="577215"/>
            </a:xfrm>
            <a:custGeom>
              <a:avLst/>
              <a:gdLst/>
              <a:ahLst/>
              <a:cxnLst/>
              <a:rect l="l" t="t" r="r" b="b"/>
              <a:pathLst>
                <a:path w="914400" h="577215">
                  <a:moveTo>
                    <a:pt x="0" y="0"/>
                  </a:moveTo>
                  <a:lnTo>
                    <a:pt x="914400" y="0"/>
                  </a:lnTo>
                  <a:lnTo>
                    <a:pt x="914400" y="577215"/>
                  </a:lnTo>
                  <a:lnTo>
                    <a:pt x="0" y="577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991" r="-30991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914400" cy="60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 / 17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1473</Words>
  <Application>Microsoft Office PowerPoint</Application>
  <PresentationFormat>Custom</PresentationFormat>
  <Paragraphs>331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Calibri (MS) Bold</vt:lpstr>
      <vt:lpstr>Calibri (MS) Italics</vt:lpstr>
      <vt:lpstr>Open Sans Bold</vt:lpstr>
      <vt:lpstr>Calibri (MS)</vt:lpstr>
      <vt:lpstr>Arial</vt:lpstr>
      <vt:lpstr>Poppins Semi-Bold</vt:lpstr>
      <vt:lpstr>Calibri</vt:lpstr>
      <vt:lpstr>Cambria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IMP_Bike_Sharing_Demand_Analysis_Presentation.pptx</dc:title>
  <cp:lastModifiedBy>ADITI KUMAR</cp:lastModifiedBy>
  <cp:revision>3</cp:revision>
  <dcterms:created xsi:type="dcterms:W3CDTF">2006-08-16T00:00:00Z</dcterms:created>
  <dcterms:modified xsi:type="dcterms:W3CDTF">2026-10-09T16:44:45Z</dcterms:modified>
  <dc:identifier>DAHXfp0xTLM</dc:identifier>
</cp:coreProperties>
</file>